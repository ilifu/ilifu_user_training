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Nuni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57">
          <p15:clr>
            <a:srgbClr val="A4A3A4"/>
          </p15:clr>
        </p15:guide>
        <p15:guide id="2" orient="horz" pos="1475">
          <p15:clr>
            <a:srgbClr val="A4A3A4"/>
          </p15:clr>
        </p15:guide>
        <p15:guide id="3" orient="horz" pos="603">
          <p15:clr>
            <a:srgbClr val="A4A3A4"/>
          </p15:clr>
        </p15:guide>
        <p15:guide id="4" pos="228">
          <p15:clr>
            <a:srgbClr val="A4A3A4"/>
          </p15:clr>
        </p15:guide>
      </p15:sldGuideLst>
    </p:ext>
    <p:ext uri="{2D200454-40CA-4A62-9FC3-DE9A4176ACB9}">
      <p15:notesGuideLst>
        <p15:guide id="1" orient="horz" pos="216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57" orient="horz"/>
        <p:guide pos="1475" orient="horz"/>
        <p:guide pos="603" orient="horz"/>
        <p:guide pos="228"/>
      </p:guideLst>
    </p:cSldViewPr>
  </p:slideViewPr>
  <p:notesViewPr>
    <p:cSldViewPr snapToGrid="0">
      <p:cViewPr varScale="1">
        <p:scale>
          <a:sx n="100" d="100"/>
          <a:sy n="100" d="100"/>
        </p:scale>
        <p:origin x="0" y="0"/>
      </p:cViewPr>
      <p:guideLst>
        <p:guide pos="216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unito-bold.fntdata"/><Relationship Id="rId23" Type="http://schemas.openxmlformats.org/officeDocument/2006/relationships/font" Target="fonts/Nuni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boldItalic.fntdata"/><Relationship Id="rId25"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A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3f5dbb85ab_0_9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3f5dbb85ab_0_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AU"/>
              <a:t>Good morning everyone and thanks for attending our training session. My name is Dane Kennedy and I’m employed at ilifu as the bioinformatics support contact. In addition to providing technical support for the bioinformatics projects, I’m also involved with maintaining the slurm cluster and administering various portals like the users dot ilifu and helpdesk websites.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AU"/>
              <a:t>Despite what you might think based on this slide, this presentation is not about Slurm-baseing or Jab Scheauling, but rather about parallelism. What is parallelism in the computing world, what are our options to achieve parallelism and how do we do it on ilifu’s slurm cluster.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en-AU"/>
              <a:t>A quick review of ilifu’s resources: while ilifu is a cloud computing facility, the bulk of what we have is dedicated to the computing machines and storage we provide on our slurm computing cluster. What is a computing cluster? A computing cluster is a collection of servers or nodes (those terms can be used interchangeably) </a:t>
            </a:r>
            <a:r>
              <a:rPr lang="en-AU"/>
              <a:t>t</a:t>
            </a:r>
            <a:r>
              <a:rPr lang="en-AU"/>
              <a:t>hat  are combined to work together in a way that is more powerful than the sum of the individual parts. In this case the individual parts consist of: </a:t>
            </a:r>
            <a:endParaRPr/>
          </a:p>
          <a:p>
            <a:pPr indent="0" lvl="0" marL="0" rtl="0" algn="l">
              <a:lnSpc>
                <a:spcPct val="100000"/>
              </a:lnSpc>
              <a:spcBef>
                <a:spcPts val="360"/>
              </a:spcBef>
              <a:spcAft>
                <a:spcPts val="0"/>
              </a:spcAft>
              <a:buSzPts val="1400"/>
              <a:buNone/>
            </a:pPr>
            <a:r>
              <a:t/>
            </a:r>
            <a:endParaRPr/>
          </a:p>
          <a:p>
            <a:pPr indent="-317500" lvl="0" marL="457200" rtl="0" algn="l">
              <a:lnSpc>
                <a:spcPct val="100000"/>
              </a:lnSpc>
              <a:spcBef>
                <a:spcPts val="360"/>
              </a:spcBef>
              <a:spcAft>
                <a:spcPts val="0"/>
              </a:spcAft>
              <a:buSzPts val="1400"/>
              <a:buChar char="●"/>
            </a:pPr>
            <a:r>
              <a:rPr lang="en-AU"/>
              <a:t>A login node (which is often the main interface you will be using to the cluster);</a:t>
            </a:r>
            <a:endParaRPr/>
          </a:p>
          <a:p>
            <a:pPr indent="-317500" lvl="0" marL="457200" rtl="0" algn="l">
              <a:lnSpc>
                <a:spcPct val="100000"/>
              </a:lnSpc>
              <a:spcBef>
                <a:spcPts val="0"/>
              </a:spcBef>
              <a:spcAft>
                <a:spcPts val="0"/>
              </a:spcAft>
              <a:buSzPts val="1400"/>
              <a:buChar char="●"/>
            </a:pPr>
            <a:r>
              <a:rPr lang="en-AU"/>
              <a:t>the compute nodes (which are grouped together in what we call partitions, also known as queues);</a:t>
            </a:r>
            <a:endParaRPr/>
          </a:p>
          <a:p>
            <a:pPr indent="-317500" lvl="0" marL="457200" rtl="0" algn="l">
              <a:lnSpc>
                <a:spcPct val="100000"/>
              </a:lnSpc>
              <a:spcBef>
                <a:spcPts val="0"/>
              </a:spcBef>
              <a:spcAft>
                <a:spcPts val="0"/>
              </a:spcAft>
              <a:buSzPts val="1400"/>
              <a:buChar char="●"/>
            </a:pPr>
            <a:r>
              <a:rPr lang="en-AU"/>
              <a:t>some permanent storage;</a:t>
            </a:r>
            <a:endParaRPr/>
          </a:p>
          <a:p>
            <a:pPr indent="-317500" lvl="0" marL="457200" rtl="0" algn="l">
              <a:lnSpc>
                <a:spcPct val="100000"/>
              </a:lnSpc>
              <a:spcBef>
                <a:spcPts val="0"/>
              </a:spcBef>
              <a:spcAft>
                <a:spcPts val="0"/>
              </a:spcAft>
              <a:buSzPts val="1400"/>
              <a:buChar char="●"/>
            </a:pPr>
            <a:r>
              <a:rPr lang="en-AU"/>
              <a:t>and a fast network connecting that all together.</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AU"/>
              <a:t>Today I’ll be using the “Main” partition which has nodes which consist largely of 32-core/cpu servers with between 230 and 250 GiB of RAM (depending on the specific node you end up on). </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AU"/>
              <a:t>We have something like 8PiB of shared storage available on our Ceph cluster.</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AU"/>
              <a:t>And we have two different networks connecting nodes to each other; and nodes to storage. This is not a low </a:t>
            </a:r>
            <a:r>
              <a:rPr lang="en-AU"/>
              <a:t>latency</a:t>
            </a:r>
            <a:r>
              <a:rPr lang="en-AU"/>
              <a:t> network like you might find at the CHPC, but it does have a high bandwidth. What this means is that while it can transmit a large amount of data very quickly; it is not suitable for operations which require a lot of very quick communication between nodes. But I’ll talk a bit more about this later.</a:t>
            </a:r>
            <a:endParaRPr/>
          </a:p>
        </p:txBody>
      </p:sp>
      <p:sp>
        <p:nvSpPr>
          <p:cNvPr id="99" name="Google Shape;9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en-AU"/>
              <a:t>I don’t need to talk about this really as it was covered in our previous two sessions.</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b="1" lang="en-AU"/>
              <a:t>MOVE ON.</a:t>
            </a:r>
            <a:endParaRPr b="1"/>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AU"/>
              <a:t>Just a quick note on the other partitions: So although the bulk of the computing power exists in the 85 compute nodes available on the</a:t>
            </a:r>
            <a:endParaRPr/>
          </a:p>
          <a:p>
            <a:pPr indent="0" lvl="0" marL="0" rtl="0" algn="l">
              <a:lnSpc>
                <a:spcPct val="100000"/>
              </a:lnSpc>
              <a:spcBef>
                <a:spcPts val="360"/>
              </a:spcBef>
              <a:spcAft>
                <a:spcPts val="0"/>
              </a:spcAft>
              <a:buSzPts val="1400"/>
              <a:buNone/>
            </a:pPr>
            <a:r>
              <a:rPr lang="en-AU"/>
              <a:t>Main partition, but we do also have 3 High Memory nodes — two of which have around 500GiB available memory and the third has 1.5 TiB of ram (with 96 cores).</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AU"/>
              <a:t>Finally we have the GPU partition which has 7 GPU nodes (two of which are shared with Jupyter). These have various numbers and various flavours of GPUs in them.</a:t>
            </a:r>
            <a:endParaRPr/>
          </a:p>
        </p:txBody>
      </p:sp>
      <p:sp>
        <p:nvSpPr>
          <p:cNvPr id="127" name="Google Shape;12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AU"/>
              <a:t>Modern data sets in both bioinformatics and astronomy have grown so large that it’s becoming increasingly rare to be able to do meaningful research on our own</a:t>
            </a:r>
            <a:endParaRPr/>
          </a:p>
          <a:p>
            <a:pPr indent="0" lvl="0" marL="0" rtl="0" algn="l">
              <a:lnSpc>
                <a:spcPct val="100000"/>
              </a:lnSpc>
              <a:spcBef>
                <a:spcPts val="0"/>
              </a:spcBef>
              <a:spcAft>
                <a:spcPts val="0"/>
              </a:spcAft>
              <a:buSzPts val="1400"/>
              <a:buNone/>
            </a:pPr>
            <a:r>
              <a:rPr lang="en-AU"/>
              <a:t>PCs / laptops or even large individual servers we might find in our labs. We are usually limited by the amount of memory, CPU or storage available on these devices</a:t>
            </a:r>
            <a:endParaRPr/>
          </a:p>
          <a:p>
            <a:pPr indent="0" lvl="0" marL="0" rtl="0" algn="l">
              <a:lnSpc>
                <a:spcPct val="100000"/>
              </a:lnSpc>
              <a:spcBef>
                <a:spcPts val="0"/>
              </a:spcBef>
              <a:spcAft>
                <a:spcPts val="0"/>
              </a:spcAft>
              <a:buSzPts val="1400"/>
              <a:buNone/>
            </a:pPr>
            <a:r>
              <a:rPr lang="en-AU"/>
              <a:t>a</a:t>
            </a:r>
            <a:r>
              <a:rPr lang="en-AU"/>
              <a:t>nd that’s when we need to look at larger resources such as a computing cluster and that’s where we can really take advantage of parallelism. So what is parallelism?</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AU"/>
              <a:t>The Oxford definition is [read above]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AU"/>
              <a:t>We have several kinds of parallelism ranging from </a:t>
            </a:r>
            <a:r>
              <a:rPr lang="en-AU"/>
              <a:t>embarrassingly</a:t>
            </a:r>
            <a:r>
              <a:rPr lang="en-AU"/>
              <a:t> parallel problems where individual parts of a computation are not dependent on others — I’m not an</a:t>
            </a:r>
            <a:endParaRPr/>
          </a:p>
          <a:p>
            <a:pPr indent="0" lvl="0" marL="0" rtl="0" algn="l">
              <a:lnSpc>
                <a:spcPct val="100000"/>
              </a:lnSpc>
              <a:spcBef>
                <a:spcPts val="0"/>
              </a:spcBef>
              <a:spcAft>
                <a:spcPts val="0"/>
              </a:spcAft>
              <a:buSzPts val="1400"/>
              <a:buNone/>
            </a:pPr>
            <a:r>
              <a:rPr lang="en-AU"/>
              <a:t>Astronomer so this might be the greatest example but I’m told it’s kind of representative of what might see in the image domain, but I imagine in radio astronomy if one is doing some signal processing in a volume to create a 3 dimensional image of</a:t>
            </a:r>
            <a:endParaRPr/>
          </a:p>
          <a:p>
            <a:pPr indent="0" lvl="0" marL="0" rtl="0" algn="l">
              <a:lnSpc>
                <a:spcPct val="100000"/>
              </a:lnSpc>
              <a:spcBef>
                <a:spcPts val="0"/>
              </a:spcBef>
              <a:spcAft>
                <a:spcPts val="0"/>
              </a:spcAft>
              <a:buSzPts val="1400"/>
              <a:buNone/>
            </a:pPr>
            <a:r>
              <a:rPr lang="en-AU"/>
              <a:t>some region in space, the individual pixels are, at least computationally, unrelated to one another. So if we’re processing this data, these can be done independently of one another.</a:t>
            </a:r>
            <a:endParaRPr/>
          </a:p>
          <a:p>
            <a:pPr indent="0" lvl="0" marL="0" rtl="0" algn="l">
              <a:lnSpc>
                <a:spcPct val="100000"/>
              </a:lnSpc>
              <a:spcBef>
                <a:spcPts val="0"/>
              </a:spcBef>
              <a:spcAft>
                <a:spcPts val="0"/>
              </a:spcAft>
              <a:buSzPts val="1400"/>
              <a:buNone/>
            </a:pPr>
            <a:r>
              <a:t/>
            </a:r>
            <a:endParaRPr/>
          </a:p>
          <a:p>
            <a:pPr indent="0" lvl="0" marL="0" rtl="0" algn="just">
              <a:lnSpc>
                <a:spcPct val="115000"/>
              </a:lnSpc>
              <a:spcBef>
                <a:spcPts val="0"/>
              </a:spcBef>
              <a:spcAft>
                <a:spcPts val="0"/>
              </a:spcAft>
              <a:buSzPts val="1100"/>
              <a:buNone/>
            </a:pPr>
            <a:r>
              <a:rPr lang="en-AU" sz="1100">
                <a:latin typeface="Arial"/>
                <a:ea typeface="Arial"/>
                <a:cs typeface="Arial"/>
                <a:sym typeface="Arial"/>
              </a:rPr>
              <a:t>A good example of parallelism for astronomy would be to partition/split the full spectral resolution raw data (or just raw data) from a radio telescope such as MeerKat into multiple spectral windows (SPW) and process the SPWs in parallel instead of the full raw data.  Each SPW is processed simultaneously and this is what the Process MeerKat pipeline does during the radio signal processing.</a:t>
            </a:r>
            <a:endParaRPr sz="1100">
              <a:latin typeface="Arial"/>
              <a:ea typeface="Arial"/>
              <a:cs typeface="Arial"/>
              <a:sym typeface="Arial"/>
            </a:endParaRPr>
          </a:p>
          <a:p>
            <a:pPr indent="0" lvl="0" marL="0" rtl="0" algn="just">
              <a:lnSpc>
                <a:spcPct val="115000"/>
              </a:lnSpc>
              <a:spcBef>
                <a:spcPts val="0"/>
              </a:spcBef>
              <a:spcAft>
                <a:spcPts val="0"/>
              </a:spcAft>
              <a:buSzPts val="1100"/>
              <a:buNone/>
            </a:pPr>
            <a:r>
              <a:rPr lang="en-AU" sz="1100">
                <a:latin typeface="Arial"/>
                <a:ea typeface="Arial"/>
                <a:cs typeface="Arial"/>
                <a:sym typeface="Arial"/>
              </a:rPr>
              <a:t>In bioinformatics one might be doing a genome assembly and part of this might be comparing reads to an existing genome and using that as a basis for assembly.</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AU"/>
              <a:t>Another class of parallelism is where individual components are highly dependent on each other. Here and example from the bioinformatics world might be where we’re doing a protein folding simulation where we’re modelling individual atoms and how they’re interacting with each other. So in this kind of simulation we typically break up our larger volume into smaller volumes, but there is interaction between these smaller volumes.</a:t>
            </a:r>
            <a:endParaRPr/>
          </a:p>
        </p:txBody>
      </p:sp>
      <p:sp>
        <p:nvSpPr>
          <p:cNvPr id="160" name="Google Shape;160;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AU"/>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en-AU"/>
              <a:t>So let’s consider some computer program or application. A simple program might look as follows:</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AU"/>
              <a:t>[read]</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t/>
            </a:r>
            <a:endParaRPr/>
          </a:p>
        </p:txBody>
      </p:sp>
      <p:sp>
        <p:nvSpPr>
          <p:cNvPr id="173" name="Google Shape;17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en-AU"/>
              <a:t>Moving onto a parallel solution, it might</a:t>
            </a:r>
            <a:endParaRPr/>
          </a:p>
        </p:txBody>
      </p:sp>
      <p:sp>
        <p:nvSpPr>
          <p:cNvPr id="183" name="Google Shape;18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en-AU"/>
              <a:t>So compared to a serial or sequential process, a parallelism is more </a:t>
            </a:r>
            <a:r>
              <a:rPr lang="en-AU"/>
              <a:t>complicated requires multiple portions of a program to run simultaneously.</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AU"/>
              <a:t>This has several requirements.</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AU"/>
              <a:t>Firstly we need to have multiple resources available simultaneously, so this is where we have many CPU cores available. Obviously if we’re on a single core machine, we can only run one thing at a time.</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AU"/>
              <a:t>But, we also need the software/program to have been written in such a way that it can take advantage of these resources. In other words, we cannot simply take a piece of software and expect it to run better/faster simply by running it on a machine with more cores. The software </a:t>
            </a:r>
            <a:r>
              <a:rPr b="1" lang="en-AU"/>
              <a:t>has</a:t>
            </a:r>
            <a:r>
              <a:rPr lang="en-AU"/>
              <a:t> to be coded with parallelism in mind.</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AU"/>
              <a:t>This involves some overall control / coordination mechanism — so ways for individual parts of the program to communicate with each other. Typically this involves one part of the software being in charge of the overall plan — telling other bits of the software which data to analyse and combining the results at the end. This can be done in various ways but is often achieved with frameworks or libraries such as MPI (message passing interface) / traditional (old-school) threading / or OpenMP (Open Multi-processing) (which is a framework to do threading).</a:t>
            </a:r>
            <a:endParaRPr/>
          </a:p>
        </p:txBody>
      </p:sp>
      <p:sp>
        <p:nvSpPr>
          <p:cNvPr id="196" name="Google Shape;19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en-AU"/>
              <a:t>Parallelism on a computing cluster can look a bit different depending on the problem that you’re trying to solve.</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AU"/>
              <a:t>[READ SLIDE]</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AU"/>
              <a:t>A small note on the way our physical hardware is set up — we do not have a low-latency network like the CHPC</a:t>
            </a:r>
            <a:endParaRPr/>
          </a:p>
          <a:p>
            <a:pPr indent="0" lvl="0" marL="0" rtl="0" algn="l">
              <a:lnSpc>
                <a:spcPct val="100000"/>
              </a:lnSpc>
              <a:spcBef>
                <a:spcPts val="360"/>
              </a:spcBef>
              <a:spcAft>
                <a:spcPts val="0"/>
              </a:spcAft>
              <a:buSzPts val="1400"/>
              <a:buNone/>
            </a:pPr>
            <a:r>
              <a:rPr lang="en-AU"/>
              <a:t>Does with their infiniband network. When we talk about latency what we mean is the time it takes for even a small</a:t>
            </a:r>
            <a:endParaRPr/>
          </a:p>
          <a:p>
            <a:pPr indent="0" lvl="0" marL="0" rtl="0" algn="l">
              <a:lnSpc>
                <a:spcPct val="100000"/>
              </a:lnSpc>
              <a:spcBef>
                <a:spcPts val="360"/>
              </a:spcBef>
              <a:spcAft>
                <a:spcPts val="0"/>
              </a:spcAft>
              <a:buSzPts val="1400"/>
              <a:buNone/>
            </a:pPr>
            <a:r>
              <a:rPr lang="en-AU"/>
              <a:t>Message to get from one node to the other. The implication is that if you have the kind of problems where there</a:t>
            </a:r>
            <a:endParaRPr/>
          </a:p>
          <a:p>
            <a:pPr indent="0" lvl="0" marL="0" rtl="0" algn="l">
              <a:lnSpc>
                <a:spcPct val="100000"/>
              </a:lnSpc>
              <a:spcBef>
                <a:spcPts val="360"/>
              </a:spcBef>
              <a:spcAft>
                <a:spcPts val="0"/>
              </a:spcAft>
              <a:buSzPts val="1400"/>
              <a:buNone/>
            </a:pPr>
            <a:r>
              <a:rPr lang="en-AU"/>
              <a:t>Is lots of communication between nodes (like the protein folding example I mentioned earlier) then spreading</a:t>
            </a:r>
            <a:endParaRPr/>
          </a:p>
          <a:p>
            <a:pPr indent="0" lvl="0" marL="0" rtl="0" algn="l">
              <a:lnSpc>
                <a:spcPct val="100000"/>
              </a:lnSpc>
              <a:spcBef>
                <a:spcPts val="360"/>
              </a:spcBef>
              <a:spcAft>
                <a:spcPts val="0"/>
              </a:spcAft>
              <a:buSzPts val="1400"/>
              <a:buNone/>
            </a:pPr>
            <a:r>
              <a:rPr lang="en-AU"/>
              <a:t>The problem across multiple nodes can actually have a negative effect on your overall computation time because</a:t>
            </a:r>
            <a:endParaRPr/>
          </a:p>
          <a:p>
            <a:pPr indent="0" lvl="0" marL="0" rtl="0" algn="l">
              <a:lnSpc>
                <a:spcPct val="100000"/>
              </a:lnSpc>
              <a:spcBef>
                <a:spcPts val="360"/>
              </a:spcBef>
              <a:spcAft>
                <a:spcPts val="0"/>
              </a:spcAft>
              <a:buSzPts val="1400"/>
              <a:buNone/>
            </a:pPr>
            <a:r>
              <a:rPr lang="en-AU"/>
              <a:t>You end up spending a lot of time waiting for communication between nodes, rather than doing lots of computation.</a:t>
            </a:r>
            <a:endParaRPr/>
          </a:p>
          <a:p>
            <a:pPr indent="0" lvl="0" marL="0" rtl="0" algn="l">
              <a:lnSpc>
                <a:spcPct val="100000"/>
              </a:lnSpc>
              <a:spcBef>
                <a:spcPts val="360"/>
              </a:spcBef>
              <a:spcAft>
                <a:spcPts val="0"/>
              </a:spcAft>
              <a:buSzPts val="1400"/>
              <a:buNone/>
            </a:pPr>
            <a:r>
              <a:rPr lang="en-AU"/>
              <a:t>So if you have the kind of problem that requires that — you’re better off using say the CHPC which has an infiniband</a:t>
            </a:r>
            <a:endParaRPr/>
          </a:p>
          <a:p>
            <a:pPr indent="0" lvl="0" marL="0" rtl="0" algn="l">
              <a:lnSpc>
                <a:spcPct val="100000"/>
              </a:lnSpc>
              <a:spcBef>
                <a:spcPts val="360"/>
              </a:spcBef>
              <a:spcAft>
                <a:spcPts val="0"/>
              </a:spcAft>
              <a:buSzPts val="1400"/>
              <a:buNone/>
            </a:pPr>
            <a:r>
              <a:rPr lang="en-AU"/>
              <a:t>n</a:t>
            </a:r>
            <a:r>
              <a:rPr lang="en-AU"/>
              <a:t>etwork . Our network is quite high bandwidth though, so which there might be a relatively large delay in getting</a:t>
            </a:r>
            <a:endParaRPr/>
          </a:p>
          <a:p>
            <a:pPr indent="0" lvl="0" marL="0" rtl="0" algn="l">
              <a:lnSpc>
                <a:spcPct val="100000"/>
              </a:lnSpc>
              <a:spcBef>
                <a:spcPts val="360"/>
              </a:spcBef>
              <a:spcAft>
                <a:spcPts val="0"/>
              </a:spcAft>
              <a:buSzPts val="1400"/>
              <a:buNone/>
            </a:pPr>
            <a:r>
              <a:rPr lang="en-AU"/>
              <a:t>A message from A to B, those messages can be big so we can move a lot of data quite quickly.</a:t>
            </a:r>
            <a:endParaRPr/>
          </a:p>
          <a:p>
            <a:pPr indent="0" lvl="0" marL="0" rtl="0" algn="l">
              <a:lnSpc>
                <a:spcPct val="100000"/>
              </a:lnSpc>
              <a:spcBef>
                <a:spcPts val="360"/>
              </a:spcBef>
              <a:spcAft>
                <a:spcPts val="0"/>
              </a:spcAft>
              <a:buSzPts val="1400"/>
              <a:buNone/>
            </a:pPr>
            <a:r>
              <a:t/>
            </a:r>
            <a:endParaRPr/>
          </a:p>
        </p:txBody>
      </p:sp>
      <p:sp>
        <p:nvSpPr>
          <p:cNvPr id="202" name="Google Shape;20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en-AU"/>
              <a:t>Typically parallelism is implemented using one of three mechanisms:</a:t>
            </a:r>
            <a:endParaRPr/>
          </a:p>
          <a:p>
            <a:pPr indent="0" lvl="0" marL="0" rtl="0" algn="l">
              <a:lnSpc>
                <a:spcPct val="100000"/>
              </a:lnSpc>
              <a:spcBef>
                <a:spcPts val="360"/>
              </a:spcBef>
              <a:spcAft>
                <a:spcPts val="0"/>
              </a:spcAft>
              <a:buSzPts val="1400"/>
              <a:buNone/>
            </a:pPr>
            <a:r>
              <a:t/>
            </a:r>
            <a:endParaRPr/>
          </a:p>
          <a:p>
            <a:pPr indent="-317500" lvl="0" marL="457200" rtl="0" algn="l">
              <a:lnSpc>
                <a:spcPct val="100000"/>
              </a:lnSpc>
              <a:spcBef>
                <a:spcPts val="360"/>
              </a:spcBef>
              <a:spcAft>
                <a:spcPts val="0"/>
              </a:spcAft>
              <a:buSzPts val="1400"/>
              <a:buAutoNum type="arabicPeriod"/>
            </a:pPr>
            <a:r>
              <a:rPr lang="en-AU"/>
              <a:t>It can be on a single machine or node that has multiple cores (most modern CPUs have this) — this would be usually be done using threads or OpenMP. As mentioned earlier OpenMP is a framework that makes it easier to develop multi-threaded code. Multi-threaded code works well on multi-core machines where there is shared memory because different parts of the software running in parallel can communicate directly with each other; i.e. there’s not need to go over an external network.</a:t>
            </a:r>
            <a:endParaRPr/>
          </a:p>
          <a:p>
            <a:pPr indent="-317500" lvl="0" marL="457200" rtl="0" algn="l">
              <a:lnSpc>
                <a:spcPct val="100000"/>
              </a:lnSpc>
              <a:spcBef>
                <a:spcPts val="0"/>
              </a:spcBef>
              <a:spcAft>
                <a:spcPts val="0"/>
              </a:spcAft>
              <a:buSzPts val="1400"/>
              <a:buAutoNum type="arabicPeriod"/>
            </a:pPr>
            <a:r>
              <a:rPr lang="en-AU"/>
              <a:t>GPUs are usually used in scenarios where you can run exactly the same bit of code on different parts of data simultaneously. This is a bit different from threading where the actual code running can be somewhat independent or doing slightly different things.</a:t>
            </a:r>
            <a:endParaRPr/>
          </a:p>
          <a:p>
            <a:pPr indent="-317500" lvl="0" marL="457200" rtl="0" algn="l">
              <a:lnSpc>
                <a:spcPct val="100000"/>
              </a:lnSpc>
              <a:spcBef>
                <a:spcPts val="0"/>
              </a:spcBef>
              <a:spcAft>
                <a:spcPts val="0"/>
              </a:spcAft>
              <a:buSzPts val="1400"/>
              <a:buAutoNum type="arabicPeriod"/>
            </a:pPr>
            <a:r>
              <a:rPr lang="en-AU"/>
              <a:t>When moving over to multiple machines at the same time we usually use the MPI library which makes it easy to distribute the work over many tasks. Slurm will set up the environment, by this I mean it will allocate the machines for the job and tell the job how much memory and CPU is available. MPI can then use these resources to split out the parts of the job to where they should run and combine the results together again at the end. If you are using singularity remember that a container is kind of like a standalone machine with its own operating system and software and you will need to ensure that you are using the same version of MPI inside and outside of the container.</a:t>
            </a:r>
            <a:endParaRPr/>
          </a:p>
        </p:txBody>
      </p:sp>
      <p:sp>
        <p:nvSpPr>
          <p:cNvPr id="209" name="Google Shape;20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en-AU"/>
              <a:t>By default a job in the cluster will only have a single cpu allocated to it. This is what you’d use if you know your code has no parallelism — perhaps it’s some kind of pre-processing where everything needs to be done sequentially.</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AU"/>
              <a:t>Then the next level of complexity would be using threading or OpenMP. Here we will be requesting multiple cores but only on a single node.  In the job scripts later we’ll see we specify a single node, a single tasks, but </a:t>
            </a:r>
            <a:r>
              <a:rPr lang="en-AU"/>
              <a:t>multiple</a:t>
            </a:r>
            <a:r>
              <a:rPr lang="en-AU"/>
              <a:t> cpus per task. Usually you need to tell the software how many threads to actually use. In the case of OpenMP this can be done by setting the OMP_NUM_THREADS environmental variable. Otherwise it can usually be done by giving it a command line parameter. This is important as some software might mistakenly assume all the cores on the machine are available for use, but this might not be the case as your job will be restricted to what it requested.  Sometimes it’s not explicitly clear that your software can use threading or OpenMP, e.g. if you use numpy a lot in your calculations </a:t>
            </a:r>
            <a:r>
              <a:rPr lang="en-AU"/>
              <a:t>— there are quite a few operations in there that have </a:t>
            </a:r>
            <a:r>
              <a:rPr lang="en-AU"/>
              <a:t>been</a:t>
            </a:r>
            <a:r>
              <a:rPr lang="en-AU"/>
              <a:t> coded to use OpenMP and will take advantage of multiple cores if they’re available.</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AU"/>
              <a:t>Finally an MPI job requires one to use multiple tasks — these could all be on a single machine or spread across multiple machines. The number of tasks cannot exceed the number of CPUs on the machine — most of our machines have 32 cores, but there are a handful with a bit more.</a:t>
            </a:r>
            <a:endParaRPr/>
          </a:p>
        </p:txBody>
      </p:sp>
      <p:sp>
        <p:nvSpPr>
          <p:cNvPr id="218" name="Google Shape;21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00d511618f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00d511618f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AU"/>
              <a:t>Okay next I’m going to talk about several scenarios for parallelism that you might be considering for your analysis. But first here is a list of the slurm parameters you will probably want to consider.</a:t>
            </a:r>
            <a:endParaRPr/>
          </a:p>
        </p:txBody>
      </p:sp>
      <p:sp>
        <p:nvSpPr>
          <p:cNvPr id="227" name="Google Shape;227;g300d511618f_1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AU"/>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5" name="Google Shape;23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45" name="Google Shape;24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6" name="Google Shape;25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00d511618f_1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00d511618f_1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AU"/>
              <a:t>And now it’s time for me to have problems with Zoom.</a:t>
            </a:r>
            <a:endParaRPr/>
          </a:p>
        </p:txBody>
      </p:sp>
      <p:sp>
        <p:nvSpPr>
          <p:cNvPr id="267" name="Google Shape;267;g300d511618f_1_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AU"/>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74" name="Google Shape;274;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1" name="Google Shape;281;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gif"/><Relationship Id="rId3" Type="http://schemas.openxmlformats.org/officeDocument/2006/relationships/image" Target="../media/image10.jp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
          <p:cNvSpPr txBox="1"/>
          <p:nvPr>
            <p:ph type="ctrTitle"/>
          </p:nvPr>
        </p:nvSpPr>
        <p:spPr>
          <a:xfrm>
            <a:off x="311708" y="744575"/>
            <a:ext cx="8520600" cy="2052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1" name="Google Shape;2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2" name="Google Shape;2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5" name="Google Shape;2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4"/>
          <p:cNvSpPr txBox="1"/>
          <p:nvPr>
            <p:ph idx="1" type="body"/>
          </p:nvPr>
        </p:nvSpPr>
        <p:spPr>
          <a:xfrm>
            <a:off x="311700" y="1152475"/>
            <a:ext cx="68514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3" name="Google Shape;3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AU"/>
              <a:t>‹#›</a:t>
            </a:fld>
            <a:endParaRPr/>
          </a:p>
        </p:txBody>
      </p:sp>
      <p:pic>
        <p:nvPicPr>
          <p:cNvPr id="45" name="Google Shape;45;p8"/>
          <p:cNvPicPr preferRelativeResize="0"/>
          <p:nvPr/>
        </p:nvPicPr>
        <p:blipFill>
          <a:blip r:embed="rId2">
            <a:alphaModFix/>
          </a:blip>
          <a:stretch>
            <a:fillRect/>
          </a:stretch>
        </p:blipFill>
        <p:spPr>
          <a:xfrm>
            <a:off x="7741500" y="343950"/>
            <a:ext cx="1279650" cy="3354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9" name="Google Shape;49;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txBox="1"/>
          <p:nvPr>
            <p:ph hasCustomPrompt="1" type="title"/>
          </p:nvPr>
        </p:nvSpPr>
        <p:spPr>
          <a:xfrm>
            <a:off x="311700" y="1106125"/>
            <a:ext cx="8520600" cy="19638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7" name="Google Shape;57;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58" name="Google Shape;5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spTree>
      <p:nvGrpSpPr>
        <p:cNvPr id="61" name="Shape 61"/>
        <p:cNvGrpSpPr/>
        <p:nvPr/>
      </p:nvGrpSpPr>
      <p:grpSpPr>
        <a:xfrm>
          <a:off x="0" y="0"/>
          <a:ext cx="0" cy="0"/>
          <a:chOff x="0" y="0"/>
          <a:chExt cx="0" cy="0"/>
        </a:xfrm>
      </p:grpSpPr>
      <p:sp>
        <p:nvSpPr>
          <p:cNvPr id="62" name="Google Shape;62;p13"/>
          <p:cNvSpPr txBox="1"/>
          <p:nvPr>
            <p:ph type="ctrTitle"/>
          </p:nvPr>
        </p:nvSpPr>
        <p:spPr>
          <a:xfrm>
            <a:off x="311708" y="744575"/>
            <a:ext cx="8520600" cy="2052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3" name="Google Shape;63;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4" name="Google Shape;6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spTree>
      <p:nvGrpSpPr>
        <p:cNvPr id="65" name="Shape 65"/>
        <p:cNvGrpSpPr/>
        <p:nvPr/>
      </p:nvGrpSpPr>
      <p:grpSpPr>
        <a:xfrm>
          <a:off x="0" y="0"/>
          <a:ext cx="0" cy="0"/>
          <a:chOff x="0" y="0"/>
          <a:chExt cx="0" cy="0"/>
        </a:xfrm>
      </p:grpSpPr>
      <p:sp>
        <p:nvSpPr>
          <p:cNvPr id="66" name="Google Shape;66;p1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7" name="Google Shape;6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showMasterSp="0">
  <p:cSld name="Title Slide 1">
    <p:bg>
      <p:bgPr>
        <a:solidFill>
          <a:srgbClr val="003562"/>
        </a:solidFill>
      </p:bgPr>
    </p:bg>
    <p:spTree>
      <p:nvGrpSpPr>
        <p:cNvPr id="68" name="Shape 68"/>
        <p:cNvGrpSpPr/>
        <p:nvPr/>
      </p:nvGrpSpPr>
      <p:grpSpPr>
        <a:xfrm>
          <a:off x="0" y="0"/>
          <a:ext cx="0" cy="0"/>
          <a:chOff x="0" y="0"/>
          <a:chExt cx="0" cy="0"/>
        </a:xfrm>
      </p:grpSpPr>
      <p:sp>
        <p:nvSpPr>
          <p:cNvPr id="69" name="Google Shape;69;p15"/>
          <p:cNvSpPr txBox="1"/>
          <p:nvPr/>
        </p:nvSpPr>
        <p:spPr>
          <a:xfrm>
            <a:off x="8465882" y="4808023"/>
            <a:ext cx="554100" cy="3579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AU" sz="1000">
                <a:solidFill>
                  <a:srgbClr val="595959"/>
                </a:solidFill>
              </a:rPr>
              <a:t>‹#›</a:t>
            </a:fld>
            <a:endParaRPr sz="1000">
              <a:solidFill>
                <a:srgbClr val="595959"/>
              </a:solidFill>
            </a:endParaRPr>
          </a:p>
        </p:txBody>
      </p:sp>
      <p:grpSp>
        <p:nvGrpSpPr>
          <p:cNvPr id="70" name="Google Shape;70;p15"/>
          <p:cNvGrpSpPr/>
          <p:nvPr/>
        </p:nvGrpSpPr>
        <p:grpSpPr>
          <a:xfrm>
            <a:off x="6451405" y="4360345"/>
            <a:ext cx="2414633" cy="447857"/>
            <a:chOff x="6477450" y="4170750"/>
            <a:chExt cx="2391200" cy="492475"/>
          </a:xfrm>
        </p:grpSpPr>
        <p:pic>
          <p:nvPicPr>
            <p:cNvPr id="71" name="Google Shape;71;p15"/>
            <p:cNvPicPr preferRelativeResize="0"/>
            <p:nvPr/>
          </p:nvPicPr>
          <p:blipFill>
            <a:blip r:embed="rId2">
              <a:alphaModFix/>
            </a:blip>
            <a:stretch>
              <a:fillRect/>
            </a:stretch>
          </p:blipFill>
          <p:spPr>
            <a:xfrm>
              <a:off x="6477450" y="4170750"/>
              <a:ext cx="2162700" cy="492475"/>
            </a:xfrm>
            <a:prstGeom prst="rect">
              <a:avLst/>
            </a:prstGeom>
            <a:noFill/>
            <a:ln>
              <a:noFill/>
            </a:ln>
          </p:spPr>
        </p:pic>
        <p:pic>
          <p:nvPicPr>
            <p:cNvPr id="72" name="Google Shape;72;p15"/>
            <p:cNvPicPr preferRelativeResize="0"/>
            <p:nvPr/>
          </p:nvPicPr>
          <p:blipFill>
            <a:blip r:embed="rId3">
              <a:alphaModFix/>
            </a:blip>
            <a:stretch>
              <a:fillRect/>
            </a:stretch>
          </p:blipFill>
          <p:spPr>
            <a:xfrm>
              <a:off x="7589000" y="4249275"/>
              <a:ext cx="1279650" cy="335425"/>
            </a:xfrm>
            <a:prstGeom prst="rect">
              <a:avLst/>
            </a:prstGeom>
            <a:noFill/>
            <a:ln>
              <a:noFill/>
            </a:ln>
          </p:spPr>
        </p:pic>
      </p:grpSp>
      <p:pic>
        <p:nvPicPr>
          <p:cNvPr id="73" name="Google Shape;73;p15"/>
          <p:cNvPicPr preferRelativeResize="0"/>
          <p:nvPr/>
        </p:nvPicPr>
        <p:blipFill>
          <a:blip r:embed="rId4">
            <a:alphaModFix/>
          </a:blip>
          <a:stretch>
            <a:fillRect/>
          </a:stretch>
        </p:blipFill>
        <p:spPr>
          <a:xfrm>
            <a:off x="1018973" y="4128281"/>
            <a:ext cx="5024893" cy="1037674"/>
          </a:xfrm>
          <a:prstGeom prst="rect">
            <a:avLst/>
          </a:prstGeom>
          <a:noFill/>
          <a:ln>
            <a:noFill/>
          </a:ln>
        </p:spPr>
      </p:pic>
      <p:pic>
        <p:nvPicPr>
          <p:cNvPr id="74" name="Google Shape;74;p15"/>
          <p:cNvPicPr preferRelativeResize="0"/>
          <p:nvPr/>
        </p:nvPicPr>
        <p:blipFill>
          <a:blip r:embed="rId5">
            <a:alphaModFix/>
          </a:blip>
          <a:stretch>
            <a:fillRect/>
          </a:stretch>
        </p:blipFill>
        <p:spPr>
          <a:xfrm>
            <a:off x="469041" y="3498888"/>
            <a:ext cx="4649339" cy="692843"/>
          </a:xfrm>
          <a:prstGeom prst="rect">
            <a:avLst/>
          </a:prstGeom>
          <a:noFill/>
          <a:ln>
            <a:noFill/>
          </a:ln>
        </p:spPr>
      </p:pic>
      <p:pic>
        <p:nvPicPr>
          <p:cNvPr id="75" name="Google Shape;75;p15"/>
          <p:cNvPicPr preferRelativeResize="0"/>
          <p:nvPr/>
        </p:nvPicPr>
        <p:blipFill>
          <a:blip r:embed="rId6">
            <a:alphaModFix/>
          </a:blip>
          <a:stretch>
            <a:fillRect/>
          </a:stretch>
        </p:blipFill>
        <p:spPr>
          <a:xfrm>
            <a:off x="6451334" y="3498495"/>
            <a:ext cx="1965488" cy="629468"/>
          </a:xfrm>
          <a:prstGeom prst="rect">
            <a:avLst/>
          </a:prstGeom>
          <a:noFill/>
          <a:ln>
            <a:noFill/>
          </a:ln>
        </p:spPr>
      </p:pic>
      <p:sp>
        <p:nvSpPr>
          <p:cNvPr id="76" name="Google Shape;76;p15"/>
          <p:cNvSpPr txBox="1"/>
          <p:nvPr>
            <p:ph type="title"/>
          </p:nvPr>
        </p:nvSpPr>
        <p:spPr>
          <a:xfrm>
            <a:off x="124168" y="2711135"/>
            <a:ext cx="8630700" cy="586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 name="Google Shape;77;p15"/>
          <p:cNvSpPr txBox="1"/>
          <p:nvPr>
            <p:ph idx="1" type="subTitle"/>
          </p:nvPr>
        </p:nvSpPr>
        <p:spPr>
          <a:xfrm>
            <a:off x="124173" y="2603278"/>
            <a:ext cx="3036000" cy="802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8" name="Google Shape;78;p15"/>
          <p:cNvPicPr preferRelativeResize="0"/>
          <p:nvPr/>
        </p:nvPicPr>
        <p:blipFill>
          <a:blip r:embed="rId7">
            <a:alphaModFix/>
          </a:blip>
          <a:stretch>
            <a:fillRect/>
          </a:stretch>
        </p:blipFill>
        <p:spPr>
          <a:xfrm>
            <a:off x="0" y="0"/>
            <a:ext cx="9143998" cy="2632141"/>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79" name="Shape 79"/>
        <p:cNvGrpSpPr/>
        <p:nvPr/>
      </p:nvGrpSpPr>
      <p:grpSpPr>
        <a:xfrm>
          <a:off x="0" y="0"/>
          <a:ext cx="0" cy="0"/>
          <a:chOff x="0" y="0"/>
          <a:chExt cx="0" cy="0"/>
        </a:xfrm>
      </p:grpSpPr>
      <p:sp>
        <p:nvSpPr>
          <p:cNvPr id="80" name="Google Shape;80;p16"/>
          <p:cNvSpPr txBox="1"/>
          <p:nvPr>
            <p:ph idx="1" type="body"/>
          </p:nvPr>
        </p:nvSpPr>
        <p:spPr>
          <a:xfrm>
            <a:off x="360000" y="1032278"/>
            <a:ext cx="7093800" cy="3417000"/>
          </a:xfrm>
          <a:prstGeom prst="rect">
            <a:avLst/>
          </a:prstGeom>
          <a:noFill/>
          <a:ln>
            <a:noFill/>
          </a:ln>
        </p:spPr>
        <p:txBody>
          <a:bodyPr anchorCtr="0" anchor="t" bIns="0" lIns="0" spcFirstLastPara="1" rIns="0" wrap="square" tIns="0">
            <a:noAutofit/>
          </a:bodyPr>
          <a:lstStyle>
            <a:lvl1pPr indent="-381000" lvl="0" marL="457200" algn="l">
              <a:lnSpc>
                <a:spcPct val="90000"/>
              </a:lnSpc>
              <a:spcBef>
                <a:spcPts val="600"/>
              </a:spcBef>
              <a:spcAft>
                <a:spcPts val="0"/>
              </a:spcAft>
              <a:buClr>
                <a:schemeClr val="dk1"/>
              </a:buClr>
              <a:buSzPts val="2400"/>
              <a:buFont typeface="Arial"/>
              <a:buChar char="•"/>
              <a:defRPr>
                <a:solidFill>
                  <a:schemeClr val="dk1"/>
                </a:solidFill>
              </a:defRPr>
            </a:lvl1pPr>
            <a:lvl2pPr indent="-355600" lvl="1" marL="914400" algn="l">
              <a:lnSpc>
                <a:spcPct val="90000"/>
              </a:lnSpc>
              <a:spcBef>
                <a:spcPts val="563"/>
              </a:spcBef>
              <a:spcAft>
                <a:spcPts val="0"/>
              </a:spcAft>
              <a:buClr>
                <a:schemeClr val="dk1"/>
              </a:buClr>
              <a:buSzPts val="2000"/>
              <a:buChar char="∙"/>
              <a:defRPr>
                <a:solidFill>
                  <a:schemeClr val="dk1"/>
                </a:solidFill>
              </a:defRPr>
            </a:lvl2pPr>
            <a:lvl3pPr indent="-355600" lvl="2" marL="1371600" algn="l">
              <a:lnSpc>
                <a:spcPct val="90000"/>
              </a:lnSpc>
              <a:spcBef>
                <a:spcPts val="563"/>
              </a:spcBef>
              <a:spcAft>
                <a:spcPts val="0"/>
              </a:spcAft>
              <a:buSzPts val="2000"/>
              <a:buChar char="–"/>
              <a:defRPr>
                <a:solidFill>
                  <a:schemeClr val="dk1"/>
                </a:solidFill>
              </a:defRPr>
            </a:lvl3pPr>
            <a:lvl4pPr indent="-355600" lvl="3" marL="1828800" algn="l">
              <a:lnSpc>
                <a:spcPct val="90000"/>
              </a:lnSpc>
              <a:spcBef>
                <a:spcPts val="563"/>
              </a:spcBef>
              <a:spcAft>
                <a:spcPts val="0"/>
              </a:spcAft>
              <a:buSzPts val="2000"/>
              <a:buChar char="–"/>
              <a:defRPr>
                <a:solidFill>
                  <a:schemeClr val="dk1"/>
                </a:solidFill>
              </a:defRPr>
            </a:lvl4pPr>
            <a:lvl5pPr indent="-342900" lvl="4" marL="2286000" algn="l">
              <a:lnSpc>
                <a:spcPct val="90000"/>
              </a:lnSpc>
              <a:spcBef>
                <a:spcPts val="563"/>
              </a:spcBef>
              <a:spcAft>
                <a:spcPts val="0"/>
              </a:spcAft>
              <a:buSzPts val="1800"/>
              <a:buChar char="•"/>
              <a:defRPr/>
            </a:lvl5pPr>
            <a:lvl6pPr indent="-342900" lvl="5" marL="2743200" algn="l">
              <a:lnSpc>
                <a:spcPct val="90000"/>
              </a:lnSpc>
              <a:spcBef>
                <a:spcPts val="563"/>
              </a:spcBef>
              <a:spcAft>
                <a:spcPts val="0"/>
              </a:spcAft>
              <a:buSzPts val="1800"/>
              <a:buChar char="–"/>
              <a:defRPr/>
            </a:lvl6pPr>
            <a:lvl7pPr indent="-342900" lvl="6" marL="3200400" algn="l">
              <a:lnSpc>
                <a:spcPct val="90000"/>
              </a:lnSpc>
              <a:spcBef>
                <a:spcPts val="567"/>
              </a:spcBef>
              <a:spcAft>
                <a:spcPts val="0"/>
              </a:spcAft>
              <a:buSzPts val="1800"/>
              <a:buChar char="–"/>
              <a:defRPr/>
            </a:lvl7pPr>
            <a:lvl8pPr indent="-342900" lvl="7" marL="3657600" algn="l">
              <a:lnSpc>
                <a:spcPct val="90000"/>
              </a:lnSpc>
              <a:spcBef>
                <a:spcPts val="567"/>
              </a:spcBef>
              <a:spcAft>
                <a:spcPts val="0"/>
              </a:spcAft>
              <a:buSzPts val="1800"/>
              <a:buChar char="–"/>
              <a:defRPr/>
            </a:lvl8pPr>
            <a:lvl9pPr indent="-342900" lvl="8" marL="4114800" algn="l">
              <a:lnSpc>
                <a:spcPct val="90000"/>
              </a:lnSpc>
              <a:spcBef>
                <a:spcPts val="567"/>
              </a:spcBef>
              <a:spcAft>
                <a:spcPts val="567"/>
              </a:spcAft>
              <a:buSzPts val="1800"/>
              <a:buChar char="–"/>
              <a:defRPr/>
            </a:lvl9pPr>
          </a:lstStyle>
          <a:p/>
        </p:txBody>
      </p:sp>
      <p:cxnSp>
        <p:nvCxnSpPr>
          <p:cNvPr id="81" name="Google Shape;81;p16"/>
          <p:cNvCxnSpPr/>
          <p:nvPr/>
        </p:nvCxnSpPr>
        <p:spPr>
          <a:xfrm>
            <a:off x="534325" y="759218"/>
            <a:ext cx="8014800" cy="21300"/>
          </a:xfrm>
          <a:prstGeom prst="straightConnector1">
            <a:avLst/>
          </a:prstGeom>
          <a:noFill/>
          <a:ln cap="flat" cmpd="sng" w="9525">
            <a:solidFill>
              <a:srgbClr val="1E34A1"/>
            </a:solidFill>
            <a:prstDash val="solid"/>
            <a:round/>
            <a:headEnd len="med" w="med" type="none"/>
            <a:tailEnd len="med" w="med" type="none"/>
          </a:ln>
        </p:spPr>
      </p:cxnSp>
      <p:sp>
        <p:nvSpPr>
          <p:cNvPr id="82" name="Google Shape;82;p16"/>
          <p:cNvSpPr txBox="1"/>
          <p:nvPr>
            <p:ph type="title"/>
          </p:nvPr>
        </p:nvSpPr>
        <p:spPr>
          <a:xfrm>
            <a:off x="493900" y="67657"/>
            <a:ext cx="6697200" cy="436500"/>
          </a:xfrm>
          <a:prstGeom prst="rect">
            <a:avLst/>
          </a:prstGeom>
        </p:spPr>
        <p:txBody>
          <a:bodyPr anchorCtr="0" anchor="t" bIns="91425" lIns="91425" spcFirstLastPara="1" rIns="91425" wrap="square" tIns="91425">
            <a:normAutofit/>
          </a:bodyPr>
          <a:lstStyle>
            <a:lvl1pPr lvl="0">
              <a:spcBef>
                <a:spcPts val="0"/>
              </a:spcBef>
              <a:spcAft>
                <a:spcPts val="0"/>
              </a:spcAft>
              <a:buClr>
                <a:srgbClr val="0000FF"/>
              </a:buClr>
              <a:buSzPts val="2400"/>
              <a:buNone/>
              <a:defRPr sz="2400">
                <a:solidFill>
                  <a:srgbClr val="0000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 name="Google Shape;83;p16"/>
          <p:cNvSpPr txBox="1"/>
          <p:nvPr>
            <p:ph idx="2" type="subTitle"/>
          </p:nvPr>
        </p:nvSpPr>
        <p:spPr>
          <a:xfrm>
            <a:off x="534325" y="398633"/>
            <a:ext cx="6539400" cy="321600"/>
          </a:xfrm>
          <a:prstGeom prst="rect">
            <a:avLst/>
          </a:prstGeom>
        </p:spPr>
        <p:txBody>
          <a:bodyPr anchorCtr="0" anchor="t" bIns="91425" lIns="91425" spcFirstLastPara="1" rIns="91425" wrap="square" tIns="91425">
            <a:normAutofit/>
          </a:bodyPr>
          <a:lstStyle>
            <a:lvl1pPr lvl="0">
              <a:spcBef>
                <a:spcPts val="0"/>
              </a:spcBef>
              <a:spcAft>
                <a:spcPts val="0"/>
              </a:spcAft>
              <a:buSzPts val="10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showMasterSp="0">
  <p:cSld name="Thank You Slide">
    <p:bg>
      <p:bgPr>
        <a:solidFill>
          <a:schemeClr val="lt1"/>
        </a:solidFill>
      </p:bgPr>
    </p:bg>
    <p:spTree>
      <p:nvGrpSpPr>
        <p:cNvPr id="84" name="Shape 84"/>
        <p:cNvGrpSpPr/>
        <p:nvPr/>
      </p:nvGrpSpPr>
      <p:grpSpPr>
        <a:xfrm>
          <a:off x="0" y="0"/>
          <a:ext cx="0" cy="0"/>
          <a:chOff x="0" y="0"/>
          <a:chExt cx="0" cy="0"/>
        </a:xfrm>
      </p:grpSpPr>
      <p:sp>
        <p:nvSpPr>
          <p:cNvPr id="85" name="Google Shape;85;p17"/>
          <p:cNvSpPr txBox="1"/>
          <p:nvPr>
            <p:ph type="title"/>
          </p:nvPr>
        </p:nvSpPr>
        <p:spPr>
          <a:xfrm>
            <a:off x="274477" y="2289966"/>
            <a:ext cx="4449600" cy="2319000"/>
          </a:xfrm>
          <a:prstGeom prst="rect">
            <a:avLst/>
          </a:prstGeom>
          <a:noFill/>
          <a:ln>
            <a:noFill/>
          </a:ln>
        </p:spPr>
        <p:txBody>
          <a:bodyPr anchorCtr="0" anchor="b" bIns="0" lIns="0" spcFirstLastPara="1" rIns="0" wrap="square" tIns="0">
            <a:noAutofit/>
          </a:bodyPr>
          <a:lstStyle>
            <a:lvl1pPr lvl="0" rtl="0" algn="l">
              <a:lnSpc>
                <a:spcPct val="85000"/>
              </a:lnSpc>
              <a:spcBef>
                <a:spcPts val="0"/>
              </a:spcBef>
              <a:spcAft>
                <a:spcPts val="0"/>
              </a:spcAft>
              <a:buSzPts val="1400"/>
              <a:buNone/>
              <a:defRPr b="1" i="0" sz="1800" u="none" strike="noStrike">
                <a:latin typeface="Arial"/>
                <a:ea typeface="Arial"/>
                <a:cs typeface="Arial"/>
                <a:sym typeface="Arial"/>
              </a:defRPr>
            </a:lvl1pPr>
            <a:lvl2pPr lvl="1" rtl="0" algn="l">
              <a:lnSpc>
                <a:spcPct val="90000"/>
              </a:lnSpc>
              <a:spcBef>
                <a:spcPts val="0"/>
              </a:spcBef>
              <a:spcAft>
                <a:spcPts val="0"/>
              </a:spcAft>
              <a:buSzPts val="1400"/>
              <a:buNone/>
              <a:defRPr/>
            </a:lvl2pPr>
            <a:lvl3pPr lvl="2" rtl="0" algn="l">
              <a:lnSpc>
                <a:spcPct val="90000"/>
              </a:lnSpc>
              <a:spcBef>
                <a:spcPts val="0"/>
              </a:spcBef>
              <a:spcAft>
                <a:spcPts val="0"/>
              </a:spcAft>
              <a:buSzPts val="1400"/>
              <a:buNone/>
              <a:defRPr/>
            </a:lvl3pPr>
            <a:lvl4pPr lvl="3" rtl="0" algn="l">
              <a:lnSpc>
                <a:spcPct val="90000"/>
              </a:lnSpc>
              <a:spcBef>
                <a:spcPts val="0"/>
              </a:spcBef>
              <a:spcAft>
                <a:spcPts val="0"/>
              </a:spcAft>
              <a:buSzPts val="1400"/>
              <a:buNone/>
              <a:defRPr/>
            </a:lvl4pPr>
            <a:lvl5pPr lvl="4" rtl="0" algn="l">
              <a:lnSpc>
                <a:spcPct val="90000"/>
              </a:lnSpc>
              <a:spcBef>
                <a:spcPts val="0"/>
              </a:spcBef>
              <a:spcAft>
                <a:spcPts val="0"/>
              </a:spcAft>
              <a:buSzPts val="1400"/>
              <a:buNone/>
              <a:defRPr/>
            </a:lvl5pPr>
            <a:lvl6pPr lvl="5" rtl="0" algn="l">
              <a:lnSpc>
                <a:spcPct val="90000"/>
              </a:lnSpc>
              <a:spcBef>
                <a:spcPts val="0"/>
              </a:spcBef>
              <a:spcAft>
                <a:spcPts val="0"/>
              </a:spcAft>
              <a:buSzPts val="1400"/>
              <a:buNone/>
              <a:defRPr/>
            </a:lvl6pPr>
            <a:lvl7pPr lvl="6" rtl="0" algn="l">
              <a:lnSpc>
                <a:spcPct val="90000"/>
              </a:lnSpc>
              <a:spcBef>
                <a:spcPts val="0"/>
              </a:spcBef>
              <a:spcAft>
                <a:spcPts val="0"/>
              </a:spcAft>
              <a:buSzPts val="1400"/>
              <a:buNone/>
              <a:defRPr/>
            </a:lvl7pPr>
            <a:lvl8pPr lvl="7" rtl="0" algn="l">
              <a:lnSpc>
                <a:spcPct val="90000"/>
              </a:lnSpc>
              <a:spcBef>
                <a:spcPts val="0"/>
              </a:spcBef>
              <a:spcAft>
                <a:spcPts val="0"/>
              </a:spcAft>
              <a:buSzPts val="1400"/>
              <a:buNone/>
              <a:defRPr/>
            </a:lvl8pPr>
            <a:lvl9pPr lvl="8" rtl="0" algn="l">
              <a:lnSpc>
                <a:spcPct val="90000"/>
              </a:lnSpc>
              <a:spcBef>
                <a:spcPts val="0"/>
              </a:spcBef>
              <a:spcAft>
                <a:spcPts val="0"/>
              </a:spcAft>
              <a:buSzPts val="1400"/>
              <a:buNone/>
              <a:defRPr/>
            </a:lvl9pPr>
          </a:lstStyle>
          <a:p/>
        </p:txBody>
      </p:sp>
      <p:pic>
        <p:nvPicPr>
          <p:cNvPr descr="A close up of a logo &#10; &#10;Description automatically generated" id="86" name="Google Shape;86;p17"/>
          <p:cNvPicPr preferRelativeResize="0"/>
          <p:nvPr/>
        </p:nvPicPr>
        <p:blipFill rotWithShape="1">
          <a:blip r:embed="rId2">
            <a:alphaModFix/>
          </a:blip>
          <a:srcRect b="0" l="0" r="0" t="0"/>
          <a:stretch/>
        </p:blipFill>
        <p:spPr>
          <a:xfrm>
            <a:off x="4903892" y="3390661"/>
            <a:ext cx="3016388" cy="476978"/>
          </a:xfrm>
          <a:prstGeom prst="rect">
            <a:avLst/>
          </a:prstGeom>
          <a:noFill/>
          <a:ln>
            <a:noFill/>
          </a:ln>
        </p:spPr>
      </p:pic>
      <p:pic>
        <p:nvPicPr>
          <p:cNvPr descr="A close up of a logo &#10; &#10;Description automatically generated" id="87" name="Google Shape;87;p17"/>
          <p:cNvPicPr preferRelativeResize="0"/>
          <p:nvPr/>
        </p:nvPicPr>
        <p:blipFill rotWithShape="1">
          <a:blip r:embed="rId3">
            <a:alphaModFix/>
          </a:blip>
          <a:srcRect b="0" l="0" r="0" t="0"/>
          <a:stretch/>
        </p:blipFill>
        <p:spPr>
          <a:xfrm>
            <a:off x="4724221" y="2289966"/>
            <a:ext cx="3151144" cy="935788"/>
          </a:xfrm>
          <a:prstGeom prst="rect">
            <a:avLst/>
          </a:prstGeom>
          <a:noFill/>
          <a:ln>
            <a:noFill/>
          </a:ln>
        </p:spPr>
      </p:pic>
      <p:sp>
        <p:nvSpPr>
          <p:cNvPr id="88" name="Google Shape;88;p17"/>
          <p:cNvSpPr txBox="1"/>
          <p:nvPr/>
        </p:nvSpPr>
        <p:spPr>
          <a:xfrm>
            <a:off x="2993940" y="1357406"/>
            <a:ext cx="3156000" cy="453300"/>
          </a:xfrm>
          <a:prstGeom prst="rect">
            <a:avLst/>
          </a:prstGeom>
          <a:noFill/>
          <a:ln>
            <a:noFill/>
          </a:ln>
        </p:spPr>
        <p:txBody>
          <a:bodyPr anchorCtr="0" anchor="b" bIns="0" lIns="0" spcFirstLastPara="1" rIns="0" wrap="square" tIns="0">
            <a:noAutofit/>
          </a:bodyPr>
          <a:lstStyle/>
          <a:p>
            <a:pPr indent="0" lvl="0" marL="0" marR="0" rtl="0" algn="ctr">
              <a:lnSpc>
                <a:spcPct val="85000"/>
              </a:lnSpc>
              <a:spcBef>
                <a:spcPts val="0"/>
              </a:spcBef>
              <a:spcAft>
                <a:spcPts val="0"/>
              </a:spcAft>
              <a:buClr>
                <a:srgbClr val="000000"/>
              </a:buClr>
              <a:buSzPts val="4400"/>
              <a:buFont typeface="Arial"/>
              <a:buNone/>
            </a:pPr>
            <a:r>
              <a:rPr b="1" i="0" lang="en-AU" sz="4400" u="none" cap="none" strike="noStrike">
                <a:solidFill>
                  <a:schemeClr val="dk1"/>
                </a:solidFill>
                <a:latin typeface="Arial"/>
                <a:ea typeface="Arial"/>
                <a:cs typeface="Arial"/>
                <a:sym typeface="Arial"/>
              </a:rPr>
              <a:t>THANK YOU</a:t>
            </a:r>
            <a:endParaRPr b="1" i="0" sz="4400" u="none" cap="none" strike="noStrike">
              <a:solidFill>
                <a:schemeClr val="dk1"/>
              </a:solidFill>
              <a:latin typeface="Arial"/>
              <a:ea typeface="Arial"/>
              <a:cs typeface="Arial"/>
              <a:sym typeface="Arial"/>
            </a:endParaRPr>
          </a:p>
        </p:txBody>
      </p:sp>
      <p:pic>
        <p:nvPicPr>
          <p:cNvPr id="89" name="Google Shape;89;p17"/>
          <p:cNvPicPr preferRelativeResize="0"/>
          <p:nvPr/>
        </p:nvPicPr>
        <p:blipFill>
          <a:blip r:embed="rId4">
            <a:alphaModFix/>
          </a:blip>
          <a:stretch>
            <a:fillRect/>
          </a:stretch>
        </p:blipFill>
        <p:spPr>
          <a:xfrm>
            <a:off x="4903909" y="4167825"/>
            <a:ext cx="1965488" cy="62946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6.xml"/><Relationship Id="rId11" Type="http://schemas.openxmlformats.org/officeDocument/2006/relationships/slideLayout" Target="../slideLayouts/slideLayout7.xml"/><Relationship Id="rId10" Type="http://schemas.openxmlformats.org/officeDocument/2006/relationships/slideLayout" Target="../slideLayouts/slideLayout6.xml"/><Relationship Id="rId21" Type="http://schemas.openxmlformats.org/officeDocument/2006/relationships/theme" Target="../theme/theme2.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12.png"/><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20.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7" Type="http://schemas.openxmlformats.org/officeDocument/2006/relationships/slideLayout" Target="../slideLayouts/slideLayout13.xml"/><Relationship Id="rId16" Type="http://schemas.openxmlformats.org/officeDocument/2006/relationships/slideLayout" Target="../slideLayouts/slideLayout12.xml"/><Relationship Id="rId5" Type="http://schemas.openxmlformats.org/officeDocument/2006/relationships/slideLayout" Target="../slideLayouts/slideLayout1.xml"/><Relationship Id="rId19" Type="http://schemas.openxmlformats.org/officeDocument/2006/relationships/slideLayout" Target="../slideLayouts/slideLayout15.xml"/><Relationship Id="rId6" Type="http://schemas.openxmlformats.org/officeDocument/2006/relationships/slideLayout" Target="../slideLayouts/slideLayout2.xml"/><Relationship Id="rId18" Type="http://schemas.openxmlformats.org/officeDocument/2006/relationships/slideLayout" Target="../slideLayouts/slideLayout14.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1" name="Google Shape;11;p1"/>
          <p:cNvSpPr txBox="1"/>
          <p:nvPr>
            <p:ph idx="1" type="body"/>
          </p:nvPr>
        </p:nvSpPr>
        <p:spPr>
          <a:xfrm>
            <a:off x="311700" y="1152475"/>
            <a:ext cx="68514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12" name="Google Shape;12;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AU"/>
              <a:t>‹#›</a:t>
            </a:fld>
            <a:endParaRPr/>
          </a:p>
        </p:txBody>
      </p:sp>
      <p:grpSp>
        <p:nvGrpSpPr>
          <p:cNvPr id="13" name="Google Shape;13;p1"/>
          <p:cNvGrpSpPr/>
          <p:nvPr/>
        </p:nvGrpSpPr>
        <p:grpSpPr>
          <a:xfrm>
            <a:off x="7835507" y="156999"/>
            <a:ext cx="967815" cy="4915929"/>
            <a:chOff x="7624532" y="164274"/>
            <a:chExt cx="967815" cy="4915929"/>
          </a:xfrm>
        </p:grpSpPr>
        <p:pic>
          <p:nvPicPr>
            <p:cNvPr id="14" name="Google Shape;14;p1"/>
            <p:cNvPicPr preferRelativeResize="0"/>
            <p:nvPr/>
          </p:nvPicPr>
          <p:blipFill>
            <a:blip r:embed="rId1">
              <a:alphaModFix/>
            </a:blip>
            <a:stretch>
              <a:fillRect/>
            </a:stretch>
          </p:blipFill>
          <p:spPr>
            <a:xfrm>
              <a:off x="7687678" y="164274"/>
              <a:ext cx="841524" cy="423575"/>
            </a:xfrm>
            <a:prstGeom prst="rect">
              <a:avLst/>
            </a:prstGeom>
            <a:noFill/>
            <a:ln>
              <a:noFill/>
            </a:ln>
          </p:spPr>
        </p:pic>
        <p:grpSp>
          <p:nvGrpSpPr>
            <p:cNvPr id="15" name="Google Shape;15;p1"/>
            <p:cNvGrpSpPr/>
            <p:nvPr/>
          </p:nvGrpSpPr>
          <p:grpSpPr>
            <a:xfrm>
              <a:off x="7624532" y="2864927"/>
              <a:ext cx="967815" cy="2215277"/>
              <a:chOff x="7624775" y="2703037"/>
              <a:chExt cx="1113326" cy="2377161"/>
            </a:xfrm>
          </p:grpSpPr>
          <p:pic>
            <p:nvPicPr>
              <p:cNvPr id="16" name="Google Shape;16;p1"/>
              <p:cNvPicPr preferRelativeResize="0"/>
              <p:nvPr/>
            </p:nvPicPr>
            <p:blipFill>
              <a:blip r:embed="rId2">
                <a:alphaModFix/>
              </a:blip>
              <a:stretch>
                <a:fillRect/>
              </a:stretch>
            </p:blipFill>
            <p:spPr>
              <a:xfrm>
                <a:off x="7624775" y="3116986"/>
                <a:ext cx="1113325" cy="1010690"/>
              </a:xfrm>
              <a:prstGeom prst="rect">
                <a:avLst/>
              </a:prstGeom>
              <a:noFill/>
              <a:ln>
                <a:noFill/>
              </a:ln>
            </p:spPr>
          </p:pic>
          <p:pic>
            <p:nvPicPr>
              <p:cNvPr id="17" name="Google Shape;17;p1"/>
              <p:cNvPicPr preferRelativeResize="0"/>
              <p:nvPr/>
            </p:nvPicPr>
            <p:blipFill>
              <a:blip r:embed="rId3">
                <a:alphaModFix/>
              </a:blip>
              <a:stretch>
                <a:fillRect/>
              </a:stretch>
            </p:blipFill>
            <p:spPr>
              <a:xfrm>
                <a:off x="7624775" y="2703037"/>
                <a:ext cx="1113325" cy="356338"/>
              </a:xfrm>
              <a:prstGeom prst="rect">
                <a:avLst/>
              </a:prstGeom>
              <a:noFill/>
              <a:ln>
                <a:noFill/>
              </a:ln>
            </p:spPr>
          </p:pic>
          <p:pic>
            <p:nvPicPr>
              <p:cNvPr id="18" name="Google Shape;18;p1"/>
              <p:cNvPicPr preferRelativeResize="0"/>
              <p:nvPr/>
            </p:nvPicPr>
            <p:blipFill>
              <a:blip r:embed="rId4">
                <a:alphaModFix/>
              </a:blip>
              <a:stretch>
                <a:fillRect/>
              </a:stretch>
            </p:blipFill>
            <p:spPr>
              <a:xfrm>
                <a:off x="7624775" y="4098075"/>
                <a:ext cx="1113326" cy="982123"/>
              </a:xfrm>
              <a:prstGeom prst="rect">
                <a:avLst/>
              </a:prstGeom>
              <a:noFill/>
              <a:ln>
                <a:noFill/>
              </a:ln>
            </p:spPr>
          </p:pic>
        </p:grpSp>
      </p:grpSp>
    </p:spTree>
  </p:cSld>
  <p:clrMap accent1="accent1" accent2="accent2" accent3="accent3" accent4="accent4" accent5="accent5" accent6="accent6" bg1="lt1" bg2="dk2" tx1="dk1" tx2="lt2" folHlink="folHlink" hlink="hlink"/>
  <p:sldLayoutIdLst>
    <p:sldLayoutId id="2147483648" r:id="rId5"/>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 id="2147483660" r:id="rId17"/>
    <p:sldLayoutId id="2147483661" r:id="rId18"/>
    <p:sldLayoutId id="2147483662" r:id="rId19"/>
    <p:sldLayoutId id="2147483663"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hyperlink" Target="http://docs.ilifu.ac.za/#/getting_started/submit_job_slurm" TargetMode="Externa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hyperlink" Target="http://docs.ilifu.ac.za/#/tech_docs/running_jobs?id=_4-specifying-resources-when-running-jobs-on-slurm" TargetMode="Externa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jpg"/><Relationship Id="rId5" Type="http://schemas.openxmlformats.org/officeDocument/2006/relationships/image" Target="../media/image11.png"/><Relationship Id="rId6" Type="http://schemas.openxmlformats.org/officeDocument/2006/relationships/hyperlink" Target="https://en.wikipedia.org/wiki/Parallel_comput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hyperlink" Target="https://en.wikipedia.org/wiki/Computer_progra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hyperlink" Target="https://en.wikipedia.org/wiki/Divide-and-conquer_algorith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hyperlink" Target="https://docs.ilifu.ac.za/#/getting_started/submit_job_slurm?id=customising-your-job-using-sbatchsrun-parameters" TargetMode="Externa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hyperlink" Target="https://github.com/ilifu/ilifu_user_training/tree/main/session3/tutorial1" TargetMode="Externa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hyperlink" Target="https://docs.ilifu.ac.za/#/getting_started/best_practice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18"/>
          <p:cNvSpPr txBox="1"/>
          <p:nvPr/>
        </p:nvSpPr>
        <p:spPr>
          <a:xfrm>
            <a:off x="91975" y="2913425"/>
            <a:ext cx="6573000" cy="18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AU" sz="2500">
                <a:solidFill>
                  <a:schemeClr val="dk1"/>
                </a:solidFill>
              </a:rPr>
              <a:t>i</a:t>
            </a:r>
            <a:r>
              <a:rPr lang="en-AU" sz="2500">
                <a:solidFill>
                  <a:schemeClr val="dk1"/>
                </a:solidFill>
              </a:rPr>
              <a:t>lifu</a:t>
            </a:r>
            <a:r>
              <a:rPr lang="en-AU" sz="2500">
                <a:solidFill>
                  <a:schemeClr val="dk1"/>
                </a:solidFill>
              </a:rPr>
              <a:t> Online Training</a:t>
            </a:r>
            <a:endParaRPr sz="2500">
              <a:solidFill>
                <a:schemeClr val="dk1"/>
              </a:solidFill>
            </a:endParaRPr>
          </a:p>
          <a:p>
            <a:pPr indent="0" lvl="0" marL="0" rtl="0" algn="ctr">
              <a:spcBef>
                <a:spcPts val="0"/>
              </a:spcBef>
              <a:spcAft>
                <a:spcPts val="0"/>
              </a:spcAft>
              <a:buNone/>
            </a:pPr>
            <a:r>
              <a:rPr lang="en-AU" sz="2200">
                <a:solidFill>
                  <a:schemeClr val="dk1"/>
                </a:solidFill>
              </a:rPr>
              <a:t>Session 3: Parallelism</a:t>
            </a:r>
            <a:endParaRPr>
              <a:solidFill>
                <a:schemeClr val="dk1"/>
              </a:solidFill>
            </a:endParaRPr>
          </a:p>
          <a:p>
            <a:pPr indent="0" lvl="0" marL="0" rtl="0" algn="ctr">
              <a:spcBef>
                <a:spcPts val="0"/>
              </a:spcBef>
              <a:spcAft>
                <a:spcPts val="0"/>
              </a:spcAft>
              <a:buNone/>
            </a:pPr>
            <a:r>
              <a:rPr lang="en-AU">
                <a:solidFill>
                  <a:schemeClr val="dk1"/>
                </a:solidFill>
              </a:rPr>
              <a:t>16 September 2025</a:t>
            </a:r>
            <a:endParaRPr>
              <a:solidFill>
                <a:schemeClr val="dk1"/>
              </a:solidFill>
            </a:endParaRPr>
          </a:p>
          <a:p>
            <a:pPr indent="0" lvl="0" marL="0" rtl="0" algn="ctr">
              <a:spcBef>
                <a:spcPts val="0"/>
              </a:spcBef>
              <a:spcAft>
                <a:spcPts val="0"/>
              </a:spcAft>
              <a:buNone/>
            </a:pPr>
            <a:r>
              <a:t/>
            </a:r>
            <a:endParaRPr sz="1000">
              <a:solidFill>
                <a:schemeClr val="dk1"/>
              </a:solidFill>
            </a:endParaRPr>
          </a:p>
          <a:p>
            <a:pPr indent="0" lvl="0" marL="0" rtl="0" algn="ctr">
              <a:spcBef>
                <a:spcPts val="0"/>
              </a:spcBef>
              <a:spcAft>
                <a:spcPts val="0"/>
              </a:spcAft>
              <a:buNone/>
            </a:pPr>
            <a:r>
              <a:rPr lang="en-AU" sz="1000">
                <a:solidFill>
                  <a:schemeClr val="dk1"/>
                </a:solidFill>
                <a:latin typeface="Nunito"/>
                <a:ea typeface="Nunito"/>
                <a:cs typeface="Nunito"/>
                <a:sym typeface="Nunito"/>
              </a:rPr>
              <a:t>Dane Kennedy, ilifu Bioinformatics Support</a:t>
            </a:r>
            <a:endParaRPr sz="1000">
              <a:solidFill>
                <a:schemeClr val="dk1"/>
              </a:solidFill>
              <a:latin typeface="Nunito"/>
              <a:ea typeface="Nunito"/>
              <a:cs typeface="Nunito"/>
              <a:sym typeface="Nunito"/>
            </a:endParaRPr>
          </a:p>
          <a:p>
            <a:pPr indent="0" lvl="0" marL="0" rtl="0" algn="ctr">
              <a:spcBef>
                <a:spcPts val="0"/>
              </a:spcBef>
              <a:spcAft>
                <a:spcPts val="0"/>
              </a:spcAft>
              <a:buClr>
                <a:schemeClr val="dk1"/>
              </a:buClr>
              <a:buSzPts val="1100"/>
              <a:buFont typeface="Arial"/>
              <a:buNone/>
            </a:pPr>
            <a:r>
              <a:rPr lang="en-AU" sz="1000">
                <a:solidFill>
                  <a:schemeClr val="dk1"/>
                </a:solidFill>
                <a:latin typeface="Nunito"/>
                <a:ea typeface="Nunito"/>
                <a:cs typeface="Nunito"/>
                <a:sym typeface="Nunito"/>
              </a:rPr>
              <a:t>University of Cape Town</a:t>
            </a:r>
            <a:endParaRPr sz="1000">
              <a:solidFill>
                <a:schemeClr val="dk1"/>
              </a:solidFill>
              <a:latin typeface="Nunito"/>
              <a:ea typeface="Nunito"/>
              <a:cs typeface="Nunito"/>
              <a:sym typeface="Nunito"/>
            </a:endParaRPr>
          </a:p>
          <a:p>
            <a:pPr indent="0" lvl="0" marL="0" rtl="0" algn="ctr">
              <a:spcBef>
                <a:spcPts val="0"/>
              </a:spcBef>
              <a:spcAft>
                <a:spcPts val="0"/>
              </a:spcAft>
              <a:buNone/>
            </a:pPr>
            <a:r>
              <a:t/>
            </a:r>
            <a:endParaRPr>
              <a:solidFill>
                <a:schemeClr val="lt1"/>
              </a:solidFill>
            </a:endParaRPr>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AU"/>
              <a:t>‹#›</a:t>
            </a:fld>
            <a:endParaRPr/>
          </a:p>
        </p:txBody>
      </p:sp>
      <p:pic>
        <p:nvPicPr>
          <p:cNvPr id="96" name="Google Shape;96;p18"/>
          <p:cNvPicPr preferRelativeResize="0"/>
          <p:nvPr/>
        </p:nvPicPr>
        <p:blipFill>
          <a:blip r:embed="rId3">
            <a:alphaModFix/>
          </a:blip>
          <a:stretch>
            <a:fillRect/>
          </a:stretch>
        </p:blipFill>
        <p:spPr>
          <a:xfrm>
            <a:off x="0" y="0"/>
            <a:ext cx="9143998" cy="2558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idx="1" type="body"/>
          </p:nvPr>
        </p:nvSpPr>
        <p:spPr>
          <a:xfrm>
            <a:off x="360000" y="1202774"/>
            <a:ext cx="6985200" cy="2308800"/>
          </a:xfrm>
          <a:prstGeom prst="rect">
            <a:avLst/>
          </a:prstGeom>
          <a:noFill/>
          <a:ln>
            <a:noFill/>
          </a:ln>
        </p:spPr>
        <p:txBody>
          <a:bodyPr anchorCtr="0" anchor="t" bIns="0" lIns="0" spcFirstLastPara="1" rIns="0" wrap="square" tIns="0">
            <a:noAutofit/>
          </a:bodyPr>
          <a:lstStyle/>
          <a:p>
            <a:pPr indent="-342900" lvl="0" marL="342900" rtl="0" algn="l">
              <a:lnSpc>
                <a:spcPct val="90000"/>
              </a:lnSpc>
              <a:spcBef>
                <a:spcPts val="1163"/>
              </a:spcBef>
              <a:spcAft>
                <a:spcPts val="0"/>
              </a:spcAft>
              <a:buClr>
                <a:schemeClr val="dk1"/>
              </a:buClr>
              <a:buSzPts val="2400"/>
              <a:buFont typeface="Nunito"/>
              <a:buChar char="•"/>
            </a:pPr>
            <a:r>
              <a:rPr lang="en-AU">
                <a:latin typeface="Nunito"/>
                <a:ea typeface="Nunito"/>
                <a:cs typeface="Nunito"/>
                <a:sym typeface="Nunito"/>
              </a:rPr>
              <a:t>Login node (job submission &amp; management)</a:t>
            </a:r>
            <a:endParaRPr>
              <a:latin typeface="Nunito"/>
              <a:ea typeface="Nunito"/>
              <a:cs typeface="Nunito"/>
              <a:sym typeface="Nunito"/>
            </a:endParaRPr>
          </a:p>
          <a:p>
            <a:pPr indent="-250823" lvl="2" marL="503238" rtl="0" algn="l">
              <a:lnSpc>
                <a:spcPct val="90000"/>
              </a:lnSpc>
              <a:spcBef>
                <a:spcPts val="563"/>
              </a:spcBef>
              <a:spcAft>
                <a:spcPts val="0"/>
              </a:spcAft>
              <a:buSzPts val="2000"/>
              <a:buFont typeface="Nunito"/>
              <a:buChar char="–"/>
            </a:pPr>
            <a:r>
              <a:rPr lang="en-AU">
                <a:latin typeface="Nunito"/>
                <a:ea typeface="Nunito"/>
                <a:cs typeface="Nunito"/>
                <a:sym typeface="Nunito"/>
              </a:rPr>
              <a:t>Where you land when you log in (also known as “head node”)</a:t>
            </a:r>
            <a:endParaRPr>
              <a:latin typeface="Nunito"/>
              <a:ea typeface="Nunito"/>
              <a:cs typeface="Nunito"/>
              <a:sym typeface="Nunito"/>
            </a:endParaRPr>
          </a:p>
          <a:p>
            <a:pPr indent="-250823" lvl="2" marL="503238" rtl="0" algn="l">
              <a:lnSpc>
                <a:spcPct val="90000"/>
              </a:lnSpc>
              <a:spcBef>
                <a:spcPts val="563"/>
              </a:spcBef>
              <a:spcAft>
                <a:spcPts val="0"/>
              </a:spcAft>
              <a:buSzPts val="2000"/>
              <a:buFont typeface="Nunito"/>
              <a:buChar char="–"/>
            </a:pPr>
            <a:r>
              <a:rPr b="1" lang="en-AU">
                <a:latin typeface="Nunito"/>
                <a:ea typeface="Nunito"/>
                <a:cs typeface="Nunito"/>
                <a:sym typeface="Nunito"/>
              </a:rPr>
              <a:t>Run SLURM commands/submit jobs, but not software/heavy processes</a:t>
            </a:r>
            <a:endParaRPr>
              <a:latin typeface="Nunito"/>
              <a:ea typeface="Nunito"/>
              <a:cs typeface="Nunito"/>
              <a:sym typeface="Nunito"/>
            </a:endParaRPr>
          </a:p>
          <a:p>
            <a:pPr indent="-342900" lvl="0" marL="342900" rtl="0" algn="l">
              <a:lnSpc>
                <a:spcPct val="90000"/>
              </a:lnSpc>
              <a:spcBef>
                <a:spcPts val="1163"/>
              </a:spcBef>
              <a:spcAft>
                <a:spcPts val="0"/>
              </a:spcAft>
              <a:buClr>
                <a:schemeClr val="dk1"/>
              </a:buClr>
              <a:buSzPts val="2400"/>
              <a:buFont typeface="Nunito"/>
              <a:buChar char="•"/>
            </a:pPr>
            <a:r>
              <a:rPr lang="en-AU">
                <a:latin typeface="Nunito"/>
                <a:ea typeface="Nunito"/>
                <a:cs typeface="Nunito"/>
                <a:sym typeface="Nunito"/>
              </a:rPr>
              <a:t>Compute nodes</a:t>
            </a:r>
            <a:endParaRPr>
              <a:latin typeface="Nunito"/>
              <a:ea typeface="Nunito"/>
              <a:cs typeface="Nunito"/>
              <a:sym typeface="Nunito"/>
            </a:endParaRPr>
          </a:p>
          <a:p>
            <a:pPr indent="-250823" lvl="2" marL="503238" rtl="0" algn="l">
              <a:lnSpc>
                <a:spcPct val="90000"/>
              </a:lnSpc>
              <a:spcBef>
                <a:spcPts val="563"/>
              </a:spcBef>
              <a:spcAft>
                <a:spcPts val="0"/>
              </a:spcAft>
              <a:buSzPts val="2000"/>
              <a:buFont typeface="Nunito"/>
              <a:buChar char="–"/>
            </a:pPr>
            <a:r>
              <a:rPr lang="en-AU">
                <a:latin typeface="Nunito"/>
                <a:ea typeface="Nunito"/>
                <a:cs typeface="Nunito"/>
                <a:sym typeface="Nunito"/>
              </a:rPr>
              <a:t>Where your processes run (also known as “worker nodes”)</a:t>
            </a:r>
            <a:endParaRPr>
              <a:latin typeface="Nunito"/>
              <a:ea typeface="Nunito"/>
              <a:cs typeface="Nunito"/>
              <a:sym typeface="Nunito"/>
            </a:endParaRPr>
          </a:p>
          <a:p>
            <a:pPr indent="-250823" lvl="2" marL="503238" rtl="0" algn="l">
              <a:lnSpc>
                <a:spcPct val="90000"/>
              </a:lnSpc>
              <a:spcBef>
                <a:spcPts val="563"/>
              </a:spcBef>
              <a:spcAft>
                <a:spcPts val="0"/>
              </a:spcAft>
              <a:buSzPts val="2000"/>
              <a:buFont typeface="Nunito"/>
              <a:buChar char="–"/>
            </a:pPr>
            <a:r>
              <a:rPr lang="en-AU">
                <a:latin typeface="Nunito"/>
                <a:ea typeface="Nunito"/>
                <a:cs typeface="Nunito"/>
                <a:sym typeface="Nunito"/>
              </a:rPr>
              <a:t>Via modules /Singularity containers</a:t>
            </a:r>
            <a:endParaRPr>
              <a:latin typeface="Nunito"/>
              <a:ea typeface="Nunito"/>
              <a:cs typeface="Nunito"/>
              <a:sym typeface="Nunito"/>
            </a:endParaRPr>
          </a:p>
        </p:txBody>
      </p:sp>
      <p:sp>
        <p:nvSpPr>
          <p:cNvPr id="102" name="Google Shape;102;p19"/>
          <p:cNvSpPr txBox="1"/>
          <p:nvPr/>
        </p:nvSpPr>
        <p:spPr>
          <a:xfrm>
            <a:off x="8063836" y="4616565"/>
            <a:ext cx="348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AU" sz="1800" u="none" cap="none" strike="noStrike">
                <a:solidFill>
                  <a:schemeClr val="dk2"/>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03" name="Google Shape;103;p19"/>
          <p:cNvSpPr txBox="1"/>
          <p:nvPr/>
        </p:nvSpPr>
        <p:spPr>
          <a:xfrm>
            <a:off x="2845150" y="4085820"/>
            <a:ext cx="219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AU" sz="1800" u="none" cap="none" strike="noStrike">
                <a:solidFill>
                  <a:srgbClr val="FF0000"/>
                </a:solidFill>
                <a:latin typeface="Arial"/>
                <a:ea typeface="Arial"/>
                <a:cs typeface="Arial"/>
                <a:sym typeface="Arial"/>
              </a:rPr>
              <a:t>1 node = 32 CPUs,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lang="en-AU" sz="1800">
                <a:solidFill>
                  <a:srgbClr val="FF0000"/>
                </a:solidFill>
              </a:rPr>
              <a:t>~</a:t>
            </a:r>
            <a:r>
              <a:rPr b="0" i="0" lang="en-AU" sz="1800" u="none" cap="none" strike="noStrike">
                <a:solidFill>
                  <a:srgbClr val="FF0000"/>
                </a:solidFill>
                <a:latin typeface="Arial"/>
                <a:ea typeface="Arial"/>
                <a:cs typeface="Arial"/>
                <a:sym typeface="Arial"/>
              </a:rPr>
              <a:t>2</a:t>
            </a:r>
            <a:r>
              <a:rPr lang="en-AU" sz="1800">
                <a:solidFill>
                  <a:srgbClr val="FF0000"/>
                </a:solidFill>
              </a:rPr>
              <a:t>40</a:t>
            </a:r>
            <a:r>
              <a:rPr b="0" i="0" lang="en-AU" sz="1800" u="none" cap="none" strike="noStrike">
                <a:solidFill>
                  <a:srgbClr val="FF0000"/>
                </a:solidFill>
                <a:latin typeface="Arial"/>
                <a:ea typeface="Arial"/>
                <a:cs typeface="Arial"/>
                <a:sym typeface="Arial"/>
              </a:rPr>
              <a:t> GiB RAM</a:t>
            </a:r>
            <a:endParaRPr b="0" i="0" sz="1400" u="none" cap="none" strike="noStrike">
              <a:solidFill>
                <a:srgbClr val="000000"/>
              </a:solidFill>
              <a:latin typeface="Arial"/>
              <a:ea typeface="Arial"/>
              <a:cs typeface="Arial"/>
              <a:sym typeface="Arial"/>
            </a:endParaRPr>
          </a:p>
        </p:txBody>
      </p:sp>
      <p:grpSp>
        <p:nvGrpSpPr>
          <p:cNvPr id="104" name="Google Shape;104;p19"/>
          <p:cNvGrpSpPr/>
          <p:nvPr/>
        </p:nvGrpSpPr>
        <p:grpSpPr>
          <a:xfrm>
            <a:off x="468952" y="3511427"/>
            <a:ext cx="6439330" cy="1554577"/>
            <a:chOff x="527823" y="3411961"/>
            <a:chExt cx="6793975" cy="1954706"/>
          </a:xfrm>
        </p:grpSpPr>
        <p:sp>
          <p:nvSpPr>
            <p:cNvPr id="105" name="Google Shape;105;p19"/>
            <p:cNvSpPr/>
            <p:nvPr/>
          </p:nvSpPr>
          <p:spPr>
            <a:xfrm>
              <a:off x="3256563" y="3411961"/>
              <a:ext cx="1500300" cy="339600"/>
            </a:xfrm>
            <a:prstGeom prst="roundRect">
              <a:avLst>
                <a:gd fmla="val 16667" name="adj"/>
              </a:avLst>
            </a:prstGeom>
            <a:solidFill>
              <a:srgbClr val="AFE66A"/>
            </a:solidFill>
            <a:ln cap="flat" cmpd="sng" w="25400">
              <a:solidFill>
                <a:srgbClr val="209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AU" sz="1600" u="none" cap="none" strike="noStrike">
                  <a:solidFill>
                    <a:schemeClr val="dk1"/>
                  </a:solidFill>
                  <a:latin typeface="Consolas"/>
                  <a:ea typeface="Consolas"/>
                  <a:cs typeface="Consolas"/>
                  <a:sym typeface="Consolas"/>
                </a:rPr>
                <a:t>Login node</a:t>
              </a:r>
              <a:endParaRPr i="0" sz="1200" u="none" cap="none" strike="noStrike">
                <a:solidFill>
                  <a:schemeClr val="dk1"/>
                </a:solidFill>
                <a:latin typeface="Consolas"/>
                <a:ea typeface="Consolas"/>
                <a:cs typeface="Consolas"/>
                <a:sym typeface="Consolas"/>
              </a:endParaRPr>
            </a:p>
          </p:txBody>
        </p:sp>
        <p:cxnSp>
          <p:nvCxnSpPr>
            <p:cNvPr id="106" name="Google Shape;106;p19"/>
            <p:cNvCxnSpPr>
              <a:stCxn id="107" idx="0"/>
              <a:endCxn id="105" idx="2"/>
            </p:cNvCxnSpPr>
            <p:nvPr/>
          </p:nvCxnSpPr>
          <p:spPr>
            <a:xfrm flipH="1" rot="10800000">
              <a:off x="1811208" y="3751533"/>
              <a:ext cx="2195400" cy="313800"/>
            </a:xfrm>
            <a:prstGeom prst="straightConnector1">
              <a:avLst/>
            </a:prstGeom>
            <a:noFill/>
            <a:ln cap="flat" cmpd="sng" w="22225">
              <a:solidFill>
                <a:schemeClr val="dk2"/>
              </a:solidFill>
              <a:prstDash val="solid"/>
              <a:round/>
              <a:headEnd len="sm" w="sm" type="none"/>
              <a:tailEnd len="sm" w="sm" type="none"/>
            </a:ln>
          </p:spPr>
        </p:cxnSp>
        <p:cxnSp>
          <p:nvCxnSpPr>
            <p:cNvPr id="108" name="Google Shape;108;p19"/>
            <p:cNvCxnSpPr>
              <a:stCxn id="109" idx="0"/>
              <a:endCxn id="105" idx="2"/>
            </p:cNvCxnSpPr>
            <p:nvPr/>
          </p:nvCxnSpPr>
          <p:spPr>
            <a:xfrm rot="10800000">
              <a:off x="4006759" y="3751533"/>
              <a:ext cx="2210100" cy="313800"/>
            </a:xfrm>
            <a:prstGeom prst="straightConnector1">
              <a:avLst/>
            </a:prstGeom>
            <a:noFill/>
            <a:ln cap="flat" cmpd="sng" w="22225">
              <a:solidFill>
                <a:schemeClr val="dk2"/>
              </a:solidFill>
              <a:prstDash val="solid"/>
              <a:round/>
              <a:headEnd len="sm" w="sm" type="none"/>
              <a:tailEnd len="sm" w="sm" type="none"/>
            </a:ln>
          </p:spPr>
        </p:cxnSp>
        <p:grpSp>
          <p:nvGrpSpPr>
            <p:cNvPr id="110" name="Google Shape;110;p19"/>
            <p:cNvGrpSpPr/>
            <p:nvPr/>
          </p:nvGrpSpPr>
          <p:grpSpPr>
            <a:xfrm>
              <a:off x="5162123" y="4065333"/>
              <a:ext cx="2159675" cy="1301333"/>
              <a:chOff x="5162123" y="4065333"/>
              <a:chExt cx="2159675" cy="1301333"/>
            </a:xfrm>
          </p:grpSpPr>
          <p:sp>
            <p:nvSpPr>
              <p:cNvPr id="109" name="Google Shape;109;p19"/>
              <p:cNvSpPr/>
              <p:nvPr/>
            </p:nvSpPr>
            <p:spPr>
              <a:xfrm>
                <a:off x="5466772" y="4065333"/>
                <a:ext cx="1500174" cy="339606"/>
              </a:xfrm>
              <a:prstGeom prst="roundRect">
                <a:avLst>
                  <a:gd fmla="val 16667" name="adj"/>
                </a:avLst>
              </a:prstGeom>
              <a:solidFill>
                <a:srgbClr val="AFE66A"/>
              </a:solidFill>
              <a:ln cap="flat" cmpd="sng" w="25400">
                <a:solidFill>
                  <a:srgbClr val="209499"/>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AU" sz="1600">
                    <a:solidFill>
                      <a:schemeClr val="dk1"/>
                    </a:solidFill>
                    <a:latin typeface="Consolas"/>
                    <a:ea typeface="Consolas"/>
                    <a:cs typeface="Consolas"/>
                    <a:sym typeface="Consolas"/>
                  </a:rPr>
                  <a:t>Jupyter</a:t>
                </a:r>
                <a:endParaRPr i="0" sz="1200" u="none" cap="none" strike="noStrike">
                  <a:solidFill>
                    <a:schemeClr val="dk1"/>
                  </a:solidFill>
                  <a:latin typeface="Consolas"/>
                  <a:ea typeface="Consolas"/>
                  <a:cs typeface="Consolas"/>
                  <a:sym typeface="Consolas"/>
                </a:endParaRPr>
              </a:p>
            </p:txBody>
          </p:sp>
          <p:cxnSp>
            <p:nvCxnSpPr>
              <p:cNvPr id="111" name="Google Shape;111;p19"/>
              <p:cNvCxnSpPr>
                <a:stCxn id="112" idx="0"/>
                <a:endCxn id="109" idx="2"/>
              </p:cNvCxnSpPr>
              <p:nvPr/>
            </p:nvCxnSpPr>
            <p:spPr>
              <a:xfrm flipH="1" rot="10800000">
                <a:off x="5621423" y="4404900"/>
                <a:ext cx="595500" cy="600000"/>
              </a:xfrm>
              <a:prstGeom prst="straightConnector1">
                <a:avLst/>
              </a:prstGeom>
              <a:noFill/>
              <a:ln cap="flat" cmpd="sng" w="22225">
                <a:solidFill>
                  <a:schemeClr val="dk2"/>
                </a:solidFill>
                <a:prstDash val="solid"/>
                <a:round/>
                <a:headEnd len="sm" w="sm" type="none"/>
                <a:tailEnd len="sm" w="sm" type="none"/>
              </a:ln>
            </p:spPr>
          </p:cxnSp>
          <p:cxnSp>
            <p:nvCxnSpPr>
              <p:cNvPr id="113" name="Google Shape;113;p19"/>
              <p:cNvCxnSpPr>
                <a:stCxn id="114" idx="0"/>
                <a:endCxn id="109" idx="2"/>
              </p:cNvCxnSpPr>
              <p:nvPr/>
            </p:nvCxnSpPr>
            <p:spPr>
              <a:xfrm rot="10800000">
                <a:off x="6216898" y="4404900"/>
                <a:ext cx="645600" cy="600000"/>
              </a:xfrm>
              <a:prstGeom prst="straightConnector1">
                <a:avLst/>
              </a:prstGeom>
              <a:noFill/>
              <a:ln cap="flat" cmpd="sng" w="22225">
                <a:solidFill>
                  <a:schemeClr val="dk2"/>
                </a:solidFill>
                <a:prstDash val="solid"/>
                <a:round/>
                <a:headEnd len="sm" w="sm" type="none"/>
                <a:tailEnd len="sm" w="sm" type="none"/>
              </a:ln>
            </p:spPr>
          </p:cxnSp>
          <p:sp>
            <p:nvSpPr>
              <p:cNvPr id="112" name="Google Shape;112;p19"/>
              <p:cNvSpPr/>
              <p:nvPr/>
            </p:nvSpPr>
            <p:spPr>
              <a:xfrm>
                <a:off x="5162123" y="5004900"/>
                <a:ext cx="918600" cy="339600"/>
              </a:xfrm>
              <a:prstGeom prst="roundRect">
                <a:avLst>
                  <a:gd fmla="val 16667" name="adj"/>
                </a:avLst>
              </a:prstGeom>
              <a:solidFill>
                <a:srgbClr val="AFE66A"/>
              </a:solidFill>
              <a:ln cap="flat" cmpd="sng" w="25400">
                <a:solidFill>
                  <a:srgbClr val="209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lang="en-AU" sz="800">
                    <a:solidFill>
                      <a:schemeClr val="dk1"/>
                    </a:solidFill>
                    <a:latin typeface="Consolas"/>
                    <a:ea typeface="Consolas"/>
                    <a:cs typeface="Consolas"/>
                    <a:sym typeface="Consolas"/>
                  </a:rPr>
                  <a:t>jupyter</a:t>
                </a:r>
                <a:r>
                  <a:rPr i="0" lang="en-AU" sz="800" u="none" cap="none" strike="noStrike">
                    <a:solidFill>
                      <a:schemeClr val="dk1"/>
                    </a:solidFill>
                    <a:latin typeface="Consolas"/>
                    <a:ea typeface="Consolas"/>
                    <a:cs typeface="Consolas"/>
                    <a:sym typeface="Consolas"/>
                  </a:rPr>
                  <a:t>-00</a:t>
                </a:r>
                <a:r>
                  <a:rPr lang="en-AU" sz="800">
                    <a:solidFill>
                      <a:schemeClr val="dk1"/>
                    </a:solidFill>
                    <a:latin typeface="Consolas"/>
                    <a:ea typeface="Consolas"/>
                    <a:cs typeface="Consolas"/>
                    <a:sym typeface="Consolas"/>
                  </a:rPr>
                  <a:t>1</a:t>
                </a:r>
                <a:endParaRPr i="0" sz="1100" u="none" cap="none" strike="noStrike">
                  <a:solidFill>
                    <a:schemeClr val="dk1"/>
                  </a:solidFill>
                  <a:latin typeface="Consolas"/>
                  <a:ea typeface="Consolas"/>
                  <a:cs typeface="Consolas"/>
                  <a:sym typeface="Consolas"/>
                </a:endParaRPr>
              </a:p>
            </p:txBody>
          </p:sp>
          <p:sp>
            <p:nvSpPr>
              <p:cNvPr id="114" name="Google Shape;114;p19"/>
              <p:cNvSpPr/>
              <p:nvPr/>
            </p:nvSpPr>
            <p:spPr>
              <a:xfrm>
                <a:off x="6403198" y="5004900"/>
                <a:ext cx="918600" cy="339600"/>
              </a:xfrm>
              <a:prstGeom prst="roundRect">
                <a:avLst>
                  <a:gd fmla="val 16667" name="adj"/>
                </a:avLst>
              </a:prstGeom>
              <a:solidFill>
                <a:srgbClr val="AFE66A"/>
              </a:solidFill>
              <a:ln cap="flat" cmpd="sng" w="25400">
                <a:solidFill>
                  <a:srgbClr val="209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lang="en-AU" sz="800">
                    <a:solidFill>
                      <a:schemeClr val="dk1"/>
                    </a:solidFill>
                    <a:latin typeface="Consolas"/>
                    <a:ea typeface="Consolas"/>
                    <a:cs typeface="Consolas"/>
                    <a:sym typeface="Consolas"/>
                  </a:rPr>
                  <a:t>j</a:t>
                </a:r>
                <a:r>
                  <a:rPr lang="en-AU" sz="800">
                    <a:solidFill>
                      <a:schemeClr val="dk1"/>
                    </a:solidFill>
                    <a:latin typeface="Consolas"/>
                    <a:ea typeface="Consolas"/>
                    <a:cs typeface="Consolas"/>
                    <a:sym typeface="Consolas"/>
                  </a:rPr>
                  <a:t>upyter</a:t>
                </a:r>
                <a:r>
                  <a:rPr i="0" lang="en-AU" sz="800" u="none" cap="none" strike="noStrike">
                    <a:solidFill>
                      <a:schemeClr val="dk1"/>
                    </a:solidFill>
                    <a:latin typeface="Consolas"/>
                    <a:ea typeface="Consolas"/>
                    <a:cs typeface="Consolas"/>
                    <a:sym typeface="Consolas"/>
                  </a:rPr>
                  <a:t>-0</a:t>
                </a:r>
                <a:r>
                  <a:rPr lang="en-AU" sz="800">
                    <a:solidFill>
                      <a:schemeClr val="dk1"/>
                    </a:solidFill>
                    <a:latin typeface="Consolas"/>
                    <a:ea typeface="Consolas"/>
                    <a:cs typeface="Consolas"/>
                    <a:sym typeface="Consolas"/>
                  </a:rPr>
                  <a:t>10</a:t>
                </a:r>
                <a:endParaRPr sz="800">
                  <a:solidFill>
                    <a:schemeClr val="dk1"/>
                  </a:solidFill>
                  <a:latin typeface="Consolas"/>
                  <a:ea typeface="Consolas"/>
                  <a:cs typeface="Consolas"/>
                  <a:sym typeface="Consolas"/>
                </a:endParaRPr>
              </a:p>
            </p:txBody>
          </p:sp>
          <p:sp>
            <p:nvSpPr>
              <p:cNvPr id="115" name="Google Shape;115;p19"/>
              <p:cNvSpPr txBox="1"/>
              <p:nvPr/>
            </p:nvSpPr>
            <p:spPr>
              <a:xfrm>
                <a:off x="6042722" y="4902266"/>
                <a:ext cx="348300" cy="46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AU" sz="1800" u="none" cap="none" strike="noStrike">
                    <a:solidFill>
                      <a:schemeClr val="dk2"/>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grpSp>
          <p:nvGrpSpPr>
            <p:cNvPr id="116" name="Google Shape;116;p19"/>
            <p:cNvGrpSpPr/>
            <p:nvPr/>
          </p:nvGrpSpPr>
          <p:grpSpPr>
            <a:xfrm>
              <a:off x="527823" y="4065333"/>
              <a:ext cx="2475100" cy="1301333"/>
              <a:chOff x="527823" y="4065333"/>
              <a:chExt cx="2475100" cy="1301333"/>
            </a:xfrm>
          </p:grpSpPr>
          <p:sp>
            <p:nvSpPr>
              <p:cNvPr id="107" name="Google Shape;107;p19"/>
              <p:cNvSpPr/>
              <p:nvPr/>
            </p:nvSpPr>
            <p:spPr>
              <a:xfrm>
                <a:off x="1061121" y="4065333"/>
                <a:ext cx="1500174" cy="339606"/>
              </a:xfrm>
              <a:prstGeom prst="roundRect">
                <a:avLst>
                  <a:gd fmla="val 16667" name="adj"/>
                </a:avLst>
              </a:prstGeom>
              <a:solidFill>
                <a:srgbClr val="AFE66A"/>
              </a:solidFill>
              <a:ln cap="flat" cmpd="sng" w="25400">
                <a:solidFill>
                  <a:srgbClr val="209499"/>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AU" sz="1600">
                    <a:solidFill>
                      <a:schemeClr val="dk1"/>
                    </a:solidFill>
                    <a:latin typeface="Consolas"/>
                    <a:ea typeface="Consolas"/>
                    <a:cs typeface="Consolas"/>
                    <a:sym typeface="Consolas"/>
                  </a:rPr>
                  <a:t>Main</a:t>
                </a:r>
                <a:endParaRPr i="0" sz="1200" u="none" cap="none" strike="noStrike">
                  <a:solidFill>
                    <a:schemeClr val="dk1"/>
                  </a:solidFill>
                  <a:latin typeface="Consolas"/>
                  <a:ea typeface="Consolas"/>
                  <a:cs typeface="Consolas"/>
                  <a:sym typeface="Consolas"/>
                </a:endParaRPr>
              </a:p>
            </p:txBody>
          </p:sp>
          <p:sp>
            <p:nvSpPr>
              <p:cNvPr id="117" name="Google Shape;117;p19"/>
              <p:cNvSpPr/>
              <p:nvPr/>
            </p:nvSpPr>
            <p:spPr>
              <a:xfrm>
                <a:off x="527823" y="5004925"/>
                <a:ext cx="918600" cy="339600"/>
              </a:xfrm>
              <a:prstGeom prst="roundRect">
                <a:avLst>
                  <a:gd fmla="val 16667" name="adj"/>
                </a:avLst>
              </a:prstGeom>
              <a:solidFill>
                <a:srgbClr val="AFE66A"/>
              </a:solidFill>
              <a:ln cap="flat" cmpd="sng" w="25400">
                <a:solidFill>
                  <a:srgbClr val="209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i="0" lang="en-AU" sz="800" u="none" cap="none" strike="noStrike">
                    <a:solidFill>
                      <a:schemeClr val="dk1"/>
                    </a:solidFill>
                    <a:latin typeface="Consolas"/>
                    <a:ea typeface="Consolas"/>
                    <a:cs typeface="Consolas"/>
                    <a:sym typeface="Consolas"/>
                  </a:rPr>
                  <a:t>compute-00</a:t>
                </a:r>
                <a:r>
                  <a:rPr lang="en-AU" sz="800">
                    <a:solidFill>
                      <a:schemeClr val="dk1"/>
                    </a:solidFill>
                    <a:latin typeface="Consolas"/>
                    <a:ea typeface="Consolas"/>
                    <a:cs typeface="Consolas"/>
                    <a:sym typeface="Consolas"/>
                  </a:rPr>
                  <a:t>2</a:t>
                </a:r>
                <a:endParaRPr i="0" sz="1100" u="none" cap="none" strike="noStrike">
                  <a:solidFill>
                    <a:schemeClr val="dk1"/>
                  </a:solidFill>
                  <a:latin typeface="Consolas"/>
                  <a:ea typeface="Consolas"/>
                  <a:cs typeface="Consolas"/>
                  <a:sym typeface="Consolas"/>
                </a:endParaRPr>
              </a:p>
            </p:txBody>
          </p:sp>
          <p:cxnSp>
            <p:nvCxnSpPr>
              <p:cNvPr id="118" name="Google Shape;118;p19"/>
              <p:cNvCxnSpPr>
                <a:stCxn id="117" idx="0"/>
                <a:endCxn id="107" idx="2"/>
              </p:cNvCxnSpPr>
              <p:nvPr/>
            </p:nvCxnSpPr>
            <p:spPr>
              <a:xfrm flipH="1" rot="10800000">
                <a:off x="987123" y="4404925"/>
                <a:ext cx="824100" cy="600000"/>
              </a:xfrm>
              <a:prstGeom prst="straightConnector1">
                <a:avLst/>
              </a:prstGeom>
              <a:noFill/>
              <a:ln cap="flat" cmpd="sng" w="22225">
                <a:solidFill>
                  <a:schemeClr val="dk2"/>
                </a:solidFill>
                <a:prstDash val="solid"/>
                <a:round/>
                <a:headEnd len="sm" w="sm" type="none"/>
                <a:tailEnd len="sm" w="sm" type="none"/>
              </a:ln>
            </p:spPr>
          </p:cxnSp>
          <p:sp>
            <p:nvSpPr>
              <p:cNvPr id="119" name="Google Shape;119;p19"/>
              <p:cNvSpPr/>
              <p:nvPr/>
            </p:nvSpPr>
            <p:spPr>
              <a:xfrm>
                <a:off x="2084323" y="5004900"/>
                <a:ext cx="918600" cy="339600"/>
              </a:xfrm>
              <a:prstGeom prst="roundRect">
                <a:avLst>
                  <a:gd fmla="val 16667" name="adj"/>
                </a:avLst>
              </a:prstGeom>
              <a:solidFill>
                <a:srgbClr val="AFE66A"/>
              </a:solidFill>
              <a:ln cap="flat" cmpd="sng" w="25400">
                <a:solidFill>
                  <a:srgbClr val="209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i="0" lang="en-AU" sz="800" u="none" cap="none" strike="noStrike">
                    <a:solidFill>
                      <a:schemeClr val="dk1"/>
                    </a:solidFill>
                    <a:latin typeface="Consolas"/>
                    <a:ea typeface="Consolas"/>
                    <a:cs typeface="Consolas"/>
                    <a:sym typeface="Consolas"/>
                  </a:rPr>
                  <a:t>compute-0</a:t>
                </a:r>
                <a:r>
                  <a:rPr lang="en-AU" sz="800">
                    <a:solidFill>
                      <a:schemeClr val="dk1"/>
                    </a:solidFill>
                    <a:latin typeface="Consolas"/>
                    <a:ea typeface="Consolas"/>
                    <a:cs typeface="Consolas"/>
                    <a:sym typeface="Consolas"/>
                  </a:rPr>
                  <a:t>85</a:t>
                </a:r>
                <a:endParaRPr i="0" sz="1100" u="none" cap="none" strike="noStrike">
                  <a:solidFill>
                    <a:schemeClr val="dk1"/>
                  </a:solidFill>
                  <a:latin typeface="Consolas"/>
                  <a:ea typeface="Consolas"/>
                  <a:cs typeface="Consolas"/>
                  <a:sym typeface="Consolas"/>
                </a:endParaRPr>
              </a:p>
            </p:txBody>
          </p:sp>
          <p:cxnSp>
            <p:nvCxnSpPr>
              <p:cNvPr id="120" name="Google Shape;120;p19"/>
              <p:cNvCxnSpPr>
                <a:stCxn id="119" idx="0"/>
                <a:endCxn id="107" idx="2"/>
              </p:cNvCxnSpPr>
              <p:nvPr/>
            </p:nvCxnSpPr>
            <p:spPr>
              <a:xfrm rot="10800000">
                <a:off x="1811323" y="4404900"/>
                <a:ext cx="732300" cy="600000"/>
              </a:xfrm>
              <a:prstGeom prst="straightConnector1">
                <a:avLst/>
              </a:prstGeom>
              <a:noFill/>
              <a:ln cap="flat" cmpd="sng" w="22225">
                <a:solidFill>
                  <a:schemeClr val="dk2"/>
                </a:solidFill>
                <a:prstDash val="solid"/>
                <a:round/>
                <a:headEnd len="sm" w="sm" type="none"/>
                <a:tailEnd len="sm" w="sm" type="none"/>
              </a:ln>
            </p:spPr>
          </p:cxnSp>
          <p:sp>
            <p:nvSpPr>
              <p:cNvPr id="121" name="Google Shape;121;p19"/>
              <p:cNvSpPr txBox="1"/>
              <p:nvPr/>
            </p:nvSpPr>
            <p:spPr>
              <a:xfrm>
                <a:off x="1559185" y="4902266"/>
                <a:ext cx="348300" cy="46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AU" sz="1800" u="none" cap="none" strike="noStrike">
                    <a:solidFill>
                      <a:schemeClr val="dk2"/>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grpSp>
      <p:sp>
        <p:nvSpPr>
          <p:cNvPr id="122" name="Google Shape;122;p19"/>
          <p:cNvSpPr txBox="1"/>
          <p:nvPr>
            <p:ph type="title"/>
          </p:nvPr>
        </p:nvSpPr>
        <p:spPr>
          <a:xfrm>
            <a:off x="493900" y="67657"/>
            <a:ext cx="6697200" cy="43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AU"/>
              <a:t>SLURM</a:t>
            </a:r>
            <a:endParaRPr/>
          </a:p>
          <a:p>
            <a:pPr indent="0" lvl="0" marL="0" rtl="0" algn="l">
              <a:spcBef>
                <a:spcPts val="0"/>
              </a:spcBef>
              <a:spcAft>
                <a:spcPts val="0"/>
              </a:spcAft>
              <a:buNone/>
            </a:pPr>
            <a:r>
              <a:t/>
            </a:r>
            <a:endParaRPr/>
          </a:p>
        </p:txBody>
      </p:sp>
      <p:sp>
        <p:nvSpPr>
          <p:cNvPr id="123" name="Google Shape;123;p19"/>
          <p:cNvSpPr txBox="1"/>
          <p:nvPr>
            <p:ph idx="2" type="subTitle"/>
          </p:nvPr>
        </p:nvSpPr>
        <p:spPr>
          <a:xfrm>
            <a:off x="534325" y="398633"/>
            <a:ext cx="6539400" cy="321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AU">
                <a:solidFill>
                  <a:schemeClr val="hlink"/>
                </a:solidFill>
                <a:uFill>
                  <a:noFill/>
                </a:uFill>
                <a:hlinkClick r:id="rId3"/>
              </a:rPr>
              <a:t>http://docs.ilifu.ac.za/#/getting_started/submit_job_slurm</a:t>
            </a:r>
            <a:endParaRPr/>
          </a:p>
        </p:txBody>
      </p:sp>
      <p:pic>
        <p:nvPicPr>
          <p:cNvPr id="124" name="Google Shape;124;p19"/>
          <p:cNvPicPr preferRelativeResize="0"/>
          <p:nvPr/>
        </p:nvPicPr>
        <p:blipFill>
          <a:blip r:embed="rId4">
            <a:alphaModFix/>
          </a:blip>
          <a:stretch>
            <a:fillRect/>
          </a:stretch>
        </p:blipFill>
        <p:spPr>
          <a:xfrm>
            <a:off x="7787600" y="1030875"/>
            <a:ext cx="1039775" cy="953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8" name="Shape 128"/>
        <p:cNvGrpSpPr/>
        <p:nvPr/>
      </p:nvGrpSpPr>
      <p:grpSpPr>
        <a:xfrm>
          <a:off x="0" y="0"/>
          <a:ext cx="0" cy="0"/>
          <a:chOff x="0" y="0"/>
          <a:chExt cx="0" cy="0"/>
        </a:xfrm>
      </p:grpSpPr>
      <p:sp>
        <p:nvSpPr>
          <p:cNvPr id="129" name="Google Shape;129;p20"/>
          <p:cNvSpPr txBox="1"/>
          <p:nvPr>
            <p:ph idx="1" type="body"/>
          </p:nvPr>
        </p:nvSpPr>
        <p:spPr>
          <a:xfrm>
            <a:off x="361950" y="984825"/>
            <a:ext cx="7145700" cy="1606200"/>
          </a:xfrm>
          <a:prstGeom prst="rect">
            <a:avLst/>
          </a:prstGeom>
          <a:noFill/>
          <a:ln>
            <a:noFill/>
          </a:ln>
        </p:spPr>
        <p:txBody>
          <a:bodyPr anchorCtr="0" anchor="t" bIns="0" lIns="0" spcFirstLastPara="1" rIns="0" wrap="square" tIns="0">
            <a:noAutofit/>
          </a:bodyPr>
          <a:lstStyle/>
          <a:p>
            <a:pPr indent="-342900" lvl="0" marL="342900" rtl="0" algn="l">
              <a:lnSpc>
                <a:spcPct val="90000"/>
              </a:lnSpc>
              <a:spcBef>
                <a:spcPts val="1163"/>
              </a:spcBef>
              <a:spcAft>
                <a:spcPts val="0"/>
              </a:spcAft>
              <a:buClr>
                <a:schemeClr val="dk1"/>
              </a:buClr>
              <a:buSzPts val="2400"/>
              <a:buFont typeface="Arial"/>
              <a:buChar char="•"/>
            </a:pPr>
            <a:r>
              <a:rPr lang="en-AU">
                <a:latin typeface="Nunito"/>
                <a:ea typeface="Nunito"/>
                <a:cs typeface="Nunito"/>
                <a:sym typeface="Nunito"/>
              </a:rPr>
              <a:t>Partitions (other than Jupyter) – see with ‘</a:t>
            </a:r>
            <a:r>
              <a:rPr lang="en-AU">
                <a:latin typeface="Consolas"/>
                <a:ea typeface="Consolas"/>
                <a:cs typeface="Consolas"/>
                <a:sym typeface="Consolas"/>
              </a:rPr>
              <a:t>sinfo</a:t>
            </a:r>
            <a:r>
              <a:rPr lang="en-AU">
                <a:latin typeface="Nunito"/>
                <a:ea typeface="Nunito"/>
                <a:cs typeface="Nunito"/>
                <a:sym typeface="Nunito"/>
              </a:rPr>
              <a:t>’: </a:t>
            </a:r>
            <a:endParaRPr>
              <a:latin typeface="Nunito"/>
              <a:ea typeface="Nunito"/>
              <a:cs typeface="Nunito"/>
              <a:sym typeface="Nunito"/>
            </a:endParaRPr>
          </a:p>
          <a:p>
            <a:pPr indent="-250823" lvl="2" marL="503238" rtl="0" algn="l">
              <a:lnSpc>
                <a:spcPct val="90000"/>
              </a:lnSpc>
              <a:spcBef>
                <a:spcPts val="563"/>
              </a:spcBef>
              <a:spcAft>
                <a:spcPts val="0"/>
              </a:spcAft>
              <a:buSzPts val="2000"/>
              <a:buChar char="–"/>
            </a:pPr>
            <a:r>
              <a:rPr lang="en-AU">
                <a:latin typeface="Consolas"/>
                <a:ea typeface="Consolas"/>
                <a:cs typeface="Consolas"/>
                <a:sym typeface="Consolas"/>
              </a:rPr>
              <a:t>Main + Devel</a:t>
            </a:r>
            <a:r>
              <a:rPr lang="en-AU">
                <a:latin typeface="Nunito"/>
                <a:ea typeface="Nunito"/>
                <a:cs typeface="Nunito"/>
                <a:sym typeface="Nunito"/>
              </a:rPr>
              <a:t>: 85ish nodes, each w/ 32 CPUs, ~240 GB (usable) RAM</a:t>
            </a:r>
            <a:endParaRPr>
              <a:latin typeface="Nunito"/>
              <a:ea typeface="Nunito"/>
              <a:cs typeface="Nunito"/>
              <a:sym typeface="Nunito"/>
            </a:endParaRPr>
          </a:p>
          <a:p>
            <a:pPr indent="-250823" lvl="2" marL="503238" rtl="0" algn="l">
              <a:lnSpc>
                <a:spcPct val="90000"/>
              </a:lnSpc>
              <a:spcBef>
                <a:spcPts val="563"/>
              </a:spcBef>
              <a:spcAft>
                <a:spcPts val="0"/>
              </a:spcAft>
              <a:buSzPts val="2000"/>
              <a:buChar char="–"/>
            </a:pPr>
            <a:r>
              <a:rPr lang="en-AU">
                <a:latin typeface="Consolas"/>
                <a:ea typeface="Consolas"/>
                <a:cs typeface="Consolas"/>
                <a:sym typeface="Consolas"/>
              </a:rPr>
              <a:t>HighMem</a:t>
            </a:r>
            <a:r>
              <a:rPr lang="en-AU">
                <a:latin typeface="Nunito"/>
                <a:ea typeface="Nunito"/>
                <a:cs typeface="Nunito"/>
                <a:sym typeface="Nunito"/>
              </a:rPr>
              <a:t>: 2 nodes, w/ 32 CPUs, 503 GB (usable) RAM + 96 CPU 1.5 TB RAM</a:t>
            </a:r>
            <a:endParaRPr>
              <a:latin typeface="Nunito"/>
              <a:ea typeface="Nunito"/>
              <a:cs typeface="Nunito"/>
              <a:sym typeface="Nunito"/>
            </a:endParaRPr>
          </a:p>
          <a:p>
            <a:pPr indent="-250823" lvl="2" marL="503238" rtl="0" algn="l">
              <a:lnSpc>
                <a:spcPct val="90000"/>
              </a:lnSpc>
              <a:spcBef>
                <a:spcPts val="563"/>
              </a:spcBef>
              <a:spcAft>
                <a:spcPts val="0"/>
              </a:spcAft>
              <a:buSzPts val="2000"/>
              <a:buChar char="–"/>
            </a:pPr>
            <a:r>
              <a:rPr lang="en-AU">
                <a:latin typeface="Consolas"/>
                <a:ea typeface="Consolas"/>
                <a:cs typeface="Consolas"/>
                <a:sym typeface="Consolas"/>
              </a:rPr>
              <a:t>GPU</a:t>
            </a:r>
            <a:r>
              <a:rPr lang="en-AU">
                <a:latin typeface="Nunito"/>
                <a:ea typeface="Nunito"/>
                <a:cs typeface="Nunito"/>
                <a:sym typeface="Nunito"/>
              </a:rPr>
              <a:t>: 7 nodes (P100, V100,..), each w/ 24-48 CPUs, 232-354 GB (usable) RAM</a:t>
            </a:r>
            <a:endParaRPr>
              <a:latin typeface="Nunito"/>
              <a:ea typeface="Nunito"/>
              <a:cs typeface="Nunito"/>
              <a:sym typeface="Nunito"/>
            </a:endParaRPr>
          </a:p>
        </p:txBody>
      </p:sp>
      <p:sp>
        <p:nvSpPr>
          <p:cNvPr id="130" name="Google Shape;130;p20"/>
          <p:cNvSpPr txBox="1"/>
          <p:nvPr/>
        </p:nvSpPr>
        <p:spPr>
          <a:xfrm>
            <a:off x="8125914" y="4362422"/>
            <a:ext cx="348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AU" sz="1800" u="none" cap="none" strike="noStrike">
                <a:solidFill>
                  <a:schemeClr val="dk2"/>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nvGrpSpPr>
          <p:cNvPr id="131" name="Google Shape;131;p20"/>
          <p:cNvGrpSpPr/>
          <p:nvPr/>
        </p:nvGrpSpPr>
        <p:grpSpPr>
          <a:xfrm>
            <a:off x="206898" y="3020852"/>
            <a:ext cx="7298654" cy="1801961"/>
            <a:chOff x="2241768" y="3190008"/>
            <a:chExt cx="9258727" cy="2697546"/>
          </a:xfrm>
        </p:grpSpPr>
        <p:sp>
          <p:nvSpPr>
            <p:cNvPr id="132" name="Google Shape;132;p20"/>
            <p:cNvSpPr/>
            <p:nvPr/>
          </p:nvSpPr>
          <p:spPr>
            <a:xfrm>
              <a:off x="5868915" y="3190008"/>
              <a:ext cx="1759500" cy="477900"/>
            </a:xfrm>
            <a:prstGeom prst="roundRect">
              <a:avLst>
                <a:gd fmla="val 16667" name="adj"/>
              </a:avLst>
            </a:prstGeom>
            <a:solidFill>
              <a:srgbClr val="AFE66A"/>
            </a:solidFill>
            <a:ln cap="flat" cmpd="sng" w="25400">
              <a:solidFill>
                <a:srgbClr val="209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AU" sz="1600" u="none" cap="none" strike="noStrike">
                  <a:solidFill>
                    <a:schemeClr val="dk1"/>
                  </a:solidFill>
                  <a:latin typeface="Consolas"/>
                  <a:ea typeface="Consolas"/>
                  <a:cs typeface="Consolas"/>
                  <a:sym typeface="Consolas"/>
                </a:rPr>
                <a:t>Login node</a:t>
              </a:r>
              <a:endParaRPr i="0" sz="1600" u="none" cap="none" strike="noStrike">
                <a:solidFill>
                  <a:schemeClr val="dk1"/>
                </a:solidFill>
                <a:latin typeface="Consolas"/>
                <a:ea typeface="Consolas"/>
                <a:cs typeface="Consolas"/>
                <a:sym typeface="Consolas"/>
              </a:endParaRPr>
            </a:p>
          </p:txBody>
        </p:sp>
        <p:sp>
          <p:nvSpPr>
            <p:cNvPr id="133" name="Google Shape;133;p20"/>
            <p:cNvSpPr/>
            <p:nvPr/>
          </p:nvSpPr>
          <p:spPr>
            <a:xfrm>
              <a:off x="3293918" y="4109604"/>
              <a:ext cx="1759500" cy="477900"/>
            </a:xfrm>
            <a:prstGeom prst="roundRect">
              <a:avLst>
                <a:gd fmla="val 16667" name="adj"/>
              </a:avLst>
            </a:prstGeom>
            <a:solidFill>
              <a:srgbClr val="AFE66A"/>
            </a:solidFill>
            <a:ln cap="flat" cmpd="sng" w="25400">
              <a:solidFill>
                <a:srgbClr val="209499"/>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AU" sz="1600" u="none" cap="none" strike="noStrike">
                  <a:solidFill>
                    <a:schemeClr val="dk1"/>
                  </a:solidFill>
                  <a:latin typeface="Consolas"/>
                  <a:ea typeface="Consolas"/>
                  <a:cs typeface="Consolas"/>
                  <a:sym typeface="Consolas"/>
                </a:rPr>
                <a:t>Main</a:t>
              </a:r>
              <a:endParaRPr i="0" sz="1200" u="none" cap="none" strike="noStrike">
                <a:solidFill>
                  <a:schemeClr val="dk1"/>
                </a:solidFill>
                <a:latin typeface="Consolas"/>
                <a:ea typeface="Consolas"/>
                <a:cs typeface="Consolas"/>
                <a:sym typeface="Consolas"/>
              </a:endParaRPr>
            </a:p>
          </p:txBody>
        </p:sp>
        <p:sp>
          <p:nvSpPr>
            <p:cNvPr id="134" name="Google Shape;134;p20"/>
            <p:cNvSpPr/>
            <p:nvPr/>
          </p:nvSpPr>
          <p:spPr>
            <a:xfrm>
              <a:off x="5868917" y="4043335"/>
              <a:ext cx="1759500" cy="477900"/>
            </a:xfrm>
            <a:prstGeom prst="roundRect">
              <a:avLst>
                <a:gd fmla="val 16667" name="adj"/>
              </a:avLst>
            </a:prstGeom>
            <a:solidFill>
              <a:srgbClr val="AFE66A"/>
            </a:solidFill>
            <a:ln cap="flat" cmpd="sng" w="25400">
              <a:solidFill>
                <a:srgbClr val="209499"/>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AU" sz="1600" u="none" cap="none" strike="noStrike">
                  <a:solidFill>
                    <a:schemeClr val="dk1"/>
                  </a:solidFill>
                  <a:latin typeface="Consolas"/>
                  <a:ea typeface="Consolas"/>
                  <a:cs typeface="Consolas"/>
                  <a:sym typeface="Consolas"/>
                </a:rPr>
                <a:t>HighMem</a:t>
              </a:r>
              <a:endParaRPr i="0" sz="1600" u="none" cap="none" strike="noStrike">
                <a:solidFill>
                  <a:schemeClr val="dk1"/>
                </a:solidFill>
                <a:latin typeface="Consolas"/>
                <a:ea typeface="Consolas"/>
                <a:cs typeface="Consolas"/>
                <a:sym typeface="Consolas"/>
              </a:endParaRPr>
            </a:p>
          </p:txBody>
        </p:sp>
        <p:sp>
          <p:nvSpPr>
            <p:cNvPr id="135" name="Google Shape;135;p20"/>
            <p:cNvSpPr/>
            <p:nvPr/>
          </p:nvSpPr>
          <p:spPr>
            <a:xfrm>
              <a:off x="2241768" y="5357071"/>
              <a:ext cx="1642200" cy="477900"/>
            </a:xfrm>
            <a:prstGeom prst="roundRect">
              <a:avLst>
                <a:gd fmla="val 16667" name="adj"/>
              </a:avLst>
            </a:prstGeom>
            <a:solidFill>
              <a:srgbClr val="AFE66A"/>
            </a:solidFill>
            <a:ln cap="flat" cmpd="sng" w="25400">
              <a:solidFill>
                <a:srgbClr val="209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i="0" lang="en-AU" sz="800" u="none" cap="none" strike="noStrike">
                  <a:solidFill>
                    <a:srgbClr val="000000"/>
                  </a:solidFill>
                  <a:latin typeface="Consolas"/>
                  <a:ea typeface="Consolas"/>
                  <a:cs typeface="Consolas"/>
                  <a:sym typeface="Consolas"/>
                </a:rPr>
                <a:t>compute-00</a:t>
              </a:r>
              <a:r>
                <a:rPr lang="en-AU" sz="800">
                  <a:latin typeface="Consolas"/>
                  <a:ea typeface="Consolas"/>
                  <a:cs typeface="Consolas"/>
                  <a:sym typeface="Consolas"/>
                </a:rPr>
                <a:t>2</a:t>
              </a:r>
              <a:endParaRPr i="0" sz="800" u="none" cap="none" strike="noStrike">
                <a:solidFill>
                  <a:srgbClr val="000000"/>
                </a:solidFill>
                <a:latin typeface="Consolas"/>
                <a:ea typeface="Consolas"/>
                <a:cs typeface="Consolas"/>
                <a:sym typeface="Consolas"/>
              </a:endParaRPr>
            </a:p>
          </p:txBody>
        </p:sp>
        <p:sp>
          <p:nvSpPr>
            <p:cNvPr id="136" name="Google Shape;136;p20"/>
            <p:cNvSpPr txBox="1"/>
            <p:nvPr/>
          </p:nvSpPr>
          <p:spPr>
            <a:xfrm>
              <a:off x="7283583" y="5198429"/>
              <a:ext cx="408600" cy="55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AU" sz="1800" u="none" cap="none" strike="noStrike">
                  <a:solidFill>
                    <a:schemeClr val="dk2"/>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37" name="Google Shape;137;p20"/>
            <p:cNvSpPr/>
            <p:nvPr/>
          </p:nvSpPr>
          <p:spPr>
            <a:xfrm>
              <a:off x="6296468" y="5357074"/>
              <a:ext cx="865800" cy="477900"/>
            </a:xfrm>
            <a:prstGeom prst="roundRect">
              <a:avLst>
                <a:gd fmla="val 16667" name="adj"/>
              </a:avLst>
            </a:prstGeom>
            <a:solidFill>
              <a:srgbClr val="AFE66A"/>
            </a:solidFill>
            <a:ln cap="flat" cmpd="sng" w="25400">
              <a:solidFill>
                <a:srgbClr val="209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i="0" lang="en-AU" sz="800" u="none" cap="none" strike="noStrike">
                  <a:solidFill>
                    <a:schemeClr val="dk1"/>
                  </a:solidFill>
                  <a:latin typeface="Consolas"/>
                  <a:ea typeface="Consolas"/>
                  <a:cs typeface="Consolas"/>
                  <a:sym typeface="Consolas"/>
                </a:rPr>
                <a:t>highmem-101</a:t>
              </a:r>
              <a:endParaRPr i="0" sz="800" u="none" cap="none" strike="noStrike">
                <a:solidFill>
                  <a:schemeClr val="dk1"/>
                </a:solidFill>
                <a:latin typeface="Consolas"/>
                <a:ea typeface="Consolas"/>
                <a:cs typeface="Consolas"/>
                <a:sym typeface="Consolas"/>
              </a:endParaRPr>
            </a:p>
          </p:txBody>
        </p:sp>
        <p:sp>
          <p:nvSpPr>
            <p:cNvPr id="138" name="Google Shape;138;p20"/>
            <p:cNvSpPr/>
            <p:nvPr/>
          </p:nvSpPr>
          <p:spPr>
            <a:xfrm>
              <a:off x="7880267" y="5409654"/>
              <a:ext cx="865800" cy="477900"/>
            </a:xfrm>
            <a:prstGeom prst="roundRect">
              <a:avLst>
                <a:gd fmla="val 16667" name="adj"/>
              </a:avLst>
            </a:prstGeom>
            <a:solidFill>
              <a:srgbClr val="AFE66A"/>
            </a:solidFill>
            <a:ln cap="flat" cmpd="sng" w="25400">
              <a:solidFill>
                <a:srgbClr val="209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i="0" lang="en-AU" sz="800" u="none" cap="none" strike="noStrike">
                  <a:solidFill>
                    <a:schemeClr val="dk1"/>
                  </a:solidFill>
                  <a:latin typeface="Consolas"/>
                  <a:ea typeface="Consolas"/>
                  <a:cs typeface="Consolas"/>
                  <a:sym typeface="Consolas"/>
                </a:rPr>
                <a:t>highmem-102</a:t>
              </a:r>
              <a:endParaRPr i="0" sz="800" u="none" cap="none" strike="noStrike">
                <a:solidFill>
                  <a:schemeClr val="dk1"/>
                </a:solidFill>
                <a:latin typeface="Consolas"/>
                <a:ea typeface="Consolas"/>
                <a:cs typeface="Consolas"/>
                <a:sym typeface="Consolas"/>
              </a:endParaRPr>
            </a:p>
          </p:txBody>
        </p:sp>
        <p:cxnSp>
          <p:nvCxnSpPr>
            <p:cNvPr id="139" name="Google Shape;139;p20"/>
            <p:cNvCxnSpPr>
              <a:stCxn id="133" idx="0"/>
              <a:endCxn id="132" idx="2"/>
            </p:cNvCxnSpPr>
            <p:nvPr/>
          </p:nvCxnSpPr>
          <p:spPr>
            <a:xfrm flipH="1" rot="10800000">
              <a:off x="4173668" y="3668004"/>
              <a:ext cx="2574900" cy="441600"/>
            </a:xfrm>
            <a:prstGeom prst="straightConnector1">
              <a:avLst/>
            </a:prstGeom>
            <a:noFill/>
            <a:ln cap="flat" cmpd="sng" w="22225">
              <a:solidFill>
                <a:schemeClr val="dk2"/>
              </a:solidFill>
              <a:prstDash val="solid"/>
              <a:round/>
              <a:headEnd len="sm" w="sm" type="none"/>
              <a:tailEnd len="sm" w="sm" type="none"/>
            </a:ln>
          </p:spPr>
        </p:cxnSp>
        <p:cxnSp>
          <p:nvCxnSpPr>
            <p:cNvPr id="140" name="Google Shape;140;p20"/>
            <p:cNvCxnSpPr>
              <a:stCxn id="135" idx="0"/>
              <a:endCxn id="133" idx="2"/>
            </p:cNvCxnSpPr>
            <p:nvPr/>
          </p:nvCxnSpPr>
          <p:spPr>
            <a:xfrm flipH="1" rot="10800000">
              <a:off x="3062868" y="4587571"/>
              <a:ext cx="1110900" cy="769500"/>
            </a:xfrm>
            <a:prstGeom prst="straightConnector1">
              <a:avLst/>
            </a:prstGeom>
            <a:noFill/>
            <a:ln cap="flat" cmpd="sng" w="22225">
              <a:solidFill>
                <a:schemeClr val="dk2"/>
              </a:solidFill>
              <a:prstDash val="solid"/>
              <a:round/>
              <a:headEnd len="sm" w="sm" type="none"/>
              <a:tailEnd len="sm" w="sm" type="none"/>
            </a:ln>
          </p:spPr>
        </p:cxnSp>
        <p:cxnSp>
          <p:nvCxnSpPr>
            <p:cNvPr id="141" name="Google Shape;141;p20"/>
            <p:cNvCxnSpPr>
              <a:stCxn id="134" idx="0"/>
              <a:endCxn id="132" idx="2"/>
            </p:cNvCxnSpPr>
            <p:nvPr/>
          </p:nvCxnSpPr>
          <p:spPr>
            <a:xfrm rot="10800000">
              <a:off x="6748667" y="3668035"/>
              <a:ext cx="0" cy="375300"/>
            </a:xfrm>
            <a:prstGeom prst="straightConnector1">
              <a:avLst/>
            </a:prstGeom>
            <a:noFill/>
            <a:ln cap="flat" cmpd="sng" w="22225">
              <a:solidFill>
                <a:schemeClr val="dk2"/>
              </a:solidFill>
              <a:prstDash val="solid"/>
              <a:round/>
              <a:headEnd len="sm" w="sm" type="none"/>
              <a:tailEnd len="sm" w="sm" type="none"/>
            </a:ln>
          </p:spPr>
        </p:cxnSp>
        <p:cxnSp>
          <p:nvCxnSpPr>
            <p:cNvPr id="142" name="Google Shape;142;p20"/>
            <p:cNvCxnSpPr>
              <a:stCxn id="137" idx="0"/>
              <a:endCxn id="134" idx="2"/>
            </p:cNvCxnSpPr>
            <p:nvPr/>
          </p:nvCxnSpPr>
          <p:spPr>
            <a:xfrm flipH="1" rot="10800000">
              <a:off x="6729368" y="4521274"/>
              <a:ext cx="19200" cy="835800"/>
            </a:xfrm>
            <a:prstGeom prst="straightConnector1">
              <a:avLst/>
            </a:prstGeom>
            <a:noFill/>
            <a:ln cap="flat" cmpd="sng" w="22225">
              <a:solidFill>
                <a:schemeClr val="dk2"/>
              </a:solidFill>
              <a:prstDash val="solid"/>
              <a:round/>
              <a:headEnd len="sm" w="sm" type="none"/>
              <a:tailEnd len="sm" w="sm" type="none"/>
            </a:ln>
          </p:spPr>
        </p:cxnSp>
        <p:cxnSp>
          <p:nvCxnSpPr>
            <p:cNvPr id="143" name="Google Shape;143;p20"/>
            <p:cNvCxnSpPr>
              <a:stCxn id="138" idx="0"/>
              <a:endCxn id="134" idx="2"/>
            </p:cNvCxnSpPr>
            <p:nvPr/>
          </p:nvCxnSpPr>
          <p:spPr>
            <a:xfrm rot="10800000">
              <a:off x="6748667" y="4521354"/>
              <a:ext cx="1564500" cy="888300"/>
            </a:xfrm>
            <a:prstGeom prst="straightConnector1">
              <a:avLst/>
            </a:prstGeom>
            <a:noFill/>
            <a:ln cap="flat" cmpd="sng" w="22225">
              <a:solidFill>
                <a:schemeClr val="dk2"/>
              </a:solidFill>
              <a:prstDash val="solid"/>
              <a:round/>
              <a:headEnd len="sm" w="sm" type="none"/>
              <a:tailEnd len="sm" w="sm" type="none"/>
            </a:ln>
          </p:spPr>
        </p:cxnSp>
        <p:sp>
          <p:nvSpPr>
            <p:cNvPr id="144" name="Google Shape;144;p20"/>
            <p:cNvSpPr/>
            <p:nvPr/>
          </p:nvSpPr>
          <p:spPr>
            <a:xfrm>
              <a:off x="9150857" y="3991336"/>
              <a:ext cx="1759500" cy="477900"/>
            </a:xfrm>
            <a:prstGeom prst="roundRect">
              <a:avLst>
                <a:gd fmla="val 16667" name="adj"/>
              </a:avLst>
            </a:prstGeom>
            <a:solidFill>
              <a:srgbClr val="AFE66A"/>
            </a:solidFill>
            <a:ln cap="flat" cmpd="sng" w="25400">
              <a:solidFill>
                <a:srgbClr val="209499"/>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AU" sz="1600" u="none" cap="none" strike="noStrike">
                  <a:solidFill>
                    <a:schemeClr val="dk1"/>
                  </a:solidFill>
                  <a:latin typeface="Consolas"/>
                  <a:ea typeface="Consolas"/>
                  <a:cs typeface="Consolas"/>
                  <a:sym typeface="Consolas"/>
                </a:rPr>
                <a:t>GPU</a:t>
              </a:r>
              <a:endParaRPr i="0" sz="1200" u="none" cap="none" strike="noStrike">
                <a:solidFill>
                  <a:schemeClr val="dk1"/>
                </a:solidFill>
                <a:latin typeface="Consolas"/>
                <a:ea typeface="Consolas"/>
                <a:cs typeface="Consolas"/>
                <a:sym typeface="Consolas"/>
              </a:endParaRPr>
            </a:p>
          </p:txBody>
        </p:sp>
        <p:cxnSp>
          <p:nvCxnSpPr>
            <p:cNvPr id="145" name="Google Shape;145;p20"/>
            <p:cNvCxnSpPr>
              <a:stCxn id="144" idx="0"/>
              <a:endCxn id="132" idx="2"/>
            </p:cNvCxnSpPr>
            <p:nvPr/>
          </p:nvCxnSpPr>
          <p:spPr>
            <a:xfrm rot="10800000">
              <a:off x="6748607" y="3667936"/>
              <a:ext cx="3282000" cy="323400"/>
            </a:xfrm>
            <a:prstGeom prst="straightConnector1">
              <a:avLst/>
            </a:prstGeom>
            <a:noFill/>
            <a:ln cap="flat" cmpd="sng" w="22225">
              <a:solidFill>
                <a:schemeClr val="dk2"/>
              </a:solidFill>
              <a:prstDash val="solid"/>
              <a:round/>
              <a:headEnd len="sm" w="sm" type="none"/>
              <a:tailEnd len="sm" w="sm" type="none"/>
            </a:ln>
          </p:spPr>
        </p:cxnSp>
        <p:sp>
          <p:nvSpPr>
            <p:cNvPr id="146" name="Google Shape;146;p20"/>
            <p:cNvSpPr/>
            <p:nvPr/>
          </p:nvSpPr>
          <p:spPr>
            <a:xfrm>
              <a:off x="9117695" y="5399273"/>
              <a:ext cx="865800" cy="477900"/>
            </a:xfrm>
            <a:prstGeom prst="roundRect">
              <a:avLst>
                <a:gd fmla="val 16667" name="adj"/>
              </a:avLst>
            </a:prstGeom>
            <a:solidFill>
              <a:srgbClr val="AFE66A"/>
            </a:solidFill>
            <a:ln cap="flat" cmpd="sng" w="25400">
              <a:solidFill>
                <a:srgbClr val="209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i="0" lang="en-AU" sz="800" u="none" cap="none" strike="noStrike">
                  <a:solidFill>
                    <a:schemeClr val="dk1"/>
                  </a:solidFill>
                  <a:latin typeface="Consolas"/>
                  <a:ea typeface="Consolas"/>
                  <a:cs typeface="Consolas"/>
                  <a:sym typeface="Consolas"/>
                </a:rPr>
                <a:t>gpu-001</a:t>
              </a:r>
              <a:endParaRPr i="0" sz="800" u="none" cap="none" strike="noStrike">
                <a:solidFill>
                  <a:schemeClr val="dk1"/>
                </a:solidFill>
                <a:latin typeface="Consolas"/>
                <a:ea typeface="Consolas"/>
                <a:cs typeface="Consolas"/>
                <a:sym typeface="Consolas"/>
              </a:endParaRPr>
            </a:p>
          </p:txBody>
        </p:sp>
        <p:sp>
          <p:nvSpPr>
            <p:cNvPr id="147" name="Google Shape;147;p20"/>
            <p:cNvSpPr/>
            <p:nvPr/>
          </p:nvSpPr>
          <p:spPr>
            <a:xfrm>
              <a:off x="10634694" y="5399273"/>
              <a:ext cx="865800" cy="477900"/>
            </a:xfrm>
            <a:prstGeom prst="roundRect">
              <a:avLst>
                <a:gd fmla="val 16667" name="adj"/>
              </a:avLst>
            </a:prstGeom>
            <a:solidFill>
              <a:srgbClr val="AFE66A"/>
            </a:solidFill>
            <a:ln cap="flat" cmpd="sng" w="25400">
              <a:solidFill>
                <a:srgbClr val="209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i="0" lang="en-AU" sz="800" u="none" cap="none" strike="noStrike">
                  <a:solidFill>
                    <a:schemeClr val="dk1"/>
                  </a:solidFill>
                  <a:latin typeface="Consolas"/>
                  <a:ea typeface="Consolas"/>
                  <a:cs typeface="Consolas"/>
                  <a:sym typeface="Consolas"/>
                </a:rPr>
                <a:t>gpu-00</a:t>
              </a:r>
              <a:r>
                <a:rPr lang="en-AU" sz="800">
                  <a:solidFill>
                    <a:schemeClr val="dk1"/>
                  </a:solidFill>
                  <a:latin typeface="Consolas"/>
                  <a:ea typeface="Consolas"/>
                  <a:cs typeface="Consolas"/>
                  <a:sym typeface="Consolas"/>
                </a:rPr>
                <a:t>7</a:t>
              </a:r>
              <a:endParaRPr i="0" sz="800" u="none" cap="none" strike="noStrike">
                <a:solidFill>
                  <a:schemeClr val="dk1"/>
                </a:solidFill>
                <a:latin typeface="Consolas"/>
                <a:ea typeface="Consolas"/>
                <a:cs typeface="Consolas"/>
                <a:sym typeface="Consolas"/>
              </a:endParaRPr>
            </a:p>
          </p:txBody>
        </p:sp>
        <p:cxnSp>
          <p:nvCxnSpPr>
            <p:cNvPr id="148" name="Google Shape;148;p20"/>
            <p:cNvCxnSpPr>
              <a:stCxn id="146" idx="0"/>
              <a:endCxn id="144" idx="2"/>
            </p:cNvCxnSpPr>
            <p:nvPr/>
          </p:nvCxnSpPr>
          <p:spPr>
            <a:xfrm flipH="1" rot="10800000">
              <a:off x="9550595" y="4469273"/>
              <a:ext cx="480000" cy="930000"/>
            </a:xfrm>
            <a:prstGeom prst="straightConnector1">
              <a:avLst/>
            </a:prstGeom>
            <a:noFill/>
            <a:ln cap="flat" cmpd="sng" w="22225">
              <a:solidFill>
                <a:schemeClr val="dk2"/>
              </a:solidFill>
              <a:prstDash val="solid"/>
              <a:round/>
              <a:headEnd len="sm" w="sm" type="none"/>
              <a:tailEnd len="sm" w="sm" type="none"/>
            </a:ln>
          </p:spPr>
        </p:cxnSp>
        <p:cxnSp>
          <p:nvCxnSpPr>
            <p:cNvPr id="149" name="Google Shape;149;p20"/>
            <p:cNvCxnSpPr>
              <a:stCxn id="147" idx="0"/>
              <a:endCxn id="144" idx="2"/>
            </p:cNvCxnSpPr>
            <p:nvPr/>
          </p:nvCxnSpPr>
          <p:spPr>
            <a:xfrm rot="10800000">
              <a:off x="10030494" y="4469273"/>
              <a:ext cx="1037100" cy="930000"/>
            </a:xfrm>
            <a:prstGeom prst="straightConnector1">
              <a:avLst/>
            </a:prstGeom>
            <a:noFill/>
            <a:ln cap="flat" cmpd="sng" w="22225">
              <a:solidFill>
                <a:schemeClr val="dk2"/>
              </a:solidFill>
              <a:prstDash val="solid"/>
              <a:round/>
              <a:headEnd len="sm" w="sm" type="none"/>
              <a:tailEnd len="sm" w="sm" type="none"/>
            </a:ln>
          </p:spPr>
        </p:cxnSp>
        <p:sp>
          <p:nvSpPr>
            <p:cNvPr id="150" name="Google Shape;150;p20"/>
            <p:cNvSpPr/>
            <p:nvPr/>
          </p:nvSpPr>
          <p:spPr>
            <a:xfrm>
              <a:off x="4438736" y="5357071"/>
              <a:ext cx="1555800" cy="477900"/>
            </a:xfrm>
            <a:prstGeom prst="roundRect">
              <a:avLst>
                <a:gd fmla="val 16667" name="adj"/>
              </a:avLst>
            </a:prstGeom>
            <a:solidFill>
              <a:srgbClr val="AFE66A"/>
            </a:solidFill>
            <a:ln cap="flat" cmpd="sng" w="25400">
              <a:solidFill>
                <a:srgbClr val="209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i="0" lang="en-AU" sz="800" u="none" cap="none" strike="noStrike">
                  <a:solidFill>
                    <a:srgbClr val="000000"/>
                  </a:solidFill>
                  <a:latin typeface="Consolas"/>
                  <a:ea typeface="Consolas"/>
                  <a:cs typeface="Consolas"/>
                  <a:sym typeface="Consolas"/>
                </a:rPr>
                <a:t>compute-0</a:t>
              </a:r>
              <a:r>
                <a:rPr lang="en-AU" sz="800">
                  <a:latin typeface="Consolas"/>
                  <a:ea typeface="Consolas"/>
                  <a:cs typeface="Consolas"/>
                  <a:sym typeface="Consolas"/>
                </a:rPr>
                <a:t>85</a:t>
              </a:r>
              <a:endParaRPr i="0" sz="800" u="none" cap="none" strike="noStrike">
                <a:solidFill>
                  <a:srgbClr val="000000"/>
                </a:solidFill>
                <a:latin typeface="Consolas"/>
                <a:ea typeface="Consolas"/>
                <a:cs typeface="Consolas"/>
                <a:sym typeface="Consolas"/>
              </a:endParaRPr>
            </a:p>
          </p:txBody>
        </p:sp>
      </p:grpSp>
      <p:cxnSp>
        <p:nvCxnSpPr>
          <p:cNvPr id="151" name="Google Shape;151;p20"/>
          <p:cNvCxnSpPr>
            <a:stCxn id="150" idx="0"/>
            <a:endCxn id="133" idx="2"/>
          </p:cNvCxnSpPr>
          <p:nvPr/>
        </p:nvCxnSpPr>
        <p:spPr>
          <a:xfrm rot="10800000">
            <a:off x="1729687" y="3954250"/>
            <a:ext cx="822300" cy="514200"/>
          </a:xfrm>
          <a:prstGeom prst="straightConnector1">
            <a:avLst/>
          </a:prstGeom>
          <a:noFill/>
          <a:ln cap="flat" cmpd="sng" w="22225">
            <a:solidFill>
              <a:schemeClr val="dk2"/>
            </a:solidFill>
            <a:prstDash val="solid"/>
            <a:round/>
            <a:headEnd len="sm" w="sm" type="none"/>
            <a:tailEnd len="sm" w="sm" type="none"/>
          </a:ln>
        </p:spPr>
      </p:cxnSp>
      <p:sp>
        <p:nvSpPr>
          <p:cNvPr id="152" name="Google Shape;152;p20"/>
          <p:cNvSpPr txBox="1"/>
          <p:nvPr/>
        </p:nvSpPr>
        <p:spPr>
          <a:xfrm>
            <a:off x="6405786" y="4376739"/>
            <a:ext cx="322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AU" sz="1800" u="none" cap="none" strike="noStrike">
                <a:solidFill>
                  <a:schemeClr val="dk2"/>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53" name="Google Shape;153;p20"/>
          <p:cNvSpPr txBox="1"/>
          <p:nvPr/>
        </p:nvSpPr>
        <p:spPr>
          <a:xfrm>
            <a:off x="1539561" y="4362407"/>
            <a:ext cx="322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AU" sz="1800" u="none" cap="none" strike="noStrike">
                <a:solidFill>
                  <a:schemeClr val="dk2"/>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54" name="Google Shape;154;p20"/>
          <p:cNvSpPr txBox="1"/>
          <p:nvPr>
            <p:ph type="title"/>
          </p:nvPr>
        </p:nvSpPr>
        <p:spPr>
          <a:xfrm>
            <a:off x="493900" y="67657"/>
            <a:ext cx="6697200" cy="43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AU"/>
              <a:t>SLURM</a:t>
            </a:r>
            <a:endParaRPr/>
          </a:p>
          <a:p>
            <a:pPr indent="0" lvl="0" marL="0" rtl="0" algn="l">
              <a:spcBef>
                <a:spcPts val="0"/>
              </a:spcBef>
              <a:spcAft>
                <a:spcPts val="0"/>
              </a:spcAft>
              <a:buNone/>
            </a:pPr>
            <a:r>
              <a:t/>
            </a:r>
            <a:endParaRPr/>
          </a:p>
        </p:txBody>
      </p:sp>
      <p:sp>
        <p:nvSpPr>
          <p:cNvPr id="155" name="Google Shape;155;p20"/>
          <p:cNvSpPr txBox="1"/>
          <p:nvPr>
            <p:ph idx="2" type="subTitle"/>
          </p:nvPr>
        </p:nvSpPr>
        <p:spPr>
          <a:xfrm>
            <a:off x="534325" y="398633"/>
            <a:ext cx="6539400" cy="321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AU">
                <a:solidFill>
                  <a:schemeClr val="hlink"/>
                </a:solidFill>
                <a:uFill>
                  <a:noFill/>
                </a:uFill>
                <a:hlinkClick r:id="rId3"/>
              </a:rPr>
              <a:t>http://docs.ilifu.ac.za/#/tech_docs/running_jobs?id=_4-specifying-resources-when-running-jobs-on-slurm</a:t>
            </a:r>
            <a:endParaRPr/>
          </a:p>
        </p:txBody>
      </p:sp>
      <p:pic>
        <p:nvPicPr>
          <p:cNvPr id="156" name="Google Shape;156;p20"/>
          <p:cNvPicPr preferRelativeResize="0"/>
          <p:nvPr/>
        </p:nvPicPr>
        <p:blipFill>
          <a:blip r:embed="rId4">
            <a:alphaModFix/>
          </a:blip>
          <a:stretch>
            <a:fillRect/>
          </a:stretch>
        </p:blipFill>
        <p:spPr>
          <a:xfrm>
            <a:off x="7787600" y="1030875"/>
            <a:ext cx="1039775" cy="953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1"/>
          <p:cNvSpPr txBox="1"/>
          <p:nvPr>
            <p:ph idx="1" type="body"/>
          </p:nvPr>
        </p:nvSpPr>
        <p:spPr>
          <a:xfrm>
            <a:off x="360000" y="1032276"/>
            <a:ext cx="7093800" cy="2667900"/>
          </a:xfrm>
          <a:prstGeom prst="rect">
            <a:avLst/>
          </a:prstGeom>
          <a:noFill/>
          <a:ln>
            <a:noFill/>
          </a:ln>
        </p:spPr>
        <p:txBody>
          <a:bodyPr anchorCtr="0" anchor="t" bIns="0" lIns="0" spcFirstLastPara="1" rIns="0" wrap="square" tIns="0">
            <a:noAutofit/>
          </a:bodyPr>
          <a:lstStyle/>
          <a:p>
            <a:pPr indent="-342900" lvl="0" marL="342900" rtl="0" algn="l">
              <a:lnSpc>
                <a:spcPct val="90000"/>
              </a:lnSpc>
              <a:spcBef>
                <a:spcPts val="0"/>
              </a:spcBef>
              <a:spcAft>
                <a:spcPts val="0"/>
              </a:spcAft>
              <a:buClr>
                <a:schemeClr val="dk1"/>
              </a:buClr>
              <a:buSzPts val="2400"/>
              <a:buFont typeface="Nunito"/>
              <a:buChar char="•"/>
            </a:pPr>
            <a:r>
              <a:rPr lang="en-AU">
                <a:latin typeface="Nunito"/>
                <a:ea typeface="Nunito"/>
                <a:cs typeface="Nunito"/>
                <a:sym typeface="Nunito"/>
              </a:rPr>
              <a:t>Oxford definition for parallel processing</a:t>
            </a:r>
            <a:endParaRPr>
              <a:latin typeface="Nunito"/>
              <a:ea typeface="Nunito"/>
              <a:cs typeface="Nunito"/>
              <a:sym typeface="Nunito"/>
            </a:endParaRPr>
          </a:p>
          <a:p>
            <a:pPr indent="-250823" lvl="2" marL="503238" rtl="0" algn="l">
              <a:lnSpc>
                <a:spcPct val="90000"/>
              </a:lnSpc>
              <a:spcBef>
                <a:spcPts val="563"/>
              </a:spcBef>
              <a:spcAft>
                <a:spcPts val="0"/>
              </a:spcAft>
              <a:buSzPts val="2000"/>
              <a:buFont typeface="Nunito"/>
              <a:buChar char="–"/>
            </a:pPr>
            <a:r>
              <a:rPr i="1" lang="en-AU">
                <a:latin typeface="Nunito"/>
                <a:ea typeface="Nunito"/>
                <a:cs typeface="Nunito"/>
                <a:sym typeface="Nunito"/>
              </a:rPr>
              <a:t>a mode of operation in which a process is split into parts, which are executed simultaneously on different processors attached to the same computer [or different computers attached to the same cluster].</a:t>
            </a:r>
            <a:endParaRPr>
              <a:latin typeface="Nunito"/>
              <a:ea typeface="Nunito"/>
              <a:cs typeface="Nunito"/>
              <a:sym typeface="Nunito"/>
            </a:endParaRPr>
          </a:p>
          <a:p>
            <a:pPr indent="-250823" lvl="2" marL="503238" rtl="0" algn="l">
              <a:lnSpc>
                <a:spcPct val="90000"/>
              </a:lnSpc>
              <a:spcBef>
                <a:spcPts val="563"/>
              </a:spcBef>
              <a:spcAft>
                <a:spcPts val="0"/>
              </a:spcAft>
              <a:buSzPts val="2000"/>
              <a:buFont typeface="Nunito"/>
              <a:buChar char="–"/>
            </a:pPr>
            <a:r>
              <a:rPr lang="en-AU">
                <a:latin typeface="Nunito"/>
                <a:ea typeface="Nunito"/>
                <a:cs typeface="Nunito"/>
                <a:sym typeface="Nunito"/>
              </a:rPr>
              <a:t>A cluster includes many connected nodes, each with its own RAM &amp; CPUs</a:t>
            </a:r>
            <a:endParaRPr>
              <a:latin typeface="Nunito"/>
              <a:ea typeface="Nunito"/>
              <a:cs typeface="Nunito"/>
              <a:sym typeface="Nunito"/>
            </a:endParaRPr>
          </a:p>
          <a:p>
            <a:pPr indent="-250823" lvl="2" marL="503238" rtl="0" algn="l">
              <a:lnSpc>
                <a:spcPct val="90000"/>
              </a:lnSpc>
              <a:spcBef>
                <a:spcPts val="563"/>
              </a:spcBef>
              <a:spcAft>
                <a:spcPts val="0"/>
              </a:spcAft>
              <a:buSzPts val="2000"/>
              <a:buFont typeface="Nunito"/>
              <a:buChar char="–"/>
            </a:pPr>
            <a:r>
              <a:rPr lang="en-AU">
                <a:latin typeface="Nunito"/>
                <a:ea typeface="Nunito"/>
                <a:cs typeface="Nunito"/>
                <a:sym typeface="Nunito"/>
              </a:rPr>
              <a:t>A node = single computer / server / VM / machine / box</a:t>
            </a:r>
            <a:endParaRPr>
              <a:latin typeface="Nunito"/>
              <a:ea typeface="Nunito"/>
              <a:cs typeface="Nunito"/>
              <a:sym typeface="Nunito"/>
            </a:endParaRPr>
          </a:p>
          <a:p>
            <a:pPr indent="-342900" lvl="0" marL="342900" rtl="0" algn="l">
              <a:lnSpc>
                <a:spcPct val="90000"/>
              </a:lnSpc>
              <a:spcBef>
                <a:spcPts val="1163"/>
              </a:spcBef>
              <a:spcAft>
                <a:spcPts val="0"/>
              </a:spcAft>
              <a:buClr>
                <a:schemeClr val="dk1"/>
              </a:buClr>
              <a:buSzPts val="2400"/>
              <a:buFont typeface="Nunito"/>
              <a:buChar char="•"/>
            </a:pPr>
            <a:r>
              <a:rPr lang="en-AU">
                <a:latin typeface="Nunito"/>
                <a:ea typeface="Nunito"/>
                <a:cs typeface="Nunito"/>
                <a:sym typeface="Nunito"/>
              </a:rPr>
              <a:t>The work is partitioned into smaller jobs, sometimes with a partition of the dataset</a:t>
            </a:r>
            <a:endParaRPr>
              <a:latin typeface="Nunito"/>
              <a:ea typeface="Nunito"/>
              <a:cs typeface="Nunito"/>
              <a:sym typeface="Nunito"/>
            </a:endParaRPr>
          </a:p>
        </p:txBody>
      </p:sp>
      <p:grpSp>
        <p:nvGrpSpPr>
          <p:cNvPr id="163" name="Google Shape;163;p21"/>
          <p:cNvGrpSpPr/>
          <p:nvPr/>
        </p:nvGrpSpPr>
        <p:grpSpPr>
          <a:xfrm>
            <a:off x="579971" y="3573910"/>
            <a:ext cx="6565350" cy="1484580"/>
            <a:chOff x="151844" y="3039870"/>
            <a:chExt cx="8332720" cy="1996746"/>
          </a:xfrm>
        </p:grpSpPr>
        <p:pic>
          <p:nvPicPr>
            <p:cNvPr id="164" name="Google Shape;164;p21"/>
            <p:cNvPicPr preferRelativeResize="0"/>
            <p:nvPr/>
          </p:nvPicPr>
          <p:blipFill rotWithShape="1">
            <a:blip r:embed="rId3">
              <a:alphaModFix/>
            </a:blip>
            <a:srcRect b="0" l="0" r="0" t="0"/>
            <a:stretch/>
          </p:blipFill>
          <p:spPr>
            <a:xfrm>
              <a:off x="3144339" y="3039870"/>
              <a:ext cx="1996746" cy="1996746"/>
            </a:xfrm>
            <a:prstGeom prst="rect">
              <a:avLst/>
            </a:prstGeom>
            <a:noFill/>
            <a:ln>
              <a:noFill/>
            </a:ln>
          </p:spPr>
        </p:pic>
        <p:sp>
          <p:nvSpPr>
            <p:cNvPr id="165" name="Google Shape;165;p21"/>
            <p:cNvSpPr/>
            <p:nvPr/>
          </p:nvSpPr>
          <p:spPr>
            <a:xfrm>
              <a:off x="6351264" y="3186948"/>
              <a:ext cx="2133300" cy="18081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66" name="Google Shape;166;p21"/>
            <p:cNvCxnSpPr/>
            <p:nvPr/>
          </p:nvCxnSpPr>
          <p:spPr>
            <a:xfrm>
              <a:off x="2653936" y="4140436"/>
              <a:ext cx="818700" cy="0"/>
            </a:xfrm>
            <a:prstGeom prst="straightConnector1">
              <a:avLst/>
            </a:prstGeom>
            <a:noFill/>
            <a:ln cap="flat" cmpd="sng" w="76200">
              <a:solidFill>
                <a:schemeClr val="accent3"/>
              </a:solidFill>
              <a:prstDash val="solid"/>
              <a:round/>
              <a:headEnd len="sm" w="sm" type="none"/>
              <a:tailEnd len="med" w="med" type="triangle"/>
            </a:ln>
          </p:spPr>
        </p:cxnSp>
        <p:cxnSp>
          <p:nvCxnSpPr>
            <p:cNvPr id="167" name="Google Shape;167;p21"/>
            <p:cNvCxnSpPr/>
            <p:nvPr/>
          </p:nvCxnSpPr>
          <p:spPr>
            <a:xfrm>
              <a:off x="5257800" y="4138629"/>
              <a:ext cx="835500" cy="0"/>
            </a:xfrm>
            <a:prstGeom prst="straightConnector1">
              <a:avLst/>
            </a:prstGeom>
            <a:noFill/>
            <a:ln cap="flat" cmpd="sng" w="76200">
              <a:solidFill>
                <a:schemeClr val="accent3"/>
              </a:solidFill>
              <a:prstDash val="solid"/>
              <a:round/>
              <a:headEnd len="sm" w="sm" type="none"/>
              <a:tailEnd len="med" w="med" type="triangle"/>
            </a:ln>
          </p:spPr>
        </p:cxnSp>
        <p:pic>
          <p:nvPicPr>
            <p:cNvPr id="168" name="Google Shape;168;p21"/>
            <p:cNvPicPr preferRelativeResize="0"/>
            <p:nvPr/>
          </p:nvPicPr>
          <p:blipFill rotWithShape="1">
            <a:blip r:embed="rId5">
              <a:alphaModFix/>
            </a:blip>
            <a:srcRect b="0" l="0" r="0" t="0"/>
            <a:stretch/>
          </p:blipFill>
          <p:spPr>
            <a:xfrm>
              <a:off x="151844" y="3430613"/>
              <a:ext cx="2394466" cy="1606002"/>
            </a:xfrm>
            <a:prstGeom prst="rect">
              <a:avLst/>
            </a:prstGeom>
            <a:noFill/>
            <a:ln>
              <a:noFill/>
            </a:ln>
          </p:spPr>
        </p:pic>
      </p:grpSp>
      <p:sp>
        <p:nvSpPr>
          <p:cNvPr id="169" name="Google Shape;169;p21"/>
          <p:cNvSpPr txBox="1"/>
          <p:nvPr>
            <p:ph type="title"/>
          </p:nvPr>
        </p:nvSpPr>
        <p:spPr>
          <a:xfrm>
            <a:off x="493900" y="67657"/>
            <a:ext cx="6697200" cy="43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AU"/>
              <a:t>Parallelism</a:t>
            </a:r>
            <a:endParaRPr/>
          </a:p>
          <a:p>
            <a:pPr indent="0" lvl="0" marL="0" rtl="0" algn="l">
              <a:spcBef>
                <a:spcPts val="0"/>
              </a:spcBef>
              <a:spcAft>
                <a:spcPts val="0"/>
              </a:spcAft>
              <a:buNone/>
            </a:pPr>
            <a:r>
              <a:t/>
            </a:r>
            <a:endParaRPr/>
          </a:p>
        </p:txBody>
      </p:sp>
      <p:sp>
        <p:nvSpPr>
          <p:cNvPr id="170" name="Google Shape;170;p21"/>
          <p:cNvSpPr txBox="1"/>
          <p:nvPr>
            <p:ph idx="2" type="subTitle"/>
          </p:nvPr>
        </p:nvSpPr>
        <p:spPr>
          <a:xfrm>
            <a:off x="534325" y="398633"/>
            <a:ext cx="6539400" cy="321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AU">
                <a:solidFill>
                  <a:schemeClr val="hlink"/>
                </a:solidFill>
                <a:uFill>
                  <a:noFill/>
                </a:uFill>
                <a:hlinkClick r:id="rId6"/>
              </a:rPr>
              <a:t>https://en.wikipedia.org/wiki/Parallel_computing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2"/>
          <p:cNvSpPr txBox="1"/>
          <p:nvPr>
            <p:ph idx="1" type="body"/>
          </p:nvPr>
        </p:nvSpPr>
        <p:spPr>
          <a:xfrm>
            <a:off x="360000" y="1032275"/>
            <a:ext cx="6976200" cy="3417000"/>
          </a:xfrm>
          <a:prstGeom prst="rect">
            <a:avLst/>
          </a:prstGeom>
          <a:noFill/>
          <a:ln>
            <a:noFill/>
          </a:ln>
        </p:spPr>
        <p:txBody>
          <a:bodyPr anchorCtr="0" anchor="t" bIns="0" lIns="0" spcFirstLastPara="1" rIns="0" wrap="square" tIns="0">
            <a:noAutofit/>
          </a:bodyPr>
          <a:lstStyle/>
          <a:p>
            <a:pPr indent="-342900" lvl="0" marL="342900" rtl="0" algn="l">
              <a:lnSpc>
                <a:spcPct val="90000"/>
              </a:lnSpc>
              <a:spcBef>
                <a:spcPts val="0"/>
              </a:spcBef>
              <a:spcAft>
                <a:spcPts val="0"/>
              </a:spcAft>
              <a:buClr>
                <a:schemeClr val="dk1"/>
              </a:buClr>
              <a:buSzPts val="2400"/>
              <a:buFont typeface="Nunito"/>
              <a:buChar char="•"/>
            </a:pPr>
            <a:r>
              <a:rPr lang="en-AU">
                <a:latin typeface="Nunito"/>
                <a:ea typeface="Nunito"/>
                <a:cs typeface="Nunito"/>
                <a:sym typeface="Nunito"/>
              </a:rPr>
              <a:t>Set of discrete instructions</a:t>
            </a:r>
            <a:endParaRPr>
              <a:latin typeface="Nunito"/>
              <a:ea typeface="Nunito"/>
              <a:cs typeface="Nunito"/>
              <a:sym typeface="Nunito"/>
            </a:endParaRPr>
          </a:p>
          <a:p>
            <a:pPr indent="-342900" lvl="0" marL="342900" rtl="0" algn="l">
              <a:lnSpc>
                <a:spcPct val="90000"/>
              </a:lnSpc>
              <a:spcBef>
                <a:spcPts val="1163"/>
              </a:spcBef>
              <a:spcAft>
                <a:spcPts val="0"/>
              </a:spcAft>
              <a:buClr>
                <a:schemeClr val="dk1"/>
              </a:buClr>
              <a:buSzPts val="2400"/>
              <a:buFont typeface="Nunito"/>
              <a:buChar char="•"/>
            </a:pPr>
            <a:r>
              <a:rPr lang="en-AU">
                <a:latin typeface="Nunito"/>
                <a:ea typeface="Nunito"/>
                <a:cs typeface="Nunito"/>
                <a:sym typeface="Nunito"/>
              </a:rPr>
              <a:t>Carried out sequentially</a:t>
            </a:r>
            <a:endParaRPr>
              <a:latin typeface="Nunito"/>
              <a:ea typeface="Nunito"/>
              <a:cs typeface="Nunito"/>
              <a:sym typeface="Nunito"/>
            </a:endParaRPr>
          </a:p>
          <a:p>
            <a:pPr indent="-342900" lvl="0" marL="342900" rtl="0" algn="l">
              <a:lnSpc>
                <a:spcPct val="90000"/>
              </a:lnSpc>
              <a:spcBef>
                <a:spcPts val="1163"/>
              </a:spcBef>
              <a:spcAft>
                <a:spcPts val="0"/>
              </a:spcAft>
              <a:buClr>
                <a:schemeClr val="dk1"/>
              </a:buClr>
              <a:buSzPts val="2400"/>
              <a:buFont typeface="Nunito"/>
              <a:buChar char="•"/>
            </a:pPr>
            <a:r>
              <a:rPr lang="en-AU">
                <a:latin typeface="Nunito"/>
                <a:ea typeface="Nunito"/>
                <a:cs typeface="Nunito"/>
                <a:sym typeface="Nunito"/>
              </a:rPr>
              <a:t>Example: print average grade of a class</a:t>
            </a:r>
            <a:endParaRPr>
              <a:latin typeface="Nunito"/>
              <a:ea typeface="Nunito"/>
              <a:cs typeface="Nunito"/>
              <a:sym typeface="Nunito"/>
            </a:endParaRPr>
          </a:p>
          <a:p>
            <a:pPr indent="-457200" lvl="0" marL="457200" rtl="0" algn="l">
              <a:lnSpc>
                <a:spcPct val="90000"/>
              </a:lnSpc>
              <a:spcBef>
                <a:spcPts val="1163"/>
              </a:spcBef>
              <a:spcAft>
                <a:spcPts val="0"/>
              </a:spcAft>
              <a:buClr>
                <a:schemeClr val="dk1"/>
              </a:buClr>
              <a:buSzPts val="2400"/>
              <a:buFont typeface="Nunito"/>
              <a:buAutoNum type="arabicPeriod"/>
            </a:pPr>
            <a:r>
              <a:rPr lang="en-AU">
                <a:latin typeface="Consolas"/>
                <a:ea typeface="Consolas"/>
                <a:cs typeface="Consolas"/>
                <a:sym typeface="Consolas"/>
              </a:rPr>
              <a:t>total = 0</a:t>
            </a:r>
            <a:endParaRPr>
              <a:latin typeface="Consolas"/>
              <a:ea typeface="Consolas"/>
              <a:cs typeface="Consolas"/>
              <a:sym typeface="Consolas"/>
            </a:endParaRPr>
          </a:p>
          <a:p>
            <a:pPr indent="-457200" lvl="0" marL="457200" rtl="0" algn="l">
              <a:lnSpc>
                <a:spcPct val="90000"/>
              </a:lnSpc>
              <a:spcBef>
                <a:spcPts val="1163"/>
              </a:spcBef>
              <a:spcAft>
                <a:spcPts val="0"/>
              </a:spcAft>
              <a:buClr>
                <a:schemeClr val="dk1"/>
              </a:buClr>
              <a:buSzPts val="2400"/>
              <a:buFont typeface="Nunito"/>
              <a:buAutoNum type="arabicPeriod"/>
            </a:pPr>
            <a:r>
              <a:rPr lang="en-AU">
                <a:latin typeface="Consolas"/>
                <a:ea typeface="Consolas"/>
                <a:cs typeface="Consolas"/>
                <a:sym typeface="Consolas"/>
              </a:rPr>
              <a:t>for grade in grades:</a:t>
            </a:r>
            <a:br>
              <a:rPr lang="en-AU">
                <a:latin typeface="Consolas"/>
                <a:ea typeface="Consolas"/>
                <a:cs typeface="Consolas"/>
                <a:sym typeface="Consolas"/>
              </a:rPr>
            </a:br>
            <a:r>
              <a:rPr lang="en-AU">
                <a:latin typeface="Consolas"/>
                <a:ea typeface="Consolas"/>
                <a:cs typeface="Consolas"/>
                <a:sym typeface="Consolas"/>
              </a:rPr>
              <a:t>  total = total + grade</a:t>
            </a:r>
            <a:endParaRPr>
              <a:latin typeface="Consolas"/>
              <a:ea typeface="Consolas"/>
              <a:cs typeface="Consolas"/>
              <a:sym typeface="Consolas"/>
            </a:endParaRPr>
          </a:p>
          <a:p>
            <a:pPr indent="-457200" lvl="0" marL="457200" rtl="0" algn="l">
              <a:lnSpc>
                <a:spcPct val="90000"/>
              </a:lnSpc>
              <a:spcBef>
                <a:spcPts val="1163"/>
              </a:spcBef>
              <a:spcAft>
                <a:spcPts val="0"/>
              </a:spcAft>
              <a:buClr>
                <a:schemeClr val="dk1"/>
              </a:buClr>
              <a:buSzPts val="2400"/>
              <a:buFont typeface="Nunito"/>
              <a:buAutoNum type="arabicPeriod"/>
            </a:pPr>
            <a:r>
              <a:rPr lang="en-AU">
                <a:latin typeface="Consolas"/>
                <a:ea typeface="Consolas"/>
                <a:cs typeface="Consolas"/>
                <a:sym typeface="Consolas"/>
              </a:rPr>
              <a:t>average = total / number_of_grades</a:t>
            </a:r>
            <a:endParaRPr>
              <a:latin typeface="Consolas"/>
              <a:ea typeface="Consolas"/>
              <a:cs typeface="Consolas"/>
              <a:sym typeface="Consolas"/>
            </a:endParaRPr>
          </a:p>
          <a:p>
            <a:pPr indent="-457200" lvl="0" marL="457200" rtl="0" algn="l">
              <a:lnSpc>
                <a:spcPct val="90000"/>
              </a:lnSpc>
              <a:spcBef>
                <a:spcPts val="1163"/>
              </a:spcBef>
              <a:spcAft>
                <a:spcPts val="0"/>
              </a:spcAft>
              <a:buClr>
                <a:schemeClr val="dk1"/>
              </a:buClr>
              <a:buSzPts val="2400"/>
              <a:buFont typeface="Nunito"/>
              <a:buAutoNum type="arabicPeriod"/>
            </a:pPr>
            <a:r>
              <a:rPr lang="en-AU">
                <a:latin typeface="Consolas"/>
                <a:ea typeface="Consolas"/>
                <a:cs typeface="Consolas"/>
                <a:sym typeface="Consolas"/>
              </a:rPr>
              <a:t>print(average)</a:t>
            </a:r>
            <a:endParaRPr>
              <a:latin typeface="Consolas"/>
              <a:ea typeface="Consolas"/>
              <a:cs typeface="Consolas"/>
              <a:sym typeface="Consolas"/>
            </a:endParaRPr>
          </a:p>
        </p:txBody>
      </p:sp>
      <p:grpSp>
        <p:nvGrpSpPr>
          <p:cNvPr id="176" name="Google Shape;176;p22"/>
          <p:cNvGrpSpPr/>
          <p:nvPr/>
        </p:nvGrpSpPr>
        <p:grpSpPr>
          <a:xfrm>
            <a:off x="5410733" y="2428196"/>
            <a:ext cx="377252" cy="1903754"/>
            <a:chOff x="0" y="0"/>
            <a:chExt cx="304801" cy="2329891"/>
          </a:xfrm>
        </p:grpSpPr>
        <p:cxnSp>
          <p:nvCxnSpPr>
            <p:cNvPr id="177" name="Google Shape;177;p22"/>
            <p:cNvCxnSpPr/>
            <p:nvPr/>
          </p:nvCxnSpPr>
          <p:spPr>
            <a:xfrm flipH="1">
              <a:off x="152399" y="0"/>
              <a:ext cx="1" cy="2063193"/>
            </a:xfrm>
            <a:prstGeom prst="straightConnector1">
              <a:avLst/>
            </a:prstGeom>
            <a:noFill/>
            <a:ln cap="flat" cmpd="sng" w="76200">
              <a:solidFill>
                <a:srgbClr val="4472C4"/>
              </a:solidFill>
              <a:prstDash val="solid"/>
              <a:round/>
              <a:headEnd len="sm" w="sm" type="none"/>
              <a:tailEnd len="sm" w="sm" type="none"/>
            </a:ln>
          </p:spPr>
        </p:cxnSp>
        <p:sp>
          <p:nvSpPr>
            <p:cNvPr id="178" name="Google Shape;178;p22"/>
            <p:cNvSpPr/>
            <p:nvPr/>
          </p:nvSpPr>
          <p:spPr>
            <a:xfrm>
              <a:off x="0" y="2025091"/>
              <a:ext cx="304801" cy="304800"/>
            </a:xfrm>
            <a:custGeom>
              <a:rect b="b" l="l" r="r" t="t"/>
              <a:pathLst>
                <a:path extrusionOk="0" h="21600" w="21600">
                  <a:moveTo>
                    <a:pt x="21600" y="0"/>
                  </a:moveTo>
                  <a:lnTo>
                    <a:pt x="0" y="0"/>
                  </a:lnTo>
                  <a:lnTo>
                    <a:pt x="10800" y="21600"/>
                  </a:lnTo>
                  <a:lnTo>
                    <a:pt x="21600" y="0"/>
                  </a:lnTo>
                  <a:close/>
                </a:path>
              </a:pathLst>
            </a:custGeom>
            <a:solidFill>
              <a:srgbClr val="4472C4"/>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79" name="Google Shape;179;p22"/>
          <p:cNvSpPr txBox="1"/>
          <p:nvPr>
            <p:ph type="title"/>
          </p:nvPr>
        </p:nvSpPr>
        <p:spPr>
          <a:xfrm>
            <a:off x="493900" y="67657"/>
            <a:ext cx="6697200" cy="43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AU"/>
              <a:t>What is a program?</a:t>
            </a:r>
            <a:endParaRPr/>
          </a:p>
        </p:txBody>
      </p:sp>
      <p:sp>
        <p:nvSpPr>
          <p:cNvPr id="180" name="Google Shape;180;p22"/>
          <p:cNvSpPr txBox="1"/>
          <p:nvPr>
            <p:ph idx="2" type="subTitle"/>
          </p:nvPr>
        </p:nvSpPr>
        <p:spPr>
          <a:xfrm>
            <a:off x="534325" y="398633"/>
            <a:ext cx="6539400" cy="321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AU">
                <a:solidFill>
                  <a:schemeClr val="hlink"/>
                </a:solidFill>
                <a:uFill>
                  <a:noFill/>
                </a:uFill>
                <a:hlinkClick r:id="rId3"/>
              </a:rPr>
              <a:t>https://en.wikipedia.org/wiki/Computer_program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idx="1" type="body"/>
          </p:nvPr>
        </p:nvSpPr>
        <p:spPr>
          <a:xfrm>
            <a:off x="360000" y="863326"/>
            <a:ext cx="8784000" cy="3903000"/>
          </a:xfrm>
          <a:prstGeom prst="rect">
            <a:avLst/>
          </a:prstGeom>
          <a:noFill/>
          <a:ln>
            <a:noFill/>
          </a:ln>
        </p:spPr>
        <p:txBody>
          <a:bodyPr anchorCtr="0" anchor="t" bIns="0" lIns="0" spcFirstLastPara="1" rIns="0" wrap="square" tIns="0">
            <a:noAutofit/>
          </a:bodyPr>
          <a:lstStyle/>
          <a:p>
            <a:pPr indent="-342900" lvl="0" marL="342900" rtl="0" algn="l">
              <a:lnSpc>
                <a:spcPct val="90000"/>
              </a:lnSpc>
              <a:spcBef>
                <a:spcPts val="0"/>
              </a:spcBef>
              <a:spcAft>
                <a:spcPts val="0"/>
              </a:spcAft>
              <a:buClr>
                <a:schemeClr val="dk1"/>
              </a:buClr>
              <a:buSzPts val="2400"/>
              <a:buFont typeface="Arial"/>
              <a:buChar char="•"/>
            </a:pPr>
            <a:r>
              <a:rPr lang="en-AU">
                <a:latin typeface="Nunito"/>
                <a:ea typeface="Nunito"/>
                <a:cs typeface="Nunito"/>
                <a:sym typeface="Nunito"/>
              </a:rPr>
              <a:t>Partition grades into </a:t>
            </a:r>
            <a:r>
              <a:rPr i="1" lang="en-AU">
                <a:latin typeface="Nunito"/>
                <a:ea typeface="Nunito"/>
                <a:cs typeface="Nunito"/>
                <a:sym typeface="Nunito"/>
              </a:rPr>
              <a:t>n</a:t>
            </a:r>
            <a:r>
              <a:rPr lang="en-AU">
                <a:latin typeface="Nunito"/>
                <a:ea typeface="Nunito"/>
                <a:cs typeface="Nunito"/>
                <a:sym typeface="Nunito"/>
              </a:rPr>
              <a:t> sets and do the following</a:t>
            </a:r>
            <a:r>
              <a:rPr lang="en-AU">
                <a:latin typeface="Nunito"/>
                <a:ea typeface="Nunito"/>
                <a:cs typeface="Nunito"/>
                <a:sym typeface="Nunito"/>
              </a:rPr>
              <a:t>:</a:t>
            </a:r>
            <a:endParaRPr>
              <a:latin typeface="Nunito"/>
              <a:ea typeface="Nunito"/>
              <a:cs typeface="Nunito"/>
              <a:sym typeface="Nunito"/>
            </a:endParaRPr>
          </a:p>
          <a:p>
            <a:pPr indent="-190500" lvl="0" marL="342900" rtl="0" algn="l">
              <a:lnSpc>
                <a:spcPct val="90000"/>
              </a:lnSpc>
              <a:spcBef>
                <a:spcPts val="1163"/>
              </a:spcBef>
              <a:spcAft>
                <a:spcPts val="0"/>
              </a:spcAft>
              <a:buClr>
                <a:schemeClr val="dk1"/>
              </a:buClr>
              <a:buSzPts val="2400"/>
              <a:buFont typeface="Arial"/>
              <a:buNone/>
            </a:pPr>
            <a:r>
              <a:t/>
            </a:r>
            <a:endParaRPr/>
          </a:p>
          <a:p>
            <a:pPr indent="-190500" lvl="0" marL="342900" rtl="0" algn="l">
              <a:lnSpc>
                <a:spcPct val="90000"/>
              </a:lnSpc>
              <a:spcBef>
                <a:spcPts val="1163"/>
              </a:spcBef>
              <a:spcAft>
                <a:spcPts val="0"/>
              </a:spcAft>
              <a:buClr>
                <a:schemeClr val="dk1"/>
              </a:buClr>
              <a:buSzPts val="2400"/>
              <a:buFont typeface="Arial"/>
              <a:buNone/>
            </a:pPr>
            <a:r>
              <a:t/>
            </a:r>
            <a:endParaRPr/>
          </a:p>
          <a:p>
            <a:pPr indent="-190500" lvl="0" marL="342900" rtl="0" algn="l">
              <a:lnSpc>
                <a:spcPct val="90000"/>
              </a:lnSpc>
              <a:spcBef>
                <a:spcPts val="1163"/>
              </a:spcBef>
              <a:spcAft>
                <a:spcPts val="0"/>
              </a:spcAft>
              <a:buClr>
                <a:schemeClr val="dk1"/>
              </a:buClr>
              <a:buSzPts val="2400"/>
              <a:buFont typeface="Arial"/>
              <a:buNone/>
            </a:pPr>
            <a:r>
              <a:t/>
            </a:r>
            <a:endParaRPr/>
          </a:p>
          <a:p>
            <a:pPr indent="-190500" lvl="0" marL="342900" rtl="0" algn="l">
              <a:lnSpc>
                <a:spcPct val="90000"/>
              </a:lnSpc>
              <a:spcBef>
                <a:spcPts val="1163"/>
              </a:spcBef>
              <a:spcAft>
                <a:spcPts val="0"/>
              </a:spcAft>
              <a:buClr>
                <a:schemeClr val="dk1"/>
              </a:buClr>
              <a:buSzPts val="2400"/>
              <a:buFont typeface="Arial"/>
              <a:buNone/>
            </a:pPr>
            <a:r>
              <a:t/>
            </a:r>
            <a:endParaRPr/>
          </a:p>
          <a:p>
            <a:pPr indent="-190500" lvl="0" marL="342900" rtl="0" algn="l">
              <a:lnSpc>
                <a:spcPct val="90000"/>
              </a:lnSpc>
              <a:spcBef>
                <a:spcPts val="1163"/>
              </a:spcBef>
              <a:spcAft>
                <a:spcPts val="0"/>
              </a:spcAft>
              <a:buClr>
                <a:schemeClr val="dk1"/>
              </a:buClr>
              <a:buSzPts val="2400"/>
              <a:buFont typeface="Arial"/>
              <a:buNone/>
            </a:pPr>
            <a:r>
              <a:t/>
            </a:r>
            <a:endParaRPr/>
          </a:p>
          <a:p>
            <a:pPr indent="0" lvl="0" marL="457200" rtl="0" algn="l">
              <a:lnSpc>
                <a:spcPct val="90000"/>
              </a:lnSpc>
              <a:spcBef>
                <a:spcPts val="1163"/>
              </a:spcBef>
              <a:spcAft>
                <a:spcPts val="0"/>
              </a:spcAft>
              <a:buNone/>
            </a:pPr>
            <a:r>
              <a:t/>
            </a:r>
            <a:endParaRPr/>
          </a:p>
          <a:p>
            <a:pPr indent="-342900" lvl="0" marL="342900" rtl="0" algn="l">
              <a:lnSpc>
                <a:spcPct val="90000"/>
              </a:lnSpc>
              <a:spcBef>
                <a:spcPts val="1163"/>
              </a:spcBef>
              <a:spcAft>
                <a:spcPts val="0"/>
              </a:spcAft>
              <a:buClr>
                <a:schemeClr val="dk1"/>
              </a:buClr>
              <a:buSzPts val="2400"/>
              <a:buFont typeface="Nunito"/>
              <a:buChar char="•"/>
            </a:pPr>
            <a:r>
              <a:rPr lang="en-AU">
                <a:latin typeface="Nunito"/>
                <a:ea typeface="Nunito"/>
                <a:cs typeface="Nunito"/>
                <a:sym typeface="Nunito"/>
              </a:rPr>
              <a:t>Combine results</a:t>
            </a:r>
            <a:endParaRPr>
              <a:latin typeface="Nunito"/>
              <a:ea typeface="Nunito"/>
              <a:cs typeface="Nunito"/>
              <a:sym typeface="Nunito"/>
            </a:endParaRPr>
          </a:p>
        </p:txBody>
      </p:sp>
      <p:sp>
        <p:nvSpPr>
          <p:cNvPr id="186" name="Google Shape;186;p23"/>
          <p:cNvSpPr/>
          <p:nvPr/>
        </p:nvSpPr>
        <p:spPr>
          <a:xfrm>
            <a:off x="1050175" y="4335194"/>
            <a:ext cx="5659800" cy="535800"/>
          </a:xfrm>
          <a:prstGeom prst="roundRect">
            <a:avLst>
              <a:gd fmla="val 16667" name="adj"/>
            </a:avLst>
          </a:prstGeom>
          <a:noFill/>
          <a:ln cap="flat" cmpd="sng" w="381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i="0" lang="en-AU" sz="1600" u="none" cap="none" strike="noStrike">
                <a:solidFill>
                  <a:schemeClr val="dk1"/>
                </a:solidFill>
                <a:latin typeface="Consolas"/>
                <a:ea typeface="Consolas"/>
                <a:cs typeface="Consolas"/>
                <a:sym typeface="Consolas"/>
              </a:rPr>
              <a:t>average = (average_1 + </a:t>
            </a:r>
            <a:r>
              <a:rPr lang="en-AU" sz="1600">
                <a:solidFill>
                  <a:schemeClr val="dk1"/>
                </a:solidFill>
                <a:latin typeface="Consolas"/>
                <a:ea typeface="Consolas"/>
                <a:cs typeface="Consolas"/>
                <a:sym typeface="Consolas"/>
              </a:rPr>
              <a:t>… +</a:t>
            </a:r>
            <a:r>
              <a:rPr i="0" lang="en-AU" sz="1600" u="none" cap="none" strike="noStrike">
                <a:solidFill>
                  <a:schemeClr val="dk1"/>
                </a:solidFill>
                <a:latin typeface="Consolas"/>
                <a:ea typeface="Consolas"/>
                <a:cs typeface="Consolas"/>
                <a:sym typeface="Consolas"/>
              </a:rPr>
              <a:t> average_</a:t>
            </a:r>
            <a:r>
              <a:rPr lang="en-AU" sz="1600">
                <a:solidFill>
                  <a:schemeClr val="dk1"/>
                </a:solidFill>
                <a:latin typeface="Consolas"/>
                <a:ea typeface="Consolas"/>
                <a:cs typeface="Consolas"/>
                <a:sym typeface="Consolas"/>
              </a:rPr>
              <a:t>n</a:t>
            </a:r>
            <a:r>
              <a:rPr i="0" lang="en-AU" sz="1600" u="none" cap="none" strike="noStrike">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AU" sz="1600" u="none" cap="none" strike="noStrike">
                <a:solidFill>
                  <a:schemeClr val="dk1"/>
                </a:solidFill>
                <a:latin typeface="Consolas"/>
                <a:ea typeface="Consolas"/>
                <a:cs typeface="Consolas"/>
                <a:sym typeface="Consolas"/>
              </a:rPr>
              <a:t>       </a:t>
            </a:r>
            <a:r>
              <a:rPr i="0" lang="en-AU" sz="800" u="none" cap="none" strike="noStrike">
                <a:solidFill>
                  <a:schemeClr val="dk1"/>
                </a:solidFill>
                <a:latin typeface="Consolas"/>
                <a:ea typeface="Consolas"/>
                <a:cs typeface="Consolas"/>
                <a:sym typeface="Consolas"/>
              </a:rPr>
              <a:t>       </a:t>
            </a:r>
            <a:r>
              <a:rPr i="0" lang="en-AU" sz="1600" u="none" cap="none" strike="noStrike">
                <a:solidFill>
                  <a:schemeClr val="dk1"/>
                </a:solidFill>
                <a:latin typeface="Consolas"/>
                <a:ea typeface="Consolas"/>
                <a:cs typeface="Consolas"/>
                <a:sym typeface="Consolas"/>
              </a:rPr>
              <a:t>   number_of_partitions</a:t>
            </a:r>
            <a:endParaRPr i="0" sz="1600" u="none" cap="none" strike="noStrike">
              <a:solidFill>
                <a:schemeClr val="dk1"/>
              </a:solidFill>
              <a:latin typeface="Consolas"/>
              <a:ea typeface="Consolas"/>
              <a:cs typeface="Consolas"/>
              <a:sym typeface="Consolas"/>
            </a:endParaRPr>
          </a:p>
        </p:txBody>
      </p:sp>
      <p:cxnSp>
        <p:nvCxnSpPr>
          <p:cNvPr id="187" name="Google Shape;187;p23"/>
          <p:cNvCxnSpPr/>
          <p:nvPr/>
        </p:nvCxnSpPr>
        <p:spPr>
          <a:xfrm flipH="1" rot="10800000">
            <a:off x="2327050" y="4629205"/>
            <a:ext cx="3030900" cy="14100"/>
          </a:xfrm>
          <a:prstGeom prst="straightConnector1">
            <a:avLst/>
          </a:prstGeom>
          <a:noFill/>
          <a:ln cap="flat" cmpd="sng" w="9525">
            <a:solidFill>
              <a:schemeClr val="dk2"/>
            </a:solidFill>
            <a:prstDash val="solid"/>
            <a:round/>
            <a:headEnd len="med" w="med" type="none"/>
            <a:tailEnd len="med" w="med" type="none"/>
          </a:ln>
        </p:spPr>
      </p:cxnSp>
      <p:grpSp>
        <p:nvGrpSpPr>
          <p:cNvPr id="188" name="Google Shape;188;p23"/>
          <p:cNvGrpSpPr/>
          <p:nvPr/>
        </p:nvGrpSpPr>
        <p:grpSpPr>
          <a:xfrm>
            <a:off x="360000" y="1228523"/>
            <a:ext cx="7019375" cy="2152710"/>
            <a:chOff x="360000" y="1261600"/>
            <a:chExt cx="7019375" cy="2391900"/>
          </a:xfrm>
        </p:grpSpPr>
        <p:sp>
          <p:nvSpPr>
            <p:cNvPr id="189" name="Google Shape;189;p23"/>
            <p:cNvSpPr/>
            <p:nvPr/>
          </p:nvSpPr>
          <p:spPr>
            <a:xfrm>
              <a:off x="360000" y="1261600"/>
              <a:ext cx="3183900" cy="2391900"/>
            </a:xfrm>
            <a:prstGeom prst="roundRect">
              <a:avLst>
                <a:gd fmla="val 16667" name="adj"/>
              </a:avLst>
            </a:prstGeom>
            <a:noFill/>
            <a:ln cap="flat" cmpd="sng" w="381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t/>
              </a:r>
              <a:endParaRPr sz="1600">
                <a:solidFill>
                  <a:schemeClr val="dk1"/>
                </a:solidFill>
                <a:latin typeface="Consolas"/>
                <a:ea typeface="Consolas"/>
                <a:cs typeface="Consolas"/>
                <a:sym typeface="Consolas"/>
              </a:endParaRPr>
            </a:p>
            <a:p>
              <a:pPr indent="-330200" lvl="0" marL="342900" marR="0" rtl="0" algn="l">
                <a:lnSpc>
                  <a:spcPct val="100000"/>
                </a:lnSpc>
                <a:spcBef>
                  <a:spcPts val="0"/>
                </a:spcBef>
                <a:spcAft>
                  <a:spcPts val="0"/>
                </a:spcAft>
                <a:buClr>
                  <a:schemeClr val="dk1"/>
                </a:buClr>
                <a:buSzPts val="1600"/>
                <a:buFont typeface="Consolas"/>
                <a:buAutoNum type="arabicPeriod"/>
              </a:pPr>
              <a:r>
                <a:rPr i="0" lang="en-AU" sz="1600" u="none" cap="none" strike="noStrike">
                  <a:solidFill>
                    <a:schemeClr val="dk1"/>
                  </a:solidFill>
                  <a:latin typeface="Consolas"/>
                  <a:ea typeface="Consolas"/>
                  <a:cs typeface="Consolas"/>
                  <a:sym typeface="Consolas"/>
                </a:rPr>
                <a:t>total = 0</a:t>
              </a:r>
              <a:endParaRPr i="0" sz="1600" u="none" cap="none" strike="noStrike">
                <a:solidFill>
                  <a:srgbClr val="000000"/>
                </a:solidFill>
                <a:latin typeface="Consolas"/>
                <a:ea typeface="Consolas"/>
                <a:cs typeface="Consolas"/>
                <a:sym typeface="Consolas"/>
              </a:endParaRPr>
            </a:p>
            <a:p>
              <a:pPr indent="-330200" lvl="0" marL="342900" marR="0" rtl="0" algn="l">
                <a:lnSpc>
                  <a:spcPct val="100000"/>
                </a:lnSpc>
                <a:spcBef>
                  <a:spcPts val="0"/>
                </a:spcBef>
                <a:spcAft>
                  <a:spcPts val="0"/>
                </a:spcAft>
                <a:buClr>
                  <a:schemeClr val="dk1"/>
                </a:buClr>
                <a:buSzPts val="1600"/>
                <a:buFont typeface="Consolas"/>
                <a:buAutoNum type="arabicPeriod"/>
              </a:pPr>
              <a:r>
                <a:rPr i="0" lang="en-AU" sz="1600" u="none" cap="none" strike="noStrike">
                  <a:solidFill>
                    <a:schemeClr val="dk1"/>
                  </a:solidFill>
                  <a:latin typeface="Consolas"/>
                  <a:ea typeface="Consolas"/>
                  <a:cs typeface="Consolas"/>
                  <a:sym typeface="Consolas"/>
                </a:rPr>
                <a:t>for grade in 1/</a:t>
              </a:r>
              <a:r>
                <a:rPr lang="en-AU" sz="1600">
                  <a:solidFill>
                    <a:schemeClr val="dk1"/>
                  </a:solidFill>
                  <a:latin typeface="Consolas"/>
                  <a:ea typeface="Consolas"/>
                  <a:cs typeface="Consolas"/>
                  <a:sym typeface="Consolas"/>
                </a:rPr>
                <a:t>n</a:t>
              </a:r>
              <a:r>
                <a:rPr i="0" lang="en-AU" sz="1600" u="none" cap="none" strike="noStrike">
                  <a:solidFill>
                    <a:schemeClr val="dk1"/>
                  </a:solidFill>
                  <a:latin typeface="Consolas"/>
                  <a:ea typeface="Consolas"/>
                  <a:cs typeface="Consolas"/>
                  <a:sym typeface="Consolas"/>
                </a:rPr>
                <a:t> grades:</a:t>
              </a:r>
              <a:br>
                <a:rPr i="0" lang="en-AU" sz="1600" u="none" cap="none" strike="noStrike">
                  <a:solidFill>
                    <a:schemeClr val="dk1"/>
                  </a:solidFill>
                  <a:latin typeface="Consolas"/>
                  <a:ea typeface="Consolas"/>
                  <a:cs typeface="Consolas"/>
                  <a:sym typeface="Consolas"/>
                </a:rPr>
              </a:br>
              <a:br>
                <a:rPr i="0" lang="en-AU" sz="1600" u="none" cap="none" strike="noStrike">
                  <a:solidFill>
                    <a:schemeClr val="dk1"/>
                  </a:solidFill>
                  <a:latin typeface="Consolas"/>
                  <a:ea typeface="Consolas"/>
                  <a:cs typeface="Consolas"/>
                  <a:sym typeface="Consolas"/>
                </a:rPr>
              </a:br>
              <a:r>
                <a:rPr i="0" lang="en-AU" sz="1600" u="none" cap="none" strike="noStrike">
                  <a:solidFill>
                    <a:schemeClr val="dk1"/>
                  </a:solidFill>
                  <a:latin typeface="Consolas"/>
                  <a:ea typeface="Consolas"/>
                  <a:cs typeface="Consolas"/>
                  <a:sym typeface="Consolas"/>
                </a:rPr>
                <a:t>total = total + grade</a:t>
              </a:r>
              <a:endParaRPr i="0" sz="1600" u="none" cap="none" strike="noStrike">
                <a:solidFill>
                  <a:srgbClr val="000000"/>
                </a:solidFill>
                <a:latin typeface="Consolas"/>
                <a:ea typeface="Consolas"/>
                <a:cs typeface="Consolas"/>
                <a:sym typeface="Consolas"/>
              </a:endParaRPr>
            </a:p>
            <a:p>
              <a:pPr indent="-228600" lvl="0" marL="342900" marR="0" rtl="0" algn="l">
                <a:lnSpc>
                  <a:spcPct val="100000"/>
                </a:lnSpc>
                <a:spcBef>
                  <a:spcPts val="0"/>
                </a:spcBef>
                <a:spcAft>
                  <a:spcPts val="0"/>
                </a:spcAft>
                <a:buClr>
                  <a:schemeClr val="dk1"/>
                </a:buClr>
                <a:buSzPts val="1800"/>
                <a:buFont typeface="Calibri"/>
                <a:buNone/>
              </a:pPr>
              <a:r>
                <a:t/>
              </a:r>
              <a:endParaRPr i="0" sz="1600" u="none" cap="none" strike="noStrike">
                <a:solidFill>
                  <a:schemeClr val="dk1"/>
                </a:solidFill>
                <a:latin typeface="Consolas"/>
                <a:ea typeface="Consolas"/>
                <a:cs typeface="Consolas"/>
                <a:sym typeface="Consolas"/>
              </a:endParaRPr>
            </a:p>
            <a:p>
              <a:pPr indent="-330200" lvl="0" marL="342900" marR="0" rtl="0" algn="l">
                <a:lnSpc>
                  <a:spcPct val="100000"/>
                </a:lnSpc>
                <a:spcBef>
                  <a:spcPts val="0"/>
                </a:spcBef>
                <a:spcAft>
                  <a:spcPts val="0"/>
                </a:spcAft>
                <a:buClr>
                  <a:schemeClr val="dk1"/>
                </a:buClr>
                <a:buSzPts val="1600"/>
                <a:buFont typeface="Consolas"/>
                <a:buAutoNum type="arabicPeriod"/>
              </a:pPr>
              <a:r>
                <a:rPr i="0" lang="en-AU" sz="1600" u="none" cap="none" strike="noStrike">
                  <a:solidFill>
                    <a:schemeClr val="dk1"/>
                  </a:solidFill>
                  <a:latin typeface="Consolas"/>
                  <a:ea typeface="Consolas"/>
                  <a:cs typeface="Consolas"/>
                  <a:sym typeface="Consolas"/>
                </a:rPr>
                <a:t>average</a:t>
              </a:r>
              <a:r>
                <a:rPr lang="en-AU" sz="1600">
                  <a:solidFill>
                    <a:schemeClr val="dk1"/>
                  </a:solidFill>
                  <a:latin typeface="Consolas"/>
                  <a:ea typeface="Consolas"/>
                  <a:cs typeface="Consolas"/>
                  <a:sym typeface="Consolas"/>
                </a:rPr>
                <a:t>_1</a:t>
              </a:r>
              <a:r>
                <a:rPr i="0" lang="en-AU" sz="1600" u="none" cap="none" strike="noStrike">
                  <a:solidFill>
                    <a:schemeClr val="dk1"/>
                  </a:solidFill>
                  <a:latin typeface="Consolas"/>
                  <a:ea typeface="Consolas"/>
                  <a:cs typeface="Consolas"/>
                  <a:sym typeface="Consolas"/>
                </a:rPr>
                <a:t> = total / number_of_grades</a:t>
              </a:r>
              <a:endParaRPr i="0" sz="1600" u="none" cap="none" strike="noStrike">
                <a:solidFill>
                  <a:schemeClr val="dk1"/>
                </a:solidFill>
                <a:latin typeface="Consolas"/>
                <a:ea typeface="Consolas"/>
                <a:cs typeface="Consolas"/>
                <a:sym typeface="Consolas"/>
              </a:endParaRPr>
            </a:p>
            <a:p>
              <a:pPr indent="-228600" lvl="0" marL="34290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90" name="Google Shape;190;p23"/>
            <p:cNvSpPr txBox="1"/>
            <p:nvPr/>
          </p:nvSpPr>
          <p:spPr>
            <a:xfrm flipH="1">
              <a:off x="3543888" y="1990150"/>
              <a:ext cx="651600" cy="9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AU" sz="3600">
                  <a:solidFill>
                    <a:schemeClr val="dk2"/>
                  </a:solidFill>
                </a:rPr>
                <a:t>…</a:t>
              </a:r>
              <a:endParaRPr b="1" sz="3600">
                <a:solidFill>
                  <a:schemeClr val="dk2"/>
                </a:solidFill>
              </a:endParaRPr>
            </a:p>
          </p:txBody>
        </p:sp>
        <p:sp>
          <p:nvSpPr>
            <p:cNvPr id="191" name="Google Shape;191;p23"/>
            <p:cNvSpPr/>
            <p:nvPr/>
          </p:nvSpPr>
          <p:spPr>
            <a:xfrm>
              <a:off x="4195475" y="1261600"/>
              <a:ext cx="3183900" cy="2391900"/>
            </a:xfrm>
            <a:prstGeom prst="roundRect">
              <a:avLst>
                <a:gd fmla="val 16667" name="adj"/>
              </a:avLst>
            </a:prstGeom>
            <a:noFill/>
            <a:ln cap="flat" cmpd="sng" w="381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t/>
              </a:r>
              <a:endParaRPr sz="1600">
                <a:solidFill>
                  <a:schemeClr val="dk1"/>
                </a:solidFill>
                <a:latin typeface="Consolas"/>
                <a:ea typeface="Consolas"/>
                <a:cs typeface="Consolas"/>
                <a:sym typeface="Consolas"/>
              </a:endParaRPr>
            </a:p>
            <a:p>
              <a:pPr indent="-330200" lvl="0" marL="342900" marR="0" rtl="0" algn="l">
                <a:lnSpc>
                  <a:spcPct val="100000"/>
                </a:lnSpc>
                <a:spcBef>
                  <a:spcPts val="0"/>
                </a:spcBef>
                <a:spcAft>
                  <a:spcPts val="0"/>
                </a:spcAft>
                <a:buClr>
                  <a:schemeClr val="dk1"/>
                </a:buClr>
                <a:buSzPts val="1600"/>
                <a:buFont typeface="Consolas"/>
                <a:buAutoNum type="arabicPeriod"/>
              </a:pPr>
              <a:r>
                <a:rPr i="0" lang="en-AU" sz="1600" u="none" cap="none" strike="noStrike">
                  <a:solidFill>
                    <a:schemeClr val="dk1"/>
                  </a:solidFill>
                  <a:latin typeface="Consolas"/>
                  <a:ea typeface="Consolas"/>
                  <a:cs typeface="Consolas"/>
                  <a:sym typeface="Consolas"/>
                </a:rPr>
                <a:t>total = 0</a:t>
              </a:r>
              <a:endParaRPr i="0" sz="1600" u="none" cap="none" strike="noStrike">
                <a:solidFill>
                  <a:srgbClr val="000000"/>
                </a:solidFill>
                <a:latin typeface="Consolas"/>
                <a:ea typeface="Consolas"/>
                <a:cs typeface="Consolas"/>
                <a:sym typeface="Consolas"/>
              </a:endParaRPr>
            </a:p>
            <a:p>
              <a:pPr indent="-330200" lvl="0" marL="342900" marR="0" rtl="0" algn="l">
                <a:lnSpc>
                  <a:spcPct val="100000"/>
                </a:lnSpc>
                <a:spcBef>
                  <a:spcPts val="0"/>
                </a:spcBef>
                <a:spcAft>
                  <a:spcPts val="0"/>
                </a:spcAft>
                <a:buClr>
                  <a:schemeClr val="dk1"/>
                </a:buClr>
                <a:buSzPts val="1600"/>
                <a:buFont typeface="Consolas"/>
                <a:buAutoNum type="arabicPeriod"/>
              </a:pPr>
              <a:r>
                <a:rPr i="0" lang="en-AU" sz="1600" u="none" cap="none" strike="noStrike">
                  <a:solidFill>
                    <a:schemeClr val="dk1"/>
                  </a:solidFill>
                  <a:latin typeface="Consolas"/>
                  <a:ea typeface="Consolas"/>
                  <a:cs typeface="Consolas"/>
                  <a:sym typeface="Consolas"/>
                </a:rPr>
                <a:t>for grade in 1/</a:t>
              </a:r>
              <a:r>
                <a:rPr lang="en-AU" sz="1600">
                  <a:solidFill>
                    <a:schemeClr val="dk1"/>
                  </a:solidFill>
                  <a:latin typeface="Consolas"/>
                  <a:ea typeface="Consolas"/>
                  <a:cs typeface="Consolas"/>
                  <a:sym typeface="Consolas"/>
                </a:rPr>
                <a:t>n</a:t>
              </a:r>
              <a:r>
                <a:rPr i="0" lang="en-AU" sz="1600" u="none" cap="none" strike="noStrike">
                  <a:solidFill>
                    <a:schemeClr val="dk1"/>
                  </a:solidFill>
                  <a:latin typeface="Consolas"/>
                  <a:ea typeface="Consolas"/>
                  <a:cs typeface="Consolas"/>
                  <a:sym typeface="Consolas"/>
                </a:rPr>
                <a:t> grades:</a:t>
              </a:r>
              <a:br>
                <a:rPr i="0" lang="en-AU" sz="1600" u="none" cap="none" strike="noStrike">
                  <a:solidFill>
                    <a:schemeClr val="dk1"/>
                  </a:solidFill>
                  <a:latin typeface="Consolas"/>
                  <a:ea typeface="Consolas"/>
                  <a:cs typeface="Consolas"/>
                  <a:sym typeface="Consolas"/>
                </a:rPr>
              </a:br>
              <a:br>
                <a:rPr i="0" lang="en-AU" sz="1600" u="none" cap="none" strike="noStrike">
                  <a:solidFill>
                    <a:schemeClr val="dk1"/>
                  </a:solidFill>
                  <a:latin typeface="Consolas"/>
                  <a:ea typeface="Consolas"/>
                  <a:cs typeface="Consolas"/>
                  <a:sym typeface="Consolas"/>
                </a:rPr>
              </a:br>
              <a:r>
                <a:rPr i="0" lang="en-AU" sz="1600" u="none" cap="none" strike="noStrike">
                  <a:solidFill>
                    <a:schemeClr val="dk1"/>
                  </a:solidFill>
                  <a:latin typeface="Consolas"/>
                  <a:ea typeface="Consolas"/>
                  <a:cs typeface="Consolas"/>
                  <a:sym typeface="Consolas"/>
                </a:rPr>
                <a:t>total = total + grade</a:t>
              </a:r>
              <a:endParaRPr i="0" sz="1600" u="none" cap="none" strike="noStrike">
                <a:solidFill>
                  <a:srgbClr val="000000"/>
                </a:solidFill>
                <a:latin typeface="Consolas"/>
                <a:ea typeface="Consolas"/>
                <a:cs typeface="Consolas"/>
                <a:sym typeface="Consolas"/>
              </a:endParaRPr>
            </a:p>
            <a:p>
              <a:pPr indent="-228600" lvl="0" marL="342900" marR="0" rtl="0" algn="l">
                <a:lnSpc>
                  <a:spcPct val="100000"/>
                </a:lnSpc>
                <a:spcBef>
                  <a:spcPts val="0"/>
                </a:spcBef>
                <a:spcAft>
                  <a:spcPts val="0"/>
                </a:spcAft>
                <a:buClr>
                  <a:schemeClr val="dk1"/>
                </a:buClr>
                <a:buSzPts val="1800"/>
                <a:buFont typeface="Calibri"/>
                <a:buNone/>
              </a:pPr>
              <a:r>
                <a:t/>
              </a:r>
              <a:endParaRPr i="0" sz="1600" u="none" cap="none" strike="noStrike">
                <a:solidFill>
                  <a:schemeClr val="dk1"/>
                </a:solidFill>
                <a:latin typeface="Consolas"/>
                <a:ea typeface="Consolas"/>
                <a:cs typeface="Consolas"/>
                <a:sym typeface="Consolas"/>
              </a:endParaRPr>
            </a:p>
            <a:p>
              <a:pPr indent="-330200" lvl="0" marL="342900" marR="0" rtl="0" algn="l">
                <a:lnSpc>
                  <a:spcPct val="100000"/>
                </a:lnSpc>
                <a:spcBef>
                  <a:spcPts val="0"/>
                </a:spcBef>
                <a:spcAft>
                  <a:spcPts val="0"/>
                </a:spcAft>
                <a:buClr>
                  <a:schemeClr val="dk1"/>
                </a:buClr>
                <a:buSzPts val="1600"/>
                <a:buFont typeface="Consolas"/>
                <a:buAutoNum type="arabicPeriod"/>
              </a:pPr>
              <a:r>
                <a:rPr i="0" lang="en-AU" sz="1600" u="none" cap="none" strike="noStrike">
                  <a:solidFill>
                    <a:schemeClr val="dk1"/>
                  </a:solidFill>
                  <a:latin typeface="Consolas"/>
                  <a:ea typeface="Consolas"/>
                  <a:cs typeface="Consolas"/>
                  <a:sym typeface="Consolas"/>
                </a:rPr>
                <a:t>average_</a:t>
              </a:r>
              <a:r>
                <a:rPr lang="en-AU" sz="1600">
                  <a:solidFill>
                    <a:schemeClr val="dk1"/>
                  </a:solidFill>
                  <a:latin typeface="Consolas"/>
                  <a:ea typeface="Consolas"/>
                  <a:cs typeface="Consolas"/>
                  <a:sym typeface="Consolas"/>
                </a:rPr>
                <a:t>n</a:t>
              </a:r>
              <a:r>
                <a:rPr i="0" lang="en-AU" sz="1600" u="none" cap="none" strike="noStrike">
                  <a:solidFill>
                    <a:schemeClr val="dk1"/>
                  </a:solidFill>
                  <a:latin typeface="Consolas"/>
                  <a:ea typeface="Consolas"/>
                  <a:cs typeface="Consolas"/>
                  <a:sym typeface="Consolas"/>
                </a:rPr>
                <a:t> = total / number_of_grades</a:t>
              </a:r>
              <a:endParaRPr i="0" sz="1600" u="none" cap="none" strike="noStrike">
                <a:solidFill>
                  <a:schemeClr val="dk1"/>
                </a:solidFill>
                <a:latin typeface="Consolas"/>
                <a:ea typeface="Consolas"/>
                <a:cs typeface="Consolas"/>
                <a:sym typeface="Consolas"/>
              </a:endParaRPr>
            </a:p>
            <a:p>
              <a:pPr indent="-228600" lvl="0" marL="34290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192" name="Google Shape;192;p23"/>
          <p:cNvSpPr txBox="1"/>
          <p:nvPr>
            <p:ph type="title"/>
          </p:nvPr>
        </p:nvSpPr>
        <p:spPr>
          <a:xfrm>
            <a:off x="493900" y="67657"/>
            <a:ext cx="6697200" cy="43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AU"/>
              <a:t>Parallel execution of a program</a:t>
            </a:r>
            <a:endParaRPr/>
          </a:p>
        </p:txBody>
      </p:sp>
      <p:sp>
        <p:nvSpPr>
          <p:cNvPr id="193" name="Google Shape;193;p23"/>
          <p:cNvSpPr txBox="1"/>
          <p:nvPr>
            <p:ph idx="2" type="subTitle"/>
          </p:nvPr>
        </p:nvSpPr>
        <p:spPr>
          <a:xfrm>
            <a:off x="534325" y="398633"/>
            <a:ext cx="6539400" cy="321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AU">
                <a:solidFill>
                  <a:schemeClr val="hlink"/>
                </a:solidFill>
                <a:uFill>
                  <a:noFill/>
                </a:uFill>
                <a:hlinkClick r:id="rId3"/>
              </a:rPr>
              <a:t>https://en.wikipedia.org/wiki/Divide-and-conquer_algorithm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idx="1" type="body"/>
          </p:nvPr>
        </p:nvSpPr>
        <p:spPr>
          <a:xfrm>
            <a:off x="360000" y="1032278"/>
            <a:ext cx="7093800" cy="3417000"/>
          </a:xfrm>
          <a:prstGeom prst="rect">
            <a:avLst/>
          </a:prstGeom>
          <a:noFill/>
          <a:ln>
            <a:noFill/>
          </a:ln>
        </p:spPr>
        <p:txBody>
          <a:bodyPr anchorCtr="0" anchor="t" bIns="0" lIns="0" spcFirstLastPara="1" rIns="0" wrap="square" tIns="0">
            <a:noAutofit/>
          </a:bodyPr>
          <a:lstStyle/>
          <a:p>
            <a:pPr indent="-342900" lvl="0" marL="342900" rtl="0" algn="l">
              <a:lnSpc>
                <a:spcPct val="90000"/>
              </a:lnSpc>
              <a:spcBef>
                <a:spcPts val="0"/>
              </a:spcBef>
              <a:spcAft>
                <a:spcPts val="0"/>
              </a:spcAft>
              <a:buClr>
                <a:schemeClr val="dk1"/>
              </a:buClr>
              <a:buSzPts val="2400"/>
              <a:buFont typeface="Nunito"/>
              <a:buChar char="•"/>
            </a:pPr>
            <a:r>
              <a:rPr lang="en-AU">
                <a:latin typeface="Nunito"/>
                <a:ea typeface="Nunito"/>
                <a:cs typeface="Nunito"/>
                <a:sym typeface="Nunito"/>
              </a:rPr>
              <a:t>Executing portions of program simultaneously</a:t>
            </a:r>
            <a:endParaRPr>
              <a:latin typeface="Nunito"/>
              <a:ea typeface="Nunito"/>
              <a:cs typeface="Nunito"/>
              <a:sym typeface="Nunito"/>
            </a:endParaRPr>
          </a:p>
          <a:p>
            <a:pPr indent="-342900" lvl="0" marL="342900" rtl="0" algn="l">
              <a:lnSpc>
                <a:spcPct val="90000"/>
              </a:lnSpc>
              <a:spcBef>
                <a:spcPts val="1163"/>
              </a:spcBef>
              <a:spcAft>
                <a:spcPts val="0"/>
              </a:spcAft>
              <a:buClr>
                <a:schemeClr val="dk1"/>
              </a:buClr>
              <a:buSzPts val="2400"/>
              <a:buFont typeface="Nunito"/>
              <a:buChar char="•"/>
            </a:pPr>
            <a:r>
              <a:rPr lang="en-AU">
                <a:latin typeface="Nunito"/>
                <a:ea typeface="Nunito"/>
                <a:cs typeface="Nunito"/>
                <a:sym typeface="Nunito"/>
              </a:rPr>
              <a:t>Possible when we have many processors (cores/CPUs)</a:t>
            </a:r>
            <a:endParaRPr>
              <a:latin typeface="Nunito"/>
              <a:ea typeface="Nunito"/>
              <a:cs typeface="Nunito"/>
              <a:sym typeface="Nunito"/>
            </a:endParaRPr>
          </a:p>
          <a:p>
            <a:pPr indent="-342900" lvl="0" marL="342900" rtl="0" algn="l">
              <a:lnSpc>
                <a:spcPct val="90000"/>
              </a:lnSpc>
              <a:spcBef>
                <a:spcPts val="1163"/>
              </a:spcBef>
              <a:spcAft>
                <a:spcPts val="0"/>
              </a:spcAft>
              <a:buClr>
                <a:schemeClr val="dk1"/>
              </a:buClr>
              <a:buSzPts val="2400"/>
              <a:buFont typeface="Nunito"/>
              <a:buChar char="•"/>
            </a:pPr>
            <a:r>
              <a:rPr lang="en-AU">
                <a:latin typeface="Nunito"/>
                <a:ea typeface="Nunito"/>
                <a:cs typeface="Nunito"/>
                <a:sym typeface="Nunito"/>
              </a:rPr>
              <a:t>Capacity dependent on structure of both hardware AND  software</a:t>
            </a:r>
            <a:endParaRPr>
              <a:latin typeface="Nunito"/>
              <a:ea typeface="Nunito"/>
              <a:cs typeface="Nunito"/>
              <a:sym typeface="Nunito"/>
            </a:endParaRPr>
          </a:p>
          <a:p>
            <a:pPr indent="-342900" lvl="0" marL="342900" rtl="0" algn="l">
              <a:lnSpc>
                <a:spcPct val="90000"/>
              </a:lnSpc>
              <a:spcBef>
                <a:spcPts val="1163"/>
              </a:spcBef>
              <a:spcAft>
                <a:spcPts val="0"/>
              </a:spcAft>
              <a:buClr>
                <a:schemeClr val="dk1"/>
              </a:buClr>
              <a:buSzPts val="2400"/>
              <a:buFont typeface="Nunito"/>
              <a:buChar char="•"/>
            </a:pPr>
            <a:r>
              <a:rPr lang="en-AU">
                <a:latin typeface="Nunito"/>
                <a:ea typeface="Nunito"/>
                <a:cs typeface="Nunito"/>
                <a:sym typeface="Nunito"/>
              </a:rPr>
              <a:t>Requires overall control/coordination mechanism</a:t>
            </a:r>
            <a:endParaRPr>
              <a:latin typeface="Nunito"/>
              <a:ea typeface="Nunito"/>
              <a:cs typeface="Nunito"/>
              <a:sym typeface="Nunito"/>
            </a:endParaRPr>
          </a:p>
          <a:p>
            <a:pPr indent="-250823" lvl="2" marL="503238" rtl="0" algn="l">
              <a:lnSpc>
                <a:spcPct val="90000"/>
              </a:lnSpc>
              <a:spcBef>
                <a:spcPts val="563"/>
              </a:spcBef>
              <a:spcAft>
                <a:spcPts val="0"/>
              </a:spcAft>
              <a:buSzPts val="2000"/>
              <a:buFont typeface="Nunito"/>
              <a:buChar char="–"/>
            </a:pPr>
            <a:r>
              <a:rPr lang="en-AU">
                <a:latin typeface="Nunito"/>
                <a:ea typeface="Nunito"/>
                <a:cs typeface="Nunito"/>
                <a:sym typeface="Nunito"/>
              </a:rPr>
              <a:t>i.e. message passing in MPI / threading / OpenMP</a:t>
            </a:r>
            <a:endParaRPr>
              <a:latin typeface="Nunito"/>
              <a:ea typeface="Nunito"/>
              <a:cs typeface="Nunito"/>
              <a:sym typeface="Nunito"/>
            </a:endParaRPr>
          </a:p>
        </p:txBody>
      </p:sp>
      <p:sp>
        <p:nvSpPr>
          <p:cNvPr id="199" name="Google Shape;199;p24"/>
          <p:cNvSpPr txBox="1"/>
          <p:nvPr>
            <p:ph type="title"/>
          </p:nvPr>
        </p:nvSpPr>
        <p:spPr>
          <a:xfrm>
            <a:off x="493900" y="67657"/>
            <a:ext cx="6697200" cy="43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AU"/>
              <a:t>Parallelism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5"/>
          <p:cNvSpPr txBox="1"/>
          <p:nvPr>
            <p:ph idx="1" type="body"/>
          </p:nvPr>
        </p:nvSpPr>
        <p:spPr>
          <a:xfrm>
            <a:off x="360000" y="1032278"/>
            <a:ext cx="7093800" cy="3417000"/>
          </a:xfrm>
          <a:prstGeom prst="rect">
            <a:avLst/>
          </a:prstGeom>
          <a:noFill/>
          <a:ln>
            <a:noFill/>
          </a:ln>
        </p:spPr>
        <p:txBody>
          <a:bodyPr anchorCtr="0" anchor="t" bIns="0" lIns="0" spcFirstLastPara="1" rIns="0" wrap="square" tIns="0">
            <a:noAutofit/>
          </a:bodyPr>
          <a:lstStyle/>
          <a:p>
            <a:pPr indent="-342900" lvl="0" marL="342900" rtl="0" algn="l">
              <a:lnSpc>
                <a:spcPct val="90000"/>
              </a:lnSpc>
              <a:spcBef>
                <a:spcPts val="0"/>
              </a:spcBef>
              <a:spcAft>
                <a:spcPts val="0"/>
              </a:spcAft>
              <a:buClr>
                <a:schemeClr val="dk1"/>
              </a:buClr>
              <a:buSzPts val="2400"/>
              <a:buFont typeface="Nunito"/>
              <a:buChar char="•"/>
            </a:pPr>
            <a:r>
              <a:rPr lang="en-AU">
                <a:latin typeface="Nunito"/>
                <a:ea typeface="Nunito"/>
                <a:cs typeface="Nunito"/>
                <a:sym typeface="Nunito"/>
              </a:rPr>
              <a:t>A cluster includes many connected nodes</a:t>
            </a:r>
            <a:endParaRPr>
              <a:latin typeface="Nunito"/>
              <a:ea typeface="Nunito"/>
              <a:cs typeface="Nunito"/>
              <a:sym typeface="Nunito"/>
            </a:endParaRPr>
          </a:p>
          <a:p>
            <a:pPr indent="-342900" lvl="0" marL="342900" rtl="0" algn="l">
              <a:lnSpc>
                <a:spcPct val="90000"/>
              </a:lnSpc>
              <a:spcBef>
                <a:spcPts val="1163"/>
              </a:spcBef>
              <a:spcAft>
                <a:spcPts val="0"/>
              </a:spcAft>
              <a:buClr>
                <a:schemeClr val="dk1"/>
              </a:buClr>
              <a:buSzPts val="2400"/>
              <a:buFont typeface="Nunito"/>
              <a:buChar char="•"/>
            </a:pPr>
            <a:r>
              <a:rPr lang="en-AU">
                <a:latin typeface="Nunito"/>
                <a:ea typeface="Nunito"/>
                <a:cs typeface="Nunito"/>
                <a:sym typeface="Nunito"/>
              </a:rPr>
              <a:t>Each node has RAM and multiple cores</a:t>
            </a:r>
            <a:endParaRPr>
              <a:latin typeface="Nunito"/>
              <a:ea typeface="Nunito"/>
              <a:cs typeface="Nunito"/>
              <a:sym typeface="Nunito"/>
            </a:endParaRPr>
          </a:p>
          <a:p>
            <a:pPr indent="-342900" lvl="0" marL="342900" rtl="0" algn="l">
              <a:lnSpc>
                <a:spcPct val="90000"/>
              </a:lnSpc>
              <a:spcBef>
                <a:spcPts val="1163"/>
              </a:spcBef>
              <a:spcAft>
                <a:spcPts val="0"/>
              </a:spcAft>
              <a:buSzPts val="2400"/>
              <a:buFont typeface="Nunito"/>
              <a:buChar char="•"/>
            </a:pPr>
            <a:r>
              <a:rPr lang="en-AU">
                <a:latin typeface="Nunito"/>
                <a:ea typeface="Nunito"/>
                <a:cs typeface="Nunito"/>
                <a:sym typeface="Nunito"/>
              </a:rPr>
              <a:t>Some nodes have GPUs</a:t>
            </a:r>
            <a:endParaRPr>
              <a:latin typeface="Nunito"/>
              <a:ea typeface="Nunito"/>
              <a:cs typeface="Nunito"/>
              <a:sym typeface="Nunito"/>
            </a:endParaRPr>
          </a:p>
          <a:p>
            <a:pPr indent="-342900" lvl="0" marL="342900" rtl="0" algn="l">
              <a:lnSpc>
                <a:spcPct val="90000"/>
              </a:lnSpc>
              <a:spcBef>
                <a:spcPts val="1163"/>
              </a:spcBef>
              <a:spcAft>
                <a:spcPts val="0"/>
              </a:spcAft>
              <a:buClr>
                <a:schemeClr val="dk1"/>
              </a:buClr>
              <a:buSzPts val="2400"/>
              <a:buFont typeface="Nunito"/>
              <a:buChar char="•"/>
            </a:pPr>
            <a:r>
              <a:rPr lang="en-AU">
                <a:latin typeface="Nunito"/>
                <a:ea typeface="Nunito"/>
                <a:cs typeface="Nunito"/>
                <a:sym typeface="Nunito"/>
              </a:rPr>
              <a:t>Work of job is partitioned into smaller jobs</a:t>
            </a:r>
            <a:endParaRPr>
              <a:latin typeface="Nunito"/>
              <a:ea typeface="Nunito"/>
              <a:cs typeface="Nunito"/>
              <a:sym typeface="Nunito"/>
            </a:endParaRPr>
          </a:p>
          <a:p>
            <a:pPr indent="-342900" lvl="0" marL="342900" rtl="0" algn="l">
              <a:lnSpc>
                <a:spcPct val="90000"/>
              </a:lnSpc>
              <a:spcBef>
                <a:spcPts val="1163"/>
              </a:spcBef>
              <a:spcAft>
                <a:spcPts val="0"/>
              </a:spcAft>
              <a:buClr>
                <a:schemeClr val="dk1"/>
              </a:buClr>
              <a:buSzPts val="2400"/>
              <a:buFont typeface="Nunito"/>
              <a:buChar char="•"/>
            </a:pPr>
            <a:r>
              <a:rPr lang="en-AU">
                <a:latin typeface="Nunito"/>
                <a:ea typeface="Nunito"/>
                <a:cs typeface="Nunito"/>
                <a:sym typeface="Nunito"/>
              </a:rPr>
              <a:t>Sometimes with a partition of the data</a:t>
            </a:r>
            <a:endParaRPr>
              <a:latin typeface="Nunito"/>
              <a:ea typeface="Nunito"/>
              <a:cs typeface="Nunito"/>
              <a:sym typeface="Nunito"/>
            </a:endParaRPr>
          </a:p>
        </p:txBody>
      </p:sp>
      <p:sp>
        <p:nvSpPr>
          <p:cNvPr id="205" name="Google Shape;205;p25"/>
          <p:cNvSpPr txBox="1"/>
          <p:nvPr>
            <p:ph type="title"/>
          </p:nvPr>
        </p:nvSpPr>
        <p:spPr>
          <a:xfrm>
            <a:off x="493900" y="67657"/>
            <a:ext cx="6697200" cy="43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AU"/>
              <a:t>Parallelism on the ilifu cluster</a:t>
            </a:r>
            <a:endParaRPr/>
          </a:p>
        </p:txBody>
      </p:sp>
      <p:sp>
        <p:nvSpPr>
          <p:cNvPr id="206" name="Google Shape;206;p25"/>
          <p:cNvSpPr txBox="1"/>
          <p:nvPr>
            <p:ph idx="2" type="subTitle"/>
          </p:nvPr>
        </p:nvSpPr>
        <p:spPr>
          <a:xfrm>
            <a:off x="534325" y="398633"/>
            <a:ext cx="6539400" cy="321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6"/>
          <p:cNvSpPr txBox="1"/>
          <p:nvPr>
            <p:ph idx="1" type="body"/>
          </p:nvPr>
        </p:nvSpPr>
        <p:spPr>
          <a:xfrm>
            <a:off x="360000" y="839200"/>
            <a:ext cx="6967800" cy="4509000"/>
          </a:xfrm>
          <a:prstGeom prst="rect">
            <a:avLst/>
          </a:prstGeom>
          <a:noFill/>
          <a:ln>
            <a:noFill/>
          </a:ln>
        </p:spPr>
        <p:txBody>
          <a:bodyPr anchorCtr="0" anchor="t" bIns="0" lIns="0" spcFirstLastPara="1" rIns="0" wrap="square" tIns="0">
            <a:noAutofit/>
          </a:bodyPr>
          <a:lstStyle/>
          <a:p>
            <a:pPr indent="-323850" lvl="0" marL="342900" rtl="0" algn="l">
              <a:lnSpc>
                <a:spcPct val="90000"/>
              </a:lnSpc>
              <a:spcBef>
                <a:spcPts val="0"/>
              </a:spcBef>
              <a:spcAft>
                <a:spcPts val="0"/>
              </a:spcAft>
              <a:buClr>
                <a:schemeClr val="dk1"/>
              </a:buClr>
              <a:buSzPts val="2100"/>
              <a:buFont typeface="Nunito"/>
              <a:buChar char="•"/>
            </a:pPr>
            <a:r>
              <a:rPr lang="en-AU" sz="1500">
                <a:latin typeface="Nunito"/>
                <a:ea typeface="Nunito"/>
                <a:cs typeface="Nunito"/>
                <a:sym typeface="Nunito"/>
              </a:rPr>
              <a:t>Can be achieved on a single machine / node</a:t>
            </a:r>
            <a:endParaRPr sz="1500">
              <a:latin typeface="Nunito"/>
              <a:ea typeface="Nunito"/>
              <a:cs typeface="Nunito"/>
              <a:sym typeface="Nunito"/>
            </a:endParaRPr>
          </a:p>
          <a:p>
            <a:pPr indent="-231773" lvl="2" marL="503238" rtl="0" algn="l">
              <a:lnSpc>
                <a:spcPct val="90000"/>
              </a:lnSpc>
              <a:spcBef>
                <a:spcPts val="563"/>
              </a:spcBef>
              <a:spcAft>
                <a:spcPts val="0"/>
              </a:spcAft>
              <a:buSzPts val="1700"/>
              <a:buFont typeface="Nunito"/>
              <a:buChar char="–"/>
            </a:pPr>
            <a:r>
              <a:rPr lang="en-AU" sz="1100">
                <a:latin typeface="Nunito"/>
                <a:ea typeface="Nunito"/>
                <a:cs typeface="Nunito"/>
                <a:sym typeface="Nunito"/>
              </a:rPr>
              <a:t>Distributes work over many CPUs</a:t>
            </a:r>
            <a:endParaRPr sz="1100">
              <a:latin typeface="Nunito"/>
              <a:ea typeface="Nunito"/>
              <a:cs typeface="Nunito"/>
              <a:sym typeface="Nunito"/>
            </a:endParaRPr>
          </a:p>
          <a:p>
            <a:pPr indent="-231773" lvl="2" marL="503237" rtl="0" algn="l">
              <a:lnSpc>
                <a:spcPct val="90000"/>
              </a:lnSpc>
              <a:spcBef>
                <a:spcPts val="563"/>
              </a:spcBef>
              <a:spcAft>
                <a:spcPts val="0"/>
              </a:spcAft>
              <a:buSzPts val="1700"/>
              <a:buFont typeface="Nunito"/>
              <a:buChar char="–"/>
            </a:pPr>
            <a:r>
              <a:rPr lang="en-AU" sz="1100">
                <a:latin typeface="Nunito"/>
                <a:ea typeface="Nunito"/>
                <a:cs typeface="Nunito"/>
                <a:sym typeface="Nunito"/>
              </a:rPr>
              <a:t>Typically implemented using threads / OpenMP</a:t>
            </a:r>
            <a:endParaRPr sz="1100">
              <a:latin typeface="Nunito"/>
              <a:ea typeface="Nunito"/>
              <a:cs typeface="Nunito"/>
              <a:sym typeface="Nunito"/>
            </a:endParaRPr>
          </a:p>
          <a:p>
            <a:pPr indent="-231773" lvl="2" marL="503238" rtl="0" algn="l">
              <a:lnSpc>
                <a:spcPct val="90000"/>
              </a:lnSpc>
              <a:spcBef>
                <a:spcPts val="563"/>
              </a:spcBef>
              <a:spcAft>
                <a:spcPts val="0"/>
              </a:spcAft>
              <a:buSzPts val="1700"/>
              <a:buFont typeface="Nunito"/>
              <a:buChar char="–"/>
            </a:pPr>
            <a:r>
              <a:rPr lang="en-AU" sz="1100">
                <a:latin typeface="Nunito"/>
                <a:ea typeface="Nunito"/>
                <a:cs typeface="Nunito"/>
                <a:sym typeface="Nunito"/>
              </a:rPr>
              <a:t>GPU</a:t>
            </a:r>
            <a:endParaRPr sz="1100">
              <a:latin typeface="Nunito"/>
              <a:ea typeface="Nunito"/>
              <a:cs typeface="Nunito"/>
              <a:sym typeface="Nunito"/>
            </a:endParaRPr>
          </a:p>
          <a:p>
            <a:pPr indent="-323850" lvl="0" marL="342900" rtl="0" algn="l">
              <a:lnSpc>
                <a:spcPct val="90000"/>
              </a:lnSpc>
              <a:spcBef>
                <a:spcPts val="1163"/>
              </a:spcBef>
              <a:spcAft>
                <a:spcPts val="0"/>
              </a:spcAft>
              <a:buClr>
                <a:schemeClr val="dk1"/>
              </a:buClr>
              <a:buSzPts val="2100"/>
              <a:buFont typeface="Nunito"/>
              <a:buChar char="•"/>
            </a:pPr>
            <a:r>
              <a:rPr lang="en-AU" sz="1500">
                <a:latin typeface="Nunito"/>
                <a:ea typeface="Nunito"/>
                <a:cs typeface="Nunito"/>
                <a:sym typeface="Nunito"/>
              </a:rPr>
              <a:t>Or over multiple machines / nodes</a:t>
            </a:r>
            <a:endParaRPr sz="1500">
              <a:latin typeface="Nunito"/>
              <a:ea typeface="Nunito"/>
              <a:cs typeface="Nunito"/>
              <a:sym typeface="Nunito"/>
            </a:endParaRPr>
          </a:p>
          <a:p>
            <a:pPr indent="-231773" lvl="2" marL="503238" rtl="0" algn="l">
              <a:lnSpc>
                <a:spcPct val="90000"/>
              </a:lnSpc>
              <a:spcBef>
                <a:spcPts val="563"/>
              </a:spcBef>
              <a:spcAft>
                <a:spcPts val="0"/>
              </a:spcAft>
              <a:buSzPts val="1700"/>
              <a:buFont typeface="Nunito"/>
              <a:buChar char="–"/>
            </a:pPr>
            <a:r>
              <a:rPr lang="en-AU" sz="1100">
                <a:latin typeface="Nunito"/>
                <a:ea typeface="Nunito"/>
                <a:cs typeface="Nunito"/>
                <a:sym typeface="Nunito"/>
              </a:rPr>
              <a:t>Distributes work over many tasks, over 1+ nodes</a:t>
            </a:r>
            <a:endParaRPr sz="1100">
              <a:latin typeface="Nunito"/>
              <a:ea typeface="Nunito"/>
              <a:cs typeface="Nunito"/>
              <a:sym typeface="Nunito"/>
            </a:endParaRPr>
          </a:p>
          <a:p>
            <a:pPr indent="-231773" lvl="2" marL="503238" rtl="0" algn="l">
              <a:lnSpc>
                <a:spcPct val="90000"/>
              </a:lnSpc>
              <a:spcBef>
                <a:spcPts val="563"/>
              </a:spcBef>
              <a:spcAft>
                <a:spcPts val="0"/>
              </a:spcAft>
              <a:buSzPts val="1700"/>
              <a:buFont typeface="Nunito"/>
              <a:buChar char="–"/>
            </a:pPr>
            <a:r>
              <a:rPr lang="en-AU" sz="1100">
                <a:latin typeface="Nunito"/>
                <a:ea typeface="Nunito"/>
                <a:cs typeface="Nunito"/>
                <a:sym typeface="Nunito"/>
              </a:rPr>
              <a:t>Each given amount of memory to use</a:t>
            </a:r>
            <a:endParaRPr sz="1100">
              <a:latin typeface="Nunito"/>
              <a:ea typeface="Nunito"/>
              <a:cs typeface="Nunito"/>
              <a:sym typeface="Nunito"/>
            </a:endParaRPr>
          </a:p>
          <a:p>
            <a:pPr indent="-231773" lvl="2" marL="503238" rtl="0" algn="l">
              <a:lnSpc>
                <a:spcPct val="90000"/>
              </a:lnSpc>
              <a:spcBef>
                <a:spcPts val="563"/>
              </a:spcBef>
              <a:spcAft>
                <a:spcPts val="0"/>
              </a:spcAft>
              <a:buSzPts val="1700"/>
              <a:buFont typeface="Nunito"/>
              <a:buChar char="–"/>
            </a:pPr>
            <a:r>
              <a:rPr lang="en-AU" sz="1100">
                <a:latin typeface="Nunito"/>
                <a:ea typeface="Nunito"/>
                <a:cs typeface="Nunito"/>
                <a:sym typeface="Nunito"/>
              </a:rPr>
              <a:t>Generally requires a cluster</a:t>
            </a:r>
            <a:endParaRPr sz="1100">
              <a:latin typeface="Nunito"/>
              <a:ea typeface="Nunito"/>
              <a:cs typeface="Nunito"/>
              <a:sym typeface="Nunito"/>
            </a:endParaRPr>
          </a:p>
          <a:p>
            <a:pPr indent="-231773" lvl="2" marL="503238" rtl="0" algn="l">
              <a:lnSpc>
                <a:spcPct val="90000"/>
              </a:lnSpc>
              <a:spcBef>
                <a:spcPts val="563"/>
              </a:spcBef>
              <a:spcAft>
                <a:spcPts val="0"/>
              </a:spcAft>
              <a:buSzPts val="1700"/>
              <a:buFont typeface="Nunito"/>
              <a:buChar char="–"/>
            </a:pPr>
            <a:r>
              <a:rPr lang="en-AU" sz="1100">
                <a:latin typeface="Nunito"/>
                <a:ea typeface="Nunito"/>
                <a:cs typeface="Nunito"/>
                <a:sym typeface="Nunito"/>
              </a:rPr>
              <a:t>Requires a message passing interface (MPI) wrapper</a:t>
            </a:r>
            <a:endParaRPr sz="1100">
              <a:latin typeface="Nunito"/>
              <a:ea typeface="Nunito"/>
              <a:cs typeface="Nunito"/>
              <a:sym typeface="Nunito"/>
            </a:endParaRPr>
          </a:p>
          <a:p>
            <a:pPr indent="-232950" lvl="4" marL="1008000" rtl="0" algn="l">
              <a:lnSpc>
                <a:spcPct val="90000"/>
              </a:lnSpc>
              <a:spcBef>
                <a:spcPts val="563"/>
              </a:spcBef>
              <a:spcAft>
                <a:spcPts val="0"/>
              </a:spcAft>
              <a:buSzPts val="1500"/>
              <a:buFont typeface="Nunito"/>
              <a:buChar char="•"/>
            </a:pPr>
            <a:r>
              <a:rPr lang="en-AU" sz="1100">
                <a:latin typeface="Nunito"/>
                <a:ea typeface="Nunito"/>
                <a:cs typeface="Nunito"/>
                <a:sym typeface="Nunito"/>
              </a:rPr>
              <a:t>mpirun, srun (SLURM), mpicasa (CASA 5)</a:t>
            </a:r>
            <a:endParaRPr sz="1100">
              <a:latin typeface="Nunito"/>
              <a:ea typeface="Nunito"/>
              <a:cs typeface="Nunito"/>
              <a:sym typeface="Nunito"/>
            </a:endParaRPr>
          </a:p>
          <a:p>
            <a:pPr indent="-232949" lvl="4" marL="1008000" rtl="0" algn="l">
              <a:lnSpc>
                <a:spcPct val="90000"/>
              </a:lnSpc>
              <a:spcBef>
                <a:spcPts val="563"/>
              </a:spcBef>
              <a:spcAft>
                <a:spcPts val="0"/>
              </a:spcAft>
              <a:buSzPts val="1500"/>
              <a:buFont typeface="Nunito"/>
              <a:buChar char="•"/>
            </a:pPr>
            <a:r>
              <a:rPr lang="en-AU" sz="1100">
                <a:latin typeface="Nunito"/>
                <a:ea typeface="Nunito"/>
                <a:cs typeface="Nunito"/>
                <a:sym typeface="Nunito"/>
              </a:rPr>
              <a:t>Version of wrapper outside and inside container / venv must match</a:t>
            </a:r>
            <a:endParaRPr sz="1100">
              <a:latin typeface="Nunito"/>
              <a:ea typeface="Nunito"/>
              <a:cs typeface="Nunito"/>
              <a:sym typeface="Nunito"/>
            </a:endParaRPr>
          </a:p>
          <a:p>
            <a:pPr indent="-323850" lvl="0" marL="342900" rtl="0" algn="l">
              <a:lnSpc>
                <a:spcPct val="90000"/>
              </a:lnSpc>
              <a:spcBef>
                <a:spcPts val="1163"/>
              </a:spcBef>
              <a:spcAft>
                <a:spcPts val="0"/>
              </a:spcAft>
              <a:buClr>
                <a:schemeClr val="dk1"/>
              </a:buClr>
              <a:buSzPts val="2100"/>
              <a:buFont typeface="Nunito"/>
              <a:buChar char="•"/>
            </a:pPr>
            <a:r>
              <a:rPr lang="en-AU" sz="1500">
                <a:latin typeface="Nunito"/>
                <a:ea typeface="Nunito"/>
                <a:cs typeface="Nunito"/>
                <a:sym typeface="Nunito"/>
              </a:rPr>
              <a:t>Hybrid parallelism? (MPI + OpenMP / MPI + GPU / …)</a:t>
            </a:r>
            <a:endParaRPr sz="1500">
              <a:latin typeface="Nunito"/>
              <a:ea typeface="Nunito"/>
              <a:cs typeface="Nunito"/>
              <a:sym typeface="Nunito"/>
            </a:endParaRPr>
          </a:p>
          <a:p>
            <a:pPr indent="-323850" lvl="0" marL="342900" rtl="0" algn="l">
              <a:lnSpc>
                <a:spcPct val="90000"/>
              </a:lnSpc>
              <a:spcBef>
                <a:spcPts val="1163"/>
              </a:spcBef>
              <a:spcAft>
                <a:spcPts val="0"/>
              </a:spcAft>
              <a:buClr>
                <a:schemeClr val="dk1"/>
              </a:buClr>
              <a:buSzPts val="2100"/>
              <a:buFont typeface="Nunito"/>
              <a:buChar char="•"/>
            </a:pPr>
            <a:r>
              <a:rPr lang="en-AU" sz="1500">
                <a:latin typeface="Nunito"/>
                <a:ea typeface="Nunito"/>
                <a:cs typeface="Nunito"/>
                <a:sym typeface="Nunito"/>
              </a:rPr>
              <a:t>Managed on ilifu by SLURM</a:t>
            </a:r>
            <a:endParaRPr sz="1500">
              <a:latin typeface="Nunito"/>
              <a:ea typeface="Nunito"/>
              <a:cs typeface="Nunito"/>
              <a:sym typeface="Nunito"/>
            </a:endParaRPr>
          </a:p>
        </p:txBody>
      </p:sp>
      <p:pic>
        <p:nvPicPr>
          <p:cNvPr descr="A close up of a logo &#10; &#10;Description automatically generated" id="212" name="Google Shape;212;p26"/>
          <p:cNvPicPr preferRelativeResize="0"/>
          <p:nvPr/>
        </p:nvPicPr>
        <p:blipFill rotWithShape="1">
          <a:blip r:embed="rId3">
            <a:alphaModFix/>
          </a:blip>
          <a:srcRect b="0" l="0" r="0" t="0"/>
          <a:stretch/>
        </p:blipFill>
        <p:spPr>
          <a:xfrm>
            <a:off x="5473261" y="2375847"/>
            <a:ext cx="1324923" cy="1236595"/>
          </a:xfrm>
          <a:prstGeom prst="rect">
            <a:avLst/>
          </a:prstGeom>
          <a:noFill/>
          <a:ln>
            <a:noFill/>
          </a:ln>
        </p:spPr>
      </p:pic>
      <p:pic>
        <p:nvPicPr>
          <p:cNvPr id="213" name="Google Shape;213;p26"/>
          <p:cNvPicPr preferRelativeResize="0"/>
          <p:nvPr/>
        </p:nvPicPr>
        <p:blipFill rotWithShape="1">
          <a:blip r:embed="rId4">
            <a:alphaModFix/>
          </a:blip>
          <a:srcRect b="0" l="0" r="0" t="0"/>
          <a:stretch/>
        </p:blipFill>
        <p:spPr>
          <a:xfrm>
            <a:off x="6343871" y="1222541"/>
            <a:ext cx="1752600" cy="571500"/>
          </a:xfrm>
          <a:prstGeom prst="rect">
            <a:avLst/>
          </a:prstGeom>
          <a:noFill/>
          <a:ln>
            <a:noFill/>
          </a:ln>
        </p:spPr>
      </p:pic>
      <p:sp>
        <p:nvSpPr>
          <p:cNvPr id="214" name="Google Shape;214;p26"/>
          <p:cNvSpPr txBox="1"/>
          <p:nvPr>
            <p:ph type="title"/>
          </p:nvPr>
        </p:nvSpPr>
        <p:spPr>
          <a:xfrm>
            <a:off x="493900" y="67657"/>
            <a:ext cx="6697200" cy="43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AU"/>
              <a:t>Parallelism</a:t>
            </a:r>
            <a:endParaRPr/>
          </a:p>
        </p:txBody>
      </p:sp>
      <p:sp>
        <p:nvSpPr>
          <p:cNvPr id="215" name="Google Shape;215;p26"/>
          <p:cNvSpPr txBox="1"/>
          <p:nvPr>
            <p:ph idx="2" type="subTitle"/>
          </p:nvPr>
        </p:nvSpPr>
        <p:spPr>
          <a:xfrm>
            <a:off x="534325" y="398633"/>
            <a:ext cx="6539400" cy="321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7"/>
          <p:cNvSpPr txBox="1"/>
          <p:nvPr>
            <p:ph idx="1" type="body"/>
          </p:nvPr>
        </p:nvSpPr>
        <p:spPr>
          <a:xfrm>
            <a:off x="360000" y="796900"/>
            <a:ext cx="7179300" cy="4429200"/>
          </a:xfrm>
          <a:prstGeom prst="rect">
            <a:avLst/>
          </a:prstGeom>
          <a:noFill/>
          <a:ln>
            <a:noFill/>
          </a:ln>
        </p:spPr>
        <p:txBody>
          <a:bodyPr anchorCtr="0" anchor="t" bIns="0" lIns="0" spcFirstLastPara="1" rIns="0" wrap="square" tIns="0">
            <a:noAutofit/>
          </a:bodyPr>
          <a:lstStyle/>
          <a:p>
            <a:pPr indent="-336550" lvl="0" marL="342900" rtl="0" algn="l">
              <a:lnSpc>
                <a:spcPct val="90000"/>
              </a:lnSpc>
              <a:spcBef>
                <a:spcPts val="0"/>
              </a:spcBef>
              <a:spcAft>
                <a:spcPts val="0"/>
              </a:spcAft>
              <a:buSzPts val="2300"/>
              <a:buFont typeface="Nunito"/>
              <a:buChar char="•"/>
            </a:pPr>
            <a:r>
              <a:rPr lang="en-AU" sz="1700">
                <a:latin typeface="Nunito"/>
                <a:ea typeface="Nunito"/>
                <a:cs typeface="Nunito"/>
                <a:sym typeface="Nunito"/>
              </a:rPr>
              <a:t>Implementing a normal job in SLURM</a:t>
            </a:r>
            <a:endParaRPr sz="1700">
              <a:latin typeface="Nunito"/>
              <a:ea typeface="Nunito"/>
              <a:cs typeface="Nunito"/>
              <a:sym typeface="Nunito"/>
            </a:endParaRPr>
          </a:p>
          <a:p>
            <a:pPr indent="-244473" lvl="2" marL="503238" rtl="0" algn="l">
              <a:lnSpc>
                <a:spcPct val="90000"/>
              </a:lnSpc>
              <a:spcBef>
                <a:spcPts val="563"/>
              </a:spcBef>
              <a:spcAft>
                <a:spcPts val="0"/>
              </a:spcAft>
              <a:buClr>
                <a:schemeClr val="dk1"/>
              </a:buClr>
              <a:buSzPts val="1900"/>
              <a:buFont typeface="Nunito"/>
              <a:buChar char="–"/>
            </a:pPr>
            <a:r>
              <a:rPr lang="en-AU" sz="1300">
                <a:latin typeface="Nunito"/>
                <a:ea typeface="Nunito"/>
                <a:cs typeface="Nunito"/>
                <a:sym typeface="Nunito"/>
              </a:rPr>
              <a:t>Will only use 1 CPU, 1 task, and 1 node</a:t>
            </a:r>
            <a:endParaRPr sz="1300">
              <a:latin typeface="Nunito"/>
              <a:ea typeface="Nunito"/>
              <a:cs typeface="Nunito"/>
              <a:sym typeface="Nunito"/>
            </a:endParaRPr>
          </a:p>
          <a:p>
            <a:pPr indent="-244473" lvl="2" marL="503238" rtl="0" algn="l">
              <a:lnSpc>
                <a:spcPct val="90000"/>
              </a:lnSpc>
              <a:spcBef>
                <a:spcPts val="563"/>
              </a:spcBef>
              <a:spcAft>
                <a:spcPts val="0"/>
              </a:spcAft>
              <a:buClr>
                <a:schemeClr val="dk1"/>
              </a:buClr>
              <a:buSzPts val="1900"/>
              <a:buFont typeface="Nunito"/>
              <a:buChar char="–"/>
            </a:pPr>
            <a:r>
              <a:rPr lang="en-AU" sz="1300">
                <a:latin typeface="Nunito"/>
                <a:ea typeface="Nunito"/>
                <a:cs typeface="Nunito"/>
                <a:sym typeface="Nunito"/>
              </a:rPr>
              <a:t>Default for many processes</a:t>
            </a:r>
            <a:endParaRPr sz="1300">
              <a:latin typeface="Nunito"/>
              <a:ea typeface="Nunito"/>
              <a:cs typeface="Nunito"/>
              <a:sym typeface="Nunito"/>
            </a:endParaRPr>
          </a:p>
          <a:p>
            <a:pPr indent="-336550" lvl="0" marL="342900" rtl="0" algn="l">
              <a:lnSpc>
                <a:spcPct val="90000"/>
              </a:lnSpc>
              <a:spcBef>
                <a:spcPts val="1163"/>
              </a:spcBef>
              <a:spcAft>
                <a:spcPts val="0"/>
              </a:spcAft>
              <a:buSzPts val="2300"/>
              <a:buFont typeface="Nunito"/>
              <a:buChar char="•"/>
            </a:pPr>
            <a:r>
              <a:rPr lang="en-AU" sz="1700">
                <a:latin typeface="Nunito"/>
                <a:ea typeface="Nunito"/>
                <a:cs typeface="Nunito"/>
                <a:sym typeface="Nunito"/>
              </a:rPr>
              <a:t>Implementing a threading / OpenMP job in SLURM</a:t>
            </a:r>
            <a:endParaRPr sz="1700">
              <a:latin typeface="Nunito"/>
              <a:ea typeface="Nunito"/>
              <a:cs typeface="Nunito"/>
              <a:sym typeface="Nunito"/>
            </a:endParaRPr>
          </a:p>
          <a:p>
            <a:pPr indent="-244473" lvl="2" marL="503238" rtl="0" algn="l">
              <a:lnSpc>
                <a:spcPct val="90000"/>
              </a:lnSpc>
              <a:spcBef>
                <a:spcPts val="563"/>
              </a:spcBef>
              <a:spcAft>
                <a:spcPts val="0"/>
              </a:spcAft>
              <a:buClr>
                <a:schemeClr val="dk1"/>
              </a:buClr>
              <a:buSzPts val="1900"/>
              <a:buFont typeface="Nunito"/>
              <a:buChar char="–"/>
            </a:pPr>
            <a:r>
              <a:rPr lang="en-AU" sz="1300">
                <a:latin typeface="Nunito"/>
                <a:ea typeface="Nunito"/>
                <a:cs typeface="Nunito"/>
                <a:sym typeface="Nunito"/>
              </a:rPr>
              <a:t>Need to use &gt;1 CPU, while nodes &amp; tasks must be 1 (unless also using MPI)</a:t>
            </a:r>
            <a:endParaRPr sz="1300">
              <a:latin typeface="Nunito"/>
              <a:ea typeface="Nunito"/>
              <a:cs typeface="Nunito"/>
              <a:sym typeface="Nunito"/>
            </a:endParaRPr>
          </a:p>
          <a:p>
            <a:pPr indent="-252000" lvl="4" marL="1008000" rtl="0" algn="l">
              <a:lnSpc>
                <a:spcPct val="90000"/>
              </a:lnSpc>
              <a:spcBef>
                <a:spcPts val="563"/>
              </a:spcBef>
              <a:spcAft>
                <a:spcPts val="0"/>
              </a:spcAft>
              <a:buClr>
                <a:schemeClr val="dk1"/>
              </a:buClr>
              <a:buSzPts val="1800"/>
              <a:buChar char="•"/>
            </a:pPr>
            <a:r>
              <a:rPr lang="en-AU" sz="1300">
                <a:solidFill>
                  <a:schemeClr val="dk1"/>
                </a:solidFill>
                <a:latin typeface="Consolas"/>
                <a:ea typeface="Consolas"/>
                <a:cs typeface="Consolas"/>
                <a:sym typeface="Consolas"/>
              </a:rPr>
              <a:t>cpus-per-task</a:t>
            </a:r>
            <a:r>
              <a:rPr lang="en-AU" sz="1900">
                <a:solidFill>
                  <a:schemeClr val="dk1"/>
                </a:solidFill>
                <a:latin typeface="Nunito"/>
                <a:ea typeface="Nunito"/>
                <a:cs typeface="Nunito"/>
                <a:sym typeface="Nunito"/>
              </a:rPr>
              <a:t> (not inherited from </a:t>
            </a:r>
            <a:r>
              <a:rPr lang="en-AU" sz="1900">
                <a:solidFill>
                  <a:schemeClr val="dk1"/>
                </a:solidFill>
                <a:latin typeface="Consolas"/>
                <a:ea typeface="Consolas"/>
                <a:cs typeface="Consolas"/>
                <a:sym typeface="Consolas"/>
              </a:rPr>
              <a:t>#SBATCH</a:t>
            </a:r>
            <a:r>
              <a:rPr lang="en-AU" sz="1900">
                <a:solidFill>
                  <a:schemeClr val="dk1"/>
                </a:solidFill>
                <a:latin typeface="Nunito"/>
                <a:ea typeface="Nunito"/>
                <a:cs typeface="Nunito"/>
                <a:sym typeface="Nunito"/>
              </a:rPr>
              <a:t>)</a:t>
            </a:r>
            <a:endParaRPr sz="1300">
              <a:solidFill>
                <a:schemeClr val="dk1"/>
              </a:solidFill>
              <a:latin typeface="Nunito"/>
              <a:ea typeface="Nunito"/>
              <a:cs typeface="Nunito"/>
              <a:sym typeface="Nunito"/>
            </a:endParaRPr>
          </a:p>
          <a:p>
            <a:pPr indent="-245650" lvl="4" marL="1008000" rtl="0" algn="l">
              <a:lnSpc>
                <a:spcPct val="90000"/>
              </a:lnSpc>
              <a:spcBef>
                <a:spcPts val="563"/>
              </a:spcBef>
              <a:spcAft>
                <a:spcPts val="0"/>
              </a:spcAft>
              <a:buClr>
                <a:schemeClr val="dk1"/>
              </a:buClr>
              <a:buSzPts val="1700"/>
              <a:buChar char="•"/>
            </a:pPr>
            <a:r>
              <a:rPr lang="en-AU" sz="1300">
                <a:solidFill>
                  <a:schemeClr val="dk1"/>
                </a:solidFill>
                <a:latin typeface="Nunito"/>
                <a:ea typeface="Nunito"/>
                <a:cs typeface="Nunito"/>
                <a:sym typeface="Nunito"/>
              </a:rPr>
              <a:t>May need to </a:t>
            </a:r>
            <a:r>
              <a:rPr lang="en-AU" sz="1300">
                <a:solidFill>
                  <a:schemeClr val="dk1"/>
                </a:solidFill>
                <a:latin typeface="Consolas"/>
                <a:ea typeface="Consolas"/>
                <a:cs typeface="Consolas"/>
                <a:sym typeface="Consolas"/>
              </a:rPr>
              <a:t>export OMP_NUM_THREADS</a:t>
            </a:r>
            <a:endParaRPr sz="1300">
              <a:solidFill>
                <a:schemeClr val="dk1"/>
              </a:solidFill>
              <a:latin typeface="Consolas"/>
              <a:ea typeface="Consolas"/>
              <a:cs typeface="Consolas"/>
              <a:sym typeface="Consolas"/>
            </a:endParaRPr>
          </a:p>
          <a:p>
            <a:pPr indent="-336550" lvl="0" marL="342900" rtl="0" algn="l">
              <a:lnSpc>
                <a:spcPct val="90000"/>
              </a:lnSpc>
              <a:spcBef>
                <a:spcPts val="1163"/>
              </a:spcBef>
              <a:spcAft>
                <a:spcPts val="0"/>
              </a:spcAft>
              <a:buSzPts val="2300"/>
              <a:buFont typeface="Nunito"/>
              <a:buChar char="•"/>
            </a:pPr>
            <a:r>
              <a:rPr lang="en-AU" sz="1700">
                <a:latin typeface="Nunito"/>
                <a:ea typeface="Nunito"/>
                <a:cs typeface="Nunito"/>
                <a:sym typeface="Nunito"/>
              </a:rPr>
              <a:t>Implementing an MPI job in SLURM</a:t>
            </a:r>
            <a:endParaRPr sz="1700">
              <a:latin typeface="Nunito"/>
              <a:ea typeface="Nunito"/>
              <a:cs typeface="Nunito"/>
              <a:sym typeface="Nunito"/>
            </a:endParaRPr>
          </a:p>
          <a:p>
            <a:pPr indent="-244473" lvl="2" marL="503238" rtl="0" algn="l">
              <a:lnSpc>
                <a:spcPct val="90000"/>
              </a:lnSpc>
              <a:spcBef>
                <a:spcPts val="563"/>
              </a:spcBef>
              <a:spcAft>
                <a:spcPts val="0"/>
              </a:spcAft>
              <a:buClr>
                <a:schemeClr val="dk1"/>
              </a:buClr>
              <a:buSzPts val="1900"/>
              <a:buFont typeface="Nunito"/>
              <a:buChar char="–"/>
            </a:pPr>
            <a:r>
              <a:rPr lang="en-AU" sz="1300">
                <a:latin typeface="Nunito"/>
                <a:ea typeface="Nunito"/>
                <a:cs typeface="Nunito"/>
                <a:sym typeface="Nunito"/>
              </a:rPr>
              <a:t>Need to use &gt;1 task, while nodes and CPUs can be 1</a:t>
            </a:r>
            <a:endParaRPr sz="1300">
              <a:latin typeface="Nunito"/>
              <a:ea typeface="Nunito"/>
              <a:cs typeface="Nunito"/>
              <a:sym typeface="Nunito"/>
            </a:endParaRPr>
          </a:p>
          <a:p>
            <a:pPr indent="-245650" lvl="4" marL="1008000" rtl="0" algn="l">
              <a:lnSpc>
                <a:spcPct val="90000"/>
              </a:lnSpc>
              <a:spcBef>
                <a:spcPts val="563"/>
              </a:spcBef>
              <a:spcAft>
                <a:spcPts val="0"/>
              </a:spcAft>
              <a:buClr>
                <a:schemeClr val="dk1"/>
              </a:buClr>
              <a:buSzPts val="1700"/>
              <a:buFont typeface="Nunito"/>
              <a:buChar char="•"/>
            </a:pPr>
            <a:r>
              <a:rPr lang="en-AU" sz="1300">
                <a:solidFill>
                  <a:schemeClr val="dk1"/>
                </a:solidFill>
                <a:latin typeface="Nunito"/>
                <a:ea typeface="Nunito"/>
                <a:cs typeface="Nunito"/>
                <a:sym typeface="Nunito"/>
              </a:rPr>
              <a:t>nodes, </a:t>
            </a:r>
            <a:r>
              <a:rPr lang="en-AU" sz="1300">
                <a:solidFill>
                  <a:schemeClr val="dk1"/>
                </a:solidFill>
                <a:latin typeface="Consolas"/>
                <a:ea typeface="Consolas"/>
                <a:cs typeface="Consolas"/>
                <a:sym typeface="Consolas"/>
              </a:rPr>
              <a:t>ntasks-per-node</a:t>
            </a:r>
            <a:r>
              <a:rPr lang="en-AU" sz="1300">
                <a:solidFill>
                  <a:schemeClr val="dk1"/>
                </a:solidFill>
                <a:latin typeface="Nunito"/>
                <a:ea typeface="Nunito"/>
                <a:cs typeface="Nunito"/>
                <a:sym typeface="Nunito"/>
              </a:rPr>
              <a:t>, </a:t>
            </a:r>
            <a:r>
              <a:rPr lang="en-AU" sz="1300">
                <a:solidFill>
                  <a:schemeClr val="dk1"/>
                </a:solidFill>
                <a:latin typeface="Consolas"/>
                <a:ea typeface="Consolas"/>
                <a:cs typeface="Consolas"/>
                <a:sym typeface="Consolas"/>
              </a:rPr>
              <a:t>cpus-per-task</a:t>
            </a:r>
            <a:endParaRPr sz="1300">
              <a:solidFill>
                <a:schemeClr val="dk1"/>
              </a:solidFill>
              <a:latin typeface="Consolas"/>
              <a:ea typeface="Consolas"/>
              <a:cs typeface="Consolas"/>
              <a:sym typeface="Consolas"/>
            </a:endParaRPr>
          </a:p>
          <a:p>
            <a:pPr indent="-245650" lvl="4" marL="1008000" rtl="0" algn="l">
              <a:lnSpc>
                <a:spcPct val="90000"/>
              </a:lnSpc>
              <a:spcBef>
                <a:spcPts val="563"/>
              </a:spcBef>
              <a:spcAft>
                <a:spcPts val="0"/>
              </a:spcAft>
              <a:buClr>
                <a:schemeClr val="dk1"/>
              </a:buClr>
              <a:buSzPts val="1700"/>
              <a:buFont typeface="Nunito"/>
              <a:buChar char="•"/>
            </a:pPr>
            <a:r>
              <a:rPr lang="en-AU" sz="1300">
                <a:solidFill>
                  <a:schemeClr val="dk1"/>
                </a:solidFill>
                <a:latin typeface="Nunito"/>
                <a:ea typeface="Nunito"/>
                <a:cs typeface="Nunito"/>
                <a:sym typeface="Nunito"/>
              </a:rPr>
              <a:t>Best to wrap singularity in MPI call</a:t>
            </a:r>
            <a:endParaRPr sz="1300">
              <a:solidFill>
                <a:schemeClr val="dk1"/>
              </a:solidFill>
              <a:latin typeface="Nunito"/>
              <a:ea typeface="Nunito"/>
              <a:cs typeface="Nunito"/>
              <a:sym typeface="Nunito"/>
            </a:endParaRPr>
          </a:p>
          <a:p>
            <a:pPr indent="-336550" lvl="0" marL="342900" rtl="0" algn="l">
              <a:lnSpc>
                <a:spcPct val="90000"/>
              </a:lnSpc>
              <a:spcBef>
                <a:spcPts val="1163"/>
              </a:spcBef>
              <a:spcAft>
                <a:spcPts val="0"/>
              </a:spcAft>
              <a:buClr>
                <a:schemeClr val="dk1"/>
              </a:buClr>
              <a:buSzPts val="2300"/>
              <a:buFont typeface="Nunito"/>
              <a:buChar char="•"/>
            </a:pPr>
            <a:r>
              <a:rPr lang="en-AU" sz="1700">
                <a:latin typeface="Nunito"/>
                <a:ea typeface="Nunito"/>
                <a:cs typeface="Nunito"/>
                <a:sym typeface="Nunito"/>
              </a:rPr>
              <a:t>Cannot exceed 32 CPUs (or tasks) per node</a:t>
            </a:r>
            <a:endParaRPr sz="1700">
              <a:latin typeface="Nunito"/>
              <a:ea typeface="Nunito"/>
              <a:cs typeface="Nunito"/>
              <a:sym typeface="Nunito"/>
            </a:endParaRPr>
          </a:p>
          <a:p>
            <a:pPr indent="-137700" lvl="4" marL="1008000" rtl="0" algn="l">
              <a:lnSpc>
                <a:spcPct val="90000"/>
              </a:lnSpc>
              <a:spcBef>
                <a:spcPts val="563"/>
              </a:spcBef>
              <a:spcAft>
                <a:spcPts val="0"/>
              </a:spcAft>
              <a:buSzPts val="1800"/>
              <a:buNone/>
            </a:pPr>
            <a:r>
              <a:t/>
            </a:r>
            <a:endParaRPr/>
          </a:p>
        </p:txBody>
      </p:sp>
      <p:sp>
        <p:nvSpPr>
          <p:cNvPr id="221" name="Google Shape;221;p27"/>
          <p:cNvSpPr txBox="1"/>
          <p:nvPr>
            <p:ph type="title"/>
          </p:nvPr>
        </p:nvSpPr>
        <p:spPr>
          <a:xfrm>
            <a:off x="493900" y="67657"/>
            <a:ext cx="6697200" cy="43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AU"/>
              <a:t>Parallelism</a:t>
            </a:r>
            <a:endParaRPr/>
          </a:p>
        </p:txBody>
      </p:sp>
      <p:sp>
        <p:nvSpPr>
          <p:cNvPr id="222" name="Google Shape;222;p27"/>
          <p:cNvSpPr txBox="1"/>
          <p:nvPr>
            <p:ph idx="2" type="subTitle"/>
          </p:nvPr>
        </p:nvSpPr>
        <p:spPr>
          <a:xfrm>
            <a:off x="534325" y="398633"/>
            <a:ext cx="6539400" cy="321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t/>
            </a:r>
            <a:endParaRPr/>
          </a:p>
        </p:txBody>
      </p:sp>
      <p:pic>
        <p:nvPicPr>
          <p:cNvPr id="223" name="Google Shape;223;p27"/>
          <p:cNvPicPr preferRelativeResize="0"/>
          <p:nvPr/>
        </p:nvPicPr>
        <p:blipFill>
          <a:blip r:embed="rId3">
            <a:alphaModFix/>
          </a:blip>
          <a:stretch>
            <a:fillRect/>
          </a:stretch>
        </p:blipFill>
        <p:spPr>
          <a:xfrm>
            <a:off x="7787600" y="1030875"/>
            <a:ext cx="1039775" cy="953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8"/>
          <p:cNvSpPr txBox="1"/>
          <p:nvPr>
            <p:ph idx="1" type="body"/>
          </p:nvPr>
        </p:nvSpPr>
        <p:spPr>
          <a:xfrm>
            <a:off x="360000" y="1319150"/>
            <a:ext cx="6069900" cy="16011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AU" sz="1600">
                <a:latin typeface="Consolas"/>
                <a:ea typeface="Consolas"/>
                <a:cs typeface="Consolas"/>
                <a:sym typeface="Consolas"/>
              </a:rPr>
              <a:t>--</a:t>
            </a:r>
            <a:r>
              <a:rPr lang="en-AU" sz="1600">
                <a:latin typeface="Consolas"/>
                <a:ea typeface="Consolas"/>
                <a:cs typeface="Consolas"/>
                <a:sym typeface="Consolas"/>
              </a:rPr>
              <a:t>nodes=              </a:t>
            </a:r>
            <a:r>
              <a:rPr lang="en-AU" sz="1200">
                <a:solidFill>
                  <a:schemeClr val="dk2"/>
                </a:solidFill>
                <a:latin typeface="Consolas"/>
                <a:ea typeface="Consolas"/>
                <a:cs typeface="Consolas"/>
                <a:sym typeface="Consolas"/>
              </a:rPr>
              <a:t># the number of nodes allocated to job</a:t>
            </a:r>
            <a:endParaRPr sz="1200">
              <a:solidFill>
                <a:schemeClr val="dk2"/>
              </a:solidFill>
              <a:latin typeface="Consolas"/>
              <a:ea typeface="Consolas"/>
              <a:cs typeface="Consolas"/>
              <a:sym typeface="Consolas"/>
            </a:endParaRPr>
          </a:p>
          <a:p>
            <a:pPr indent="0" lvl="0" marL="0" rtl="0" algn="l">
              <a:spcBef>
                <a:spcPts val="600"/>
              </a:spcBef>
              <a:spcAft>
                <a:spcPts val="0"/>
              </a:spcAft>
              <a:buNone/>
            </a:pPr>
            <a:r>
              <a:rPr lang="en-AU" sz="1600">
                <a:latin typeface="Consolas"/>
                <a:ea typeface="Consolas"/>
                <a:cs typeface="Consolas"/>
                <a:sym typeface="Consolas"/>
              </a:rPr>
              <a:t>--cpus-per-task=      </a:t>
            </a:r>
            <a:r>
              <a:rPr lang="en-AU" sz="1200">
                <a:solidFill>
                  <a:schemeClr val="dk2"/>
                </a:solidFill>
                <a:latin typeface="Consolas"/>
                <a:ea typeface="Consolas"/>
                <a:cs typeface="Consolas"/>
                <a:sym typeface="Consolas"/>
              </a:rPr>
              <a:t># number of cpus per task</a:t>
            </a:r>
            <a:endParaRPr sz="1200">
              <a:solidFill>
                <a:schemeClr val="dk2"/>
              </a:solidFill>
              <a:latin typeface="Consolas"/>
              <a:ea typeface="Consolas"/>
              <a:cs typeface="Consolas"/>
              <a:sym typeface="Consolas"/>
            </a:endParaRPr>
          </a:p>
          <a:p>
            <a:pPr indent="0" lvl="0" marL="0" rtl="0" algn="l">
              <a:spcBef>
                <a:spcPts val="600"/>
              </a:spcBef>
              <a:spcAft>
                <a:spcPts val="0"/>
              </a:spcAft>
              <a:buNone/>
            </a:pPr>
            <a:r>
              <a:rPr lang="en-AU" sz="1600">
                <a:latin typeface="Consolas"/>
                <a:ea typeface="Consolas"/>
                <a:cs typeface="Consolas"/>
                <a:sym typeface="Consolas"/>
              </a:rPr>
              <a:t>--mem-per-cpu=        </a:t>
            </a:r>
            <a:r>
              <a:rPr lang="en-AU" sz="1200">
                <a:solidFill>
                  <a:schemeClr val="dk2"/>
                </a:solidFill>
                <a:latin typeface="Consolas"/>
                <a:ea typeface="Consolas"/>
                <a:cs typeface="Consolas"/>
                <a:sym typeface="Consolas"/>
              </a:rPr>
              <a:t># memory per cpu</a:t>
            </a:r>
            <a:endParaRPr sz="1200">
              <a:solidFill>
                <a:schemeClr val="dk2"/>
              </a:solidFill>
              <a:latin typeface="Consolas"/>
              <a:ea typeface="Consolas"/>
              <a:cs typeface="Consolas"/>
              <a:sym typeface="Consolas"/>
            </a:endParaRPr>
          </a:p>
          <a:p>
            <a:pPr indent="0" lvl="0" marL="0" rtl="0" algn="l">
              <a:spcBef>
                <a:spcPts val="600"/>
              </a:spcBef>
              <a:spcAft>
                <a:spcPts val="0"/>
              </a:spcAft>
              <a:buNone/>
            </a:pPr>
            <a:r>
              <a:rPr lang="en-AU" sz="1600">
                <a:latin typeface="Consolas"/>
                <a:ea typeface="Consolas"/>
                <a:cs typeface="Consolas"/>
                <a:sym typeface="Consolas"/>
              </a:rPr>
              <a:t>--mem=                </a:t>
            </a:r>
            <a:r>
              <a:rPr lang="en-AU" sz="1200">
                <a:solidFill>
                  <a:schemeClr val="dk2"/>
                </a:solidFill>
                <a:latin typeface="Consolas"/>
                <a:ea typeface="Consolas"/>
                <a:cs typeface="Consolas"/>
                <a:sym typeface="Consolas"/>
              </a:rPr>
              <a:t># memory per node</a:t>
            </a:r>
            <a:endParaRPr sz="1200">
              <a:solidFill>
                <a:schemeClr val="dk2"/>
              </a:solidFill>
              <a:latin typeface="Consolas"/>
              <a:ea typeface="Consolas"/>
              <a:cs typeface="Consolas"/>
              <a:sym typeface="Consolas"/>
            </a:endParaRPr>
          </a:p>
          <a:p>
            <a:pPr indent="0" lvl="0" marL="0" rtl="0" algn="l">
              <a:spcBef>
                <a:spcPts val="600"/>
              </a:spcBef>
              <a:spcAft>
                <a:spcPts val="0"/>
              </a:spcAft>
              <a:buNone/>
            </a:pPr>
            <a:r>
              <a:rPr lang="en-AU" sz="1600">
                <a:latin typeface="Consolas"/>
                <a:ea typeface="Consolas"/>
                <a:cs typeface="Consolas"/>
                <a:sym typeface="Consolas"/>
              </a:rPr>
              <a:t>--ntasks-per-node=    </a:t>
            </a:r>
            <a:r>
              <a:rPr lang="en-AU" sz="1200">
                <a:solidFill>
                  <a:schemeClr val="dk2"/>
                </a:solidFill>
                <a:latin typeface="Consolas"/>
                <a:ea typeface="Consolas"/>
                <a:cs typeface="Consolas"/>
                <a:sym typeface="Consolas"/>
              </a:rPr>
              <a:t># number of tasks per node</a:t>
            </a:r>
            <a:endParaRPr sz="1200">
              <a:solidFill>
                <a:schemeClr val="dk2"/>
              </a:solidFill>
              <a:latin typeface="Consolas"/>
              <a:ea typeface="Consolas"/>
              <a:cs typeface="Consolas"/>
              <a:sym typeface="Consolas"/>
            </a:endParaRPr>
          </a:p>
          <a:p>
            <a:pPr indent="0" lvl="0" marL="0" rtl="0" algn="l">
              <a:spcBef>
                <a:spcPts val="600"/>
              </a:spcBef>
              <a:spcAft>
                <a:spcPts val="0"/>
              </a:spcAft>
              <a:buNone/>
            </a:pPr>
            <a:r>
              <a:t/>
            </a:r>
            <a:endParaRPr sz="1600">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t/>
            </a:r>
            <a:endParaRPr sz="1600">
              <a:latin typeface="Consolas"/>
              <a:ea typeface="Consolas"/>
              <a:cs typeface="Consolas"/>
              <a:sym typeface="Consolas"/>
            </a:endParaRPr>
          </a:p>
          <a:p>
            <a:pPr indent="0" lvl="0" marL="0" rtl="0" algn="l">
              <a:spcBef>
                <a:spcPts val="600"/>
              </a:spcBef>
              <a:spcAft>
                <a:spcPts val="0"/>
              </a:spcAft>
              <a:buNone/>
            </a:pPr>
            <a:r>
              <a:t/>
            </a:r>
            <a:endParaRPr sz="1600">
              <a:latin typeface="Consolas"/>
              <a:ea typeface="Consolas"/>
              <a:cs typeface="Consolas"/>
              <a:sym typeface="Consolas"/>
            </a:endParaRPr>
          </a:p>
        </p:txBody>
      </p:sp>
      <p:sp>
        <p:nvSpPr>
          <p:cNvPr id="230" name="Google Shape;230;p28"/>
          <p:cNvSpPr txBox="1"/>
          <p:nvPr>
            <p:ph type="title"/>
          </p:nvPr>
        </p:nvSpPr>
        <p:spPr>
          <a:xfrm>
            <a:off x="493900" y="67657"/>
            <a:ext cx="6697200" cy="43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AU"/>
              <a:t>SLURM parameters</a:t>
            </a:r>
            <a:endParaRPr/>
          </a:p>
          <a:p>
            <a:pPr indent="0" lvl="0" marL="0" rtl="0" algn="l">
              <a:spcBef>
                <a:spcPts val="0"/>
              </a:spcBef>
              <a:spcAft>
                <a:spcPts val="0"/>
              </a:spcAft>
              <a:buNone/>
            </a:pPr>
            <a:r>
              <a:t/>
            </a:r>
            <a:endParaRPr/>
          </a:p>
        </p:txBody>
      </p:sp>
      <p:sp>
        <p:nvSpPr>
          <p:cNvPr id="231" name="Google Shape;231;p28"/>
          <p:cNvSpPr txBox="1"/>
          <p:nvPr>
            <p:ph idx="2" type="subTitle"/>
          </p:nvPr>
        </p:nvSpPr>
        <p:spPr>
          <a:xfrm>
            <a:off x="534325" y="398633"/>
            <a:ext cx="6539400" cy="321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AU">
                <a:solidFill>
                  <a:schemeClr val="hlink"/>
                </a:solidFill>
                <a:uFill>
                  <a:noFill/>
                </a:uFill>
                <a:hlinkClick r:id="rId3"/>
              </a:rPr>
              <a:t>https://docs.ilifu.ac.za/#/getting_started/submit_job_slurm?id=customising-your-job-using-sbatchsrun-parameters</a:t>
            </a:r>
            <a:endParaRPr/>
          </a:p>
        </p:txBody>
      </p:sp>
      <p:pic>
        <p:nvPicPr>
          <p:cNvPr id="232" name="Google Shape;232;p28"/>
          <p:cNvPicPr preferRelativeResize="0"/>
          <p:nvPr/>
        </p:nvPicPr>
        <p:blipFill>
          <a:blip r:embed="rId4">
            <a:alphaModFix/>
          </a:blip>
          <a:stretch>
            <a:fillRect/>
          </a:stretch>
        </p:blipFill>
        <p:spPr>
          <a:xfrm>
            <a:off x="7787600" y="1030875"/>
            <a:ext cx="1039775" cy="953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txBox="1"/>
          <p:nvPr>
            <p:ph idx="1" type="body"/>
          </p:nvPr>
        </p:nvSpPr>
        <p:spPr>
          <a:xfrm>
            <a:off x="360000" y="788450"/>
            <a:ext cx="7017900" cy="3660900"/>
          </a:xfrm>
          <a:prstGeom prst="rect">
            <a:avLst/>
          </a:prstGeom>
          <a:noFill/>
          <a:ln>
            <a:noFill/>
          </a:ln>
        </p:spPr>
        <p:txBody>
          <a:bodyPr anchorCtr="0" anchor="t" bIns="0" lIns="0" spcFirstLastPara="1" rIns="0" wrap="square" tIns="0">
            <a:noAutofit/>
          </a:bodyPr>
          <a:lstStyle/>
          <a:p>
            <a:pPr indent="-323850" lvl="0" marL="342900" rtl="0" algn="l">
              <a:lnSpc>
                <a:spcPct val="90000"/>
              </a:lnSpc>
              <a:spcBef>
                <a:spcPts val="0"/>
              </a:spcBef>
              <a:spcAft>
                <a:spcPts val="0"/>
              </a:spcAft>
              <a:buClr>
                <a:schemeClr val="dk1"/>
              </a:buClr>
              <a:buSzPts val="2100"/>
              <a:buFont typeface="Nunito"/>
              <a:buChar char="•"/>
            </a:pPr>
            <a:r>
              <a:rPr lang="en-AU" sz="1500">
                <a:latin typeface="Nunito"/>
                <a:ea typeface="Nunito"/>
                <a:cs typeface="Nunito"/>
                <a:sym typeface="Nunito"/>
              </a:rPr>
              <a:t>If code is serial, i.e. doesn’t use OpenMP or MPI, increasing CPUs or nodes will not decrease execution time</a:t>
            </a:r>
            <a:endParaRPr sz="1500">
              <a:latin typeface="Nunito"/>
              <a:ea typeface="Nunito"/>
              <a:cs typeface="Nunito"/>
              <a:sym typeface="Nunito"/>
            </a:endParaRPr>
          </a:p>
          <a:p>
            <a:pPr indent="-190500" lvl="0" marL="342900" rtl="0" algn="l">
              <a:lnSpc>
                <a:spcPct val="90000"/>
              </a:lnSpc>
              <a:spcBef>
                <a:spcPts val="1163"/>
              </a:spcBef>
              <a:spcAft>
                <a:spcPts val="0"/>
              </a:spcAft>
              <a:buClr>
                <a:schemeClr val="dk1"/>
              </a:buClr>
              <a:buSzPts val="2400"/>
              <a:buFont typeface="Arial"/>
              <a:buNone/>
            </a:pPr>
            <a:r>
              <a:t/>
            </a:r>
            <a:endParaRPr sz="1500">
              <a:latin typeface="Nunito"/>
              <a:ea typeface="Nunito"/>
              <a:cs typeface="Nunito"/>
              <a:sym typeface="Nunito"/>
            </a:endParaRPr>
          </a:p>
          <a:p>
            <a:pPr indent="0" lvl="0" marL="0" rtl="0" algn="l">
              <a:lnSpc>
                <a:spcPct val="90000"/>
              </a:lnSpc>
              <a:spcBef>
                <a:spcPts val="1163"/>
              </a:spcBef>
              <a:spcAft>
                <a:spcPts val="0"/>
              </a:spcAft>
              <a:buClr>
                <a:schemeClr val="dk1"/>
              </a:buClr>
              <a:buSzPts val="2400"/>
              <a:buFont typeface="Arial"/>
              <a:buNone/>
            </a:pPr>
            <a:r>
              <a:t/>
            </a:r>
            <a:endParaRPr sz="1500">
              <a:latin typeface="Nunito"/>
              <a:ea typeface="Nunito"/>
              <a:cs typeface="Nunito"/>
              <a:sym typeface="Nunito"/>
            </a:endParaRPr>
          </a:p>
          <a:p>
            <a:pPr indent="0" lvl="0" marL="0" rtl="0" algn="l">
              <a:lnSpc>
                <a:spcPct val="90000"/>
              </a:lnSpc>
              <a:spcBef>
                <a:spcPts val="1163"/>
              </a:spcBef>
              <a:spcAft>
                <a:spcPts val="0"/>
              </a:spcAft>
              <a:buClr>
                <a:schemeClr val="dk1"/>
              </a:buClr>
              <a:buSzPts val="2400"/>
              <a:buFont typeface="Arial"/>
              <a:buNone/>
            </a:pPr>
            <a:r>
              <a:t/>
            </a:r>
            <a:endParaRPr sz="1500">
              <a:latin typeface="Nunito"/>
              <a:ea typeface="Nunito"/>
              <a:cs typeface="Nunito"/>
              <a:sym typeface="Nunito"/>
            </a:endParaRPr>
          </a:p>
          <a:p>
            <a:pPr indent="-323850" lvl="0" marL="342900" rtl="0" algn="l">
              <a:lnSpc>
                <a:spcPct val="90000"/>
              </a:lnSpc>
              <a:spcBef>
                <a:spcPts val="1163"/>
              </a:spcBef>
              <a:spcAft>
                <a:spcPts val="0"/>
              </a:spcAft>
              <a:buClr>
                <a:schemeClr val="dk1"/>
              </a:buClr>
              <a:buSzPts val="2100"/>
              <a:buFont typeface="Nunito"/>
              <a:buChar char="•"/>
            </a:pPr>
            <a:r>
              <a:rPr lang="en-AU" sz="1500">
                <a:latin typeface="Nunito"/>
                <a:ea typeface="Nunito"/>
                <a:cs typeface="Nunito"/>
                <a:sym typeface="Nunito"/>
              </a:rPr>
              <a:t>Using multiple CPUs within a node with OpenMP, where N is an optional number of CPUs (utilised by myscript.py)</a:t>
            </a:r>
            <a:endParaRPr sz="1500">
              <a:latin typeface="Nunito"/>
              <a:ea typeface="Nunito"/>
              <a:cs typeface="Nunito"/>
              <a:sym typeface="Nunito"/>
            </a:endParaRPr>
          </a:p>
          <a:p>
            <a:pPr indent="-190500" lvl="0" marL="342900" rtl="0" algn="l">
              <a:lnSpc>
                <a:spcPct val="90000"/>
              </a:lnSpc>
              <a:spcBef>
                <a:spcPts val="1163"/>
              </a:spcBef>
              <a:spcAft>
                <a:spcPts val="0"/>
              </a:spcAft>
              <a:buClr>
                <a:schemeClr val="dk1"/>
              </a:buClr>
              <a:buSzPts val="2400"/>
              <a:buFont typeface="Arial"/>
              <a:buNone/>
            </a:pPr>
            <a:r>
              <a:t/>
            </a:r>
            <a:endParaRPr sz="1500">
              <a:latin typeface="Nunito"/>
              <a:ea typeface="Nunito"/>
              <a:cs typeface="Nunito"/>
              <a:sym typeface="Nunito"/>
            </a:endParaRPr>
          </a:p>
          <a:p>
            <a:pPr indent="-190500" lvl="0" marL="342900" rtl="0" algn="l">
              <a:lnSpc>
                <a:spcPct val="90000"/>
              </a:lnSpc>
              <a:spcBef>
                <a:spcPts val="1163"/>
              </a:spcBef>
              <a:spcAft>
                <a:spcPts val="0"/>
              </a:spcAft>
              <a:buClr>
                <a:schemeClr val="dk1"/>
              </a:buClr>
              <a:buSzPts val="2400"/>
              <a:buFont typeface="Arial"/>
              <a:buNone/>
            </a:pPr>
            <a:r>
              <a:t/>
            </a:r>
            <a:endParaRPr sz="1500">
              <a:latin typeface="Nunito"/>
              <a:ea typeface="Nunito"/>
              <a:cs typeface="Nunito"/>
              <a:sym typeface="Nunito"/>
            </a:endParaRPr>
          </a:p>
          <a:p>
            <a:pPr indent="-190500" lvl="0" marL="342900" rtl="0" algn="l">
              <a:lnSpc>
                <a:spcPct val="90000"/>
              </a:lnSpc>
              <a:spcBef>
                <a:spcPts val="1163"/>
              </a:spcBef>
              <a:spcAft>
                <a:spcPts val="0"/>
              </a:spcAft>
              <a:buClr>
                <a:schemeClr val="dk1"/>
              </a:buClr>
              <a:buSzPts val="2400"/>
              <a:buFont typeface="Arial"/>
              <a:buNone/>
            </a:pPr>
            <a:r>
              <a:t/>
            </a:r>
            <a:endParaRPr sz="1500">
              <a:latin typeface="Nunito"/>
              <a:ea typeface="Nunito"/>
              <a:cs typeface="Nunito"/>
              <a:sym typeface="Nunito"/>
            </a:endParaRPr>
          </a:p>
          <a:p>
            <a:pPr indent="-190500" lvl="0" marL="342900" rtl="0" algn="l">
              <a:lnSpc>
                <a:spcPct val="90000"/>
              </a:lnSpc>
              <a:spcBef>
                <a:spcPts val="1163"/>
              </a:spcBef>
              <a:spcAft>
                <a:spcPts val="0"/>
              </a:spcAft>
              <a:buClr>
                <a:schemeClr val="dk1"/>
              </a:buClr>
              <a:buSzPts val="2400"/>
              <a:buFont typeface="Arial"/>
              <a:buNone/>
            </a:pPr>
            <a:r>
              <a:t/>
            </a:r>
            <a:endParaRPr i="1" sz="1500">
              <a:latin typeface="Nunito"/>
              <a:ea typeface="Nunito"/>
              <a:cs typeface="Nunito"/>
              <a:sym typeface="Nunito"/>
            </a:endParaRPr>
          </a:p>
          <a:p>
            <a:pPr indent="-323850" lvl="0" marL="342900" rtl="0" algn="l">
              <a:lnSpc>
                <a:spcPct val="90000"/>
              </a:lnSpc>
              <a:spcBef>
                <a:spcPts val="1163"/>
              </a:spcBef>
              <a:spcAft>
                <a:spcPts val="0"/>
              </a:spcAft>
              <a:buClr>
                <a:schemeClr val="dk1"/>
              </a:buClr>
              <a:buSzPts val="2100"/>
              <a:buFont typeface="Nunito"/>
              <a:buChar char="•"/>
            </a:pPr>
            <a:r>
              <a:rPr i="1" lang="en-AU" sz="1500">
                <a:latin typeface="Nunito"/>
                <a:ea typeface="Nunito"/>
                <a:cs typeface="Nunito"/>
                <a:sym typeface="Nunito"/>
              </a:rPr>
              <a:t>Note: The maximum number of CPUs per node (32) will not always give the maximum speedup</a:t>
            </a:r>
            <a:endParaRPr sz="1500">
              <a:latin typeface="Nunito"/>
              <a:ea typeface="Nunito"/>
              <a:cs typeface="Nunito"/>
              <a:sym typeface="Nunito"/>
            </a:endParaRPr>
          </a:p>
          <a:p>
            <a:pPr indent="0" lvl="0" marL="0" rtl="0" algn="l">
              <a:lnSpc>
                <a:spcPct val="90000"/>
              </a:lnSpc>
              <a:spcBef>
                <a:spcPts val="1163"/>
              </a:spcBef>
              <a:spcAft>
                <a:spcPts val="0"/>
              </a:spcAft>
              <a:buClr>
                <a:schemeClr val="dk1"/>
              </a:buClr>
              <a:buSzPts val="2400"/>
              <a:buNone/>
            </a:pPr>
            <a:r>
              <a:t/>
            </a:r>
            <a:endParaRPr sz="1500">
              <a:latin typeface="Nunito"/>
              <a:ea typeface="Nunito"/>
              <a:cs typeface="Nunito"/>
              <a:sym typeface="Nunito"/>
            </a:endParaRPr>
          </a:p>
        </p:txBody>
      </p:sp>
      <p:sp>
        <p:nvSpPr>
          <p:cNvPr id="238" name="Google Shape;238;p29"/>
          <p:cNvSpPr txBox="1"/>
          <p:nvPr/>
        </p:nvSpPr>
        <p:spPr>
          <a:xfrm>
            <a:off x="815225" y="1287250"/>
            <a:ext cx="6156300" cy="1231500"/>
          </a:xfrm>
          <a:prstGeom prst="rect">
            <a:avLst/>
          </a:prstGeom>
          <a:solidFill>
            <a:srgbClr val="DDDDDD"/>
          </a:solidFill>
          <a:ln cap="flat" cmpd="sng" w="25400">
            <a:solidFill>
              <a:srgbClr val="1E34A1"/>
            </a:solidFill>
            <a:prstDash val="solid"/>
            <a:round/>
            <a:headEnd len="sm" w="sm" type="none"/>
            <a:tailEnd len="sm" w="sm" type="none"/>
          </a:ln>
        </p:spPr>
        <p:txBody>
          <a:bodyPr anchorCtr="0" anchor="t" bIns="0" lIns="0" spcFirstLastPara="1" rIns="0" wrap="square" tIns="0">
            <a:spAutoFit/>
          </a:bodyPr>
          <a:lstStyle/>
          <a:p>
            <a:pPr indent="57785" lvl="0" marL="0" marR="0" rtl="0" algn="l">
              <a:lnSpc>
                <a:spcPct val="100000"/>
              </a:lnSpc>
              <a:spcBef>
                <a:spcPts val="0"/>
              </a:spcBef>
              <a:spcAft>
                <a:spcPts val="0"/>
              </a:spcAft>
              <a:buClr>
                <a:srgbClr val="000000"/>
              </a:buClr>
              <a:buSzPts val="1400"/>
              <a:buFont typeface="Arial"/>
              <a:buNone/>
            </a:pPr>
            <a:r>
              <a:rPr i="0" lang="en-AU" sz="1400" u="none" cap="none" strike="noStrike">
                <a:solidFill>
                  <a:srgbClr val="333333"/>
                </a:solidFill>
                <a:latin typeface="Consolas"/>
                <a:ea typeface="Consolas"/>
                <a:cs typeface="Consolas"/>
                <a:sym typeface="Consolas"/>
              </a:rPr>
              <a:t>#SBATCH --nodes=1</a:t>
            </a:r>
            <a:endParaRPr i="0" sz="1400" u="none" cap="none" strike="noStrike">
              <a:solidFill>
                <a:srgbClr val="000000"/>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400" u="none" cap="none" strike="noStrike">
                <a:solidFill>
                  <a:srgbClr val="333333"/>
                </a:solidFill>
                <a:latin typeface="Consolas"/>
                <a:ea typeface="Consolas"/>
                <a:cs typeface="Consolas"/>
                <a:sym typeface="Consolas"/>
              </a:rPr>
              <a:t>#SBATCH --ntasks-per-node=1</a:t>
            </a:r>
            <a:endParaRPr i="0" sz="1400" u="none" cap="none" strike="noStrike">
              <a:solidFill>
                <a:srgbClr val="000000"/>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400" u="none" cap="none" strike="noStrike">
                <a:solidFill>
                  <a:srgbClr val="333333"/>
                </a:solidFill>
                <a:latin typeface="Consolas"/>
                <a:ea typeface="Consolas"/>
                <a:cs typeface="Consolas"/>
                <a:sym typeface="Consolas"/>
              </a:rPr>
              <a:t>#SBATCH --cpus-per-task=1</a:t>
            </a:r>
            <a:endParaRPr i="0" sz="1400" u="none" cap="none" strike="noStrike">
              <a:solidFill>
                <a:srgbClr val="333333"/>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t/>
            </a:r>
            <a:endParaRPr>
              <a:solidFill>
                <a:srgbClr val="333333"/>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400" u="none" cap="none" strike="noStrike">
                <a:solidFill>
                  <a:srgbClr val="333333"/>
                </a:solidFill>
                <a:latin typeface="Consolas"/>
                <a:ea typeface="Consolas"/>
                <a:cs typeface="Consolas"/>
                <a:sym typeface="Consolas"/>
              </a:rPr>
              <a:t>python myscript.py</a:t>
            </a:r>
            <a:endParaRPr i="0" sz="1400" u="none" cap="none" strike="noStrike">
              <a:solidFill>
                <a:schemeClr val="dk1"/>
              </a:solidFill>
              <a:latin typeface="Consolas"/>
              <a:ea typeface="Consolas"/>
              <a:cs typeface="Consolas"/>
              <a:sym typeface="Consolas"/>
            </a:endParaRPr>
          </a:p>
        </p:txBody>
      </p:sp>
      <p:sp>
        <p:nvSpPr>
          <p:cNvPr id="239" name="Google Shape;239;p29"/>
          <p:cNvSpPr txBox="1"/>
          <p:nvPr/>
        </p:nvSpPr>
        <p:spPr>
          <a:xfrm>
            <a:off x="815225" y="3025800"/>
            <a:ext cx="6156300" cy="1470000"/>
          </a:xfrm>
          <a:prstGeom prst="rect">
            <a:avLst/>
          </a:prstGeom>
          <a:solidFill>
            <a:srgbClr val="DDDDDD"/>
          </a:solidFill>
          <a:ln cap="flat" cmpd="sng" w="25400">
            <a:solidFill>
              <a:srgbClr val="1E34A1"/>
            </a:solidFill>
            <a:prstDash val="solid"/>
            <a:round/>
            <a:headEnd len="sm" w="sm" type="none"/>
            <a:tailEnd len="sm" w="sm" type="none"/>
          </a:ln>
        </p:spPr>
        <p:txBody>
          <a:bodyPr anchorCtr="0" anchor="t" bIns="0" lIns="0" spcFirstLastPara="1" rIns="0" wrap="square" tIns="0">
            <a:spAutoFit/>
          </a:bodyPr>
          <a:lstStyle/>
          <a:p>
            <a:pPr indent="57785" lvl="0" marL="0" marR="0" rtl="0" algn="l">
              <a:lnSpc>
                <a:spcPct val="100000"/>
              </a:lnSpc>
              <a:spcBef>
                <a:spcPts val="0"/>
              </a:spcBef>
              <a:spcAft>
                <a:spcPts val="0"/>
              </a:spcAft>
              <a:buClr>
                <a:srgbClr val="000000"/>
              </a:buClr>
              <a:buSzPts val="1400"/>
              <a:buFont typeface="Arial"/>
              <a:buNone/>
            </a:pPr>
            <a:r>
              <a:rPr i="0" lang="en-AU" sz="1400" u="none" cap="none" strike="noStrike">
                <a:solidFill>
                  <a:srgbClr val="333333"/>
                </a:solidFill>
                <a:latin typeface="Consolas"/>
                <a:ea typeface="Consolas"/>
                <a:cs typeface="Consolas"/>
                <a:sym typeface="Consolas"/>
              </a:rPr>
              <a:t>#SBATCH --nodes=1</a:t>
            </a:r>
            <a:endParaRPr i="0" sz="1400" u="none" cap="none" strike="noStrike">
              <a:solidFill>
                <a:srgbClr val="000000"/>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400" u="none" cap="none" strike="noStrike">
                <a:solidFill>
                  <a:srgbClr val="333333"/>
                </a:solidFill>
                <a:latin typeface="Consolas"/>
                <a:ea typeface="Consolas"/>
                <a:cs typeface="Consolas"/>
                <a:sym typeface="Consolas"/>
              </a:rPr>
              <a:t>#SBATCH --ntasks-per-node=1</a:t>
            </a:r>
            <a:endParaRPr i="0" sz="1400" u="none" cap="none" strike="noStrike">
              <a:solidFill>
                <a:srgbClr val="000000"/>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400" u="none" cap="none" strike="noStrike">
                <a:solidFill>
                  <a:srgbClr val="333333"/>
                </a:solidFill>
                <a:latin typeface="Consolas"/>
                <a:ea typeface="Consolas"/>
                <a:cs typeface="Consolas"/>
                <a:sym typeface="Consolas"/>
              </a:rPr>
              <a:t>#SBATCH --cpus-per-task=N</a:t>
            </a:r>
            <a:endParaRPr i="0" sz="1400" u="none" cap="none" strike="noStrike">
              <a:solidFill>
                <a:srgbClr val="000000"/>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400" u="none" cap="none" strike="noStrike">
                <a:solidFill>
                  <a:srgbClr val="333333"/>
                </a:solidFill>
                <a:latin typeface="Consolas"/>
                <a:ea typeface="Consolas"/>
                <a:cs typeface="Consolas"/>
                <a:sym typeface="Consolas"/>
              </a:rPr>
              <a:t>#SBATCH --mem-per-cpu=XGB</a:t>
            </a:r>
            <a:endParaRPr i="0" sz="1400" u="none" cap="none" strike="noStrike">
              <a:solidFill>
                <a:srgbClr val="333333"/>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200"/>
              <a:buFont typeface="Arial"/>
              <a:buNone/>
            </a:pPr>
            <a:r>
              <a:rPr lang="en-AU">
                <a:solidFill>
                  <a:srgbClr val="333333"/>
                </a:solidFill>
                <a:latin typeface="Consolas"/>
                <a:ea typeface="Consolas"/>
                <a:cs typeface="Consolas"/>
                <a:sym typeface="Consolas"/>
              </a:rPr>
              <a:t>export OMP_NUM_THREADS=N</a:t>
            </a:r>
            <a:endParaRPr>
              <a:solidFill>
                <a:srgbClr val="333333"/>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200"/>
              <a:buFont typeface="Arial"/>
              <a:buNone/>
            </a:pPr>
            <a:r>
              <a:rPr i="0" lang="en-AU" sz="1300" u="none" cap="none" strike="noStrike">
                <a:solidFill>
                  <a:srgbClr val="333333"/>
                </a:solidFill>
                <a:latin typeface="Consolas"/>
                <a:ea typeface="Consolas"/>
                <a:cs typeface="Consolas"/>
                <a:sym typeface="Consolas"/>
              </a:rPr>
              <a:t>python myscript.py</a:t>
            </a:r>
            <a:endParaRPr i="0" sz="1300" u="none" cap="none" strike="noStrike">
              <a:solidFill>
                <a:schemeClr val="dk1"/>
              </a:solidFill>
              <a:latin typeface="Consolas"/>
              <a:ea typeface="Consolas"/>
              <a:cs typeface="Consolas"/>
              <a:sym typeface="Consolas"/>
            </a:endParaRPr>
          </a:p>
        </p:txBody>
      </p:sp>
      <p:sp>
        <p:nvSpPr>
          <p:cNvPr id="240" name="Google Shape;240;p29"/>
          <p:cNvSpPr txBox="1"/>
          <p:nvPr>
            <p:ph type="title"/>
          </p:nvPr>
        </p:nvSpPr>
        <p:spPr>
          <a:xfrm>
            <a:off x="493900" y="67657"/>
            <a:ext cx="6697200" cy="43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AU"/>
              <a:t>SLURM – serial and multi-CPU jobs</a:t>
            </a:r>
            <a:endParaRPr/>
          </a:p>
        </p:txBody>
      </p:sp>
      <p:sp>
        <p:nvSpPr>
          <p:cNvPr id="241" name="Google Shape;241;p29"/>
          <p:cNvSpPr txBox="1"/>
          <p:nvPr>
            <p:ph idx="2" type="subTitle"/>
          </p:nvPr>
        </p:nvSpPr>
        <p:spPr>
          <a:xfrm>
            <a:off x="534325" y="398633"/>
            <a:ext cx="6539400" cy="321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t/>
            </a:r>
            <a:endParaRPr/>
          </a:p>
        </p:txBody>
      </p:sp>
      <p:pic>
        <p:nvPicPr>
          <p:cNvPr id="242" name="Google Shape;242;p29"/>
          <p:cNvPicPr preferRelativeResize="0"/>
          <p:nvPr/>
        </p:nvPicPr>
        <p:blipFill>
          <a:blip r:embed="rId3">
            <a:alphaModFix/>
          </a:blip>
          <a:stretch>
            <a:fillRect/>
          </a:stretch>
        </p:blipFill>
        <p:spPr>
          <a:xfrm>
            <a:off x="7787600" y="1030875"/>
            <a:ext cx="1039775" cy="953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0"/>
          <p:cNvSpPr txBox="1"/>
          <p:nvPr>
            <p:ph idx="1" type="body"/>
          </p:nvPr>
        </p:nvSpPr>
        <p:spPr>
          <a:xfrm>
            <a:off x="350350" y="832575"/>
            <a:ext cx="7104000" cy="666300"/>
          </a:xfrm>
          <a:prstGeom prst="rect">
            <a:avLst/>
          </a:prstGeom>
          <a:noFill/>
          <a:ln>
            <a:noFill/>
          </a:ln>
        </p:spPr>
        <p:txBody>
          <a:bodyPr anchorCtr="0" anchor="t" bIns="0" lIns="0" spcFirstLastPara="1" rIns="0" wrap="square" tIns="0">
            <a:noAutofit/>
          </a:bodyPr>
          <a:lstStyle/>
          <a:p>
            <a:pPr indent="-342900" lvl="0" marL="342900" rtl="0" algn="l">
              <a:lnSpc>
                <a:spcPct val="90000"/>
              </a:lnSpc>
              <a:spcBef>
                <a:spcPts val="0"/>
              </a:spcBef>
              <a:spcAft>
                <a:spcPts val="0"/>
              </a:spcAft>
              <a:buClr>
                <a:schemeClr val="dk1"/>
              </a:buClr>
              <a:buSzPts val="2400"/>
              <a:buFont typeface="Nunito"/>
              <a:buChar char="•"/>
            </a:pPr>
            <a:r>
              <a:rPr lang="en-AU">
                <a:latin typeface="Nunito"/>
                <a:ea typeface="Nunito"/>
                <a:cs typeface="Nunito"/>
                <a:sym typeface="Nunito"/>
              </a:rPr>
              <a:t>Can also specify tasks or tasks per node</a:t>
            </a:r>
            <a:endParaRPr>
              <a:latin typeface="Nunito"/>
              <a:ea typeface="Nunito"/>
              <a:cs typeface="Nunito"/>
              <a:sym typeface="Nunito"/>
            </a:endParaRPr>
          </a:p>
          <a:p>
            <a:pPr indent="-190500" lvl="0" marL="342900" rtl="0" algn="l">
              <a:lnSpc>
                <a:spcPct val="90000"/>
              </a:lnSpc>
              <a:spcBef>
                <a:spcPts val="1163"/>
              </a:spcBef>
              <a:spcAft>
                <a:spcPts val="0"/>
              </a:spcAft>
              <a:buClr>
                <a:schemeClr val="dk1"/>
              </a:buClr>
              <a:buSzPts val="2400"/>
              <a:buFont typeface="Arial"/>
              <a:buNone/>
            </a:pPr>
            <a:r>
              <a:t/>
            </a:r>
            <a:endParaRPr>
              <a:latin typeface="Nunito"/>
              <a:ea typeface="Nunito"/>
              <a:cs typeface="Nunito"/>
              <a:sym typeface="Nunito"/>
            </a:endParaRPr>
          </a:p>
        </p:txBody>
      </p:sp>
      <p:sp>
        <p:nvSpPr>
          <p:cNvPr id="248" name="Google Shape;248;p30"/>
          <p:cNvSpPr txBox="1"/>
          <p:nvPr/>
        </p:nvSpPr>
        <p:spPr>
          <a:xfrm>
            <a:off x="683650" y="3302548"/>
            <a:ext cx="6333600" cy="1631700"/>
          </a:xfrm>
          <a:prstGeom prst="rect">
            <a:avLst/>
          </a:prstGeom>
          <a:solidFill>
            <a:srgbClr val="DDDDDD"/>
          </a:solidFill>
          <a:ln cap="flat" cmpd="sng" w="25400">
            <a:solidFill>
              <a:srgbClr val="1E34A1"/>
            </a:solidFill>
            <a:prstDash val="solid"/>
            <a:round/>
            <a:headEnd len="sm" w="sm" type="none"/>
            <a:tailEnd len="sm" w="sm" type="none"/>
          </a:ln>
        </p:spPr>
        <p:txBody>
          <a:bodyPr anchorCtr="0" anchor="t" bIns="0" lIns="0" spcFirstLastPara="1" rIns="0" wrap="square" tIns="0">
            <a:spAutoFit/>
          </a:bodyPr>
          <a:lstStyle/>
          <a:p>
            <a:pPr indent="57785" lvl="0" marL="0" marR="0" rtl="0" algn="l">
              <a:lnSpc>
                <a:spcPct val="100000"/>
              </a:lnSpc>
              <a:spcBef>
                <a:spcPts val="0"/>
              </a:spcBef>
              <a:spcAft>
                <a:spcPts val="0"/>
              </a:spcAft>
              <a:buClr>
                <a:srgbClr val="000000"/>
              </a:buClr>
              <a:buSzPts val="1400"/>
              <a:buFont typeface="Arial"/>
              <a:buNone/>
            </a:pPr>
            <a:r>
              <a:rPr i="0" lang="en-AU" sz="1300" u="none" cap="none" strike="noStrike">
                <a:solidFill>
                  <a:srgbClr val="333333"/>
                </a:solidFill>
                <a:latin typeface="Consolas"/>
                <a:ea typeface="Consolas"/>
                <a:cs typeface="Consolas"/>
                <a:sym typeface="Consolas"/>
              </a:rPr>
              <a:t>#SBATCH --nodes=1</a:t>
            </a:r>
            <a:endParaRPr i="0" sz="1300" u="none" cap="none" strike="noStrike">
              <a:solidFill>
                <a:srgbClr val="000000"/>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300" u="none" cap="none" strike="noStrike">
                <a:solidFill>
                  <a:srgbClr val="333333"/>
                </a:solidFill>
                <a:latin typeface="Consolas"/>
                <a:ea typeface="Consolas"/>
                <a:cs typeface="Consolas"/>
                <a:sym typeface="Consolas"/>
              </a:rPr>
              <a:t>#SBATCH --ntasks-per-node=N</a:t>
            </a:r>
            <a:endParaRPr i="0" sz="1300" u="none" cap="none" strike="noStrike">
              <a:solidFill>
                <a:srgbClr val="000000"/>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300" u="none" cap="none" strike="noStrike">
                <a:solidFill>
                  <a:srgbClr val="333333"/>
                </a:solidFill>
                <a:latin typeface="Consolas"/>
                <a:ea typeface="Consolas"/>
                <a:cs typeface="Consolas"/>
                <a:sym typeface="Consolas"/>
              </a:rPr>
              <a:t>#SBATCH --cpus-per-task=1</a:t>
            </a:r>
            <a:endParaRPr i="0" sz="1300" u="none" cap="none" strike="noStrike">
              <a:solidFill>
                <a:srgbClr val="000000"/>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300" u="none" cap="none" strike="noStrike">
                <a:solidFill>
                  <a:srgbClr val="333333"/>
                </a:solidFill>
                <a:latin typeface="Consolas"/>
                <a:ea typeface="Consolas"/>
                <a:cs typeface="Consolas"/>
                <a:sym typeface="Consolas"/>
              </a:rPr>
              <a:t>#SBATCH --mem=XGB</a:t>
            </a:r>
            <a:endParaRPr i="0" sz="1300" u="none" cap="none" strike="noStrike">
              <a:solidFill>
                <a:srgbClr val="333333"/>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t/>
            </a:r>
            <a:endParaRPr sz="1300">
              <a:solidFill>
                <a:srgbClr val="333333"/>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lang="en-AU" sz="1300">
                <a:solidFill>
                  <a:srgbClr val="333333"/>
                </a:solidFill>
                <a:latin typeface="Consolas"/>
                <a:ea typeface="Consolas"/>
                <a:cs typeface="Consolas"/>
                <a:sym typeface="Consolas"/>
              </a:rPr>
              <a:t>m</a:t>
            </a:r>
            <a:r>
              <a:rPr lang="en-AU" sz="1300">
                <a:solidFill>
                  <a:srgbClr val="333333"/>
                </a:solidFill>
                <a:latin typeface="Consolas"/>
                <a:ea typeface="Consolas"/>
                <a:cs typeface="Consolas"/>
                <a:sym typeface="Consolas"/>
              </a:rPr>
              <a:t>odule add openmpi</a:t>
            </a:r>
            <a:endParaRPr sz="1300">
              <a:solidFill>
                <a:srgbClr val="333333"/>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300" u="none" cap="none" strike="noStrike">
                <a:solidFill>
                  <a:srgbClr val="333333"/>
                </a:solidFill>
                <a:latin typeface="Consolas"/>
                <a:ea typeface="Consolas"/>
                <a:cs typeface="Consolas"/>
                <a:sym typeface="Consolas"/>
              </a:rPr>
              <a:t>mpirun python myscript.py</a:t>
            </a:r>
            <a:endParaRPr i="0" sz="1300" u="none" cap="none" strike="noStrike">
              <a:solidFill>
                <a:schemeClr val="dk1"/>
              </a:solidFill>
              <a:latin typeface="Consolas"/>
              <a:ea typeface="Consolas"/>
              <a:cs typeface="Consolas"/>
              <a:sym typeface="Consolas"/>
            </a:endParaRPr>
          </a:p>
        </p:txBody>
      </p:sp>
      <p:sp>
        <p:nvSpPr>
          <p:cNvPr id="249" name="Google Shape;249;p30"/>
          <p:cNvSpPr txBox="1"/>
          <p:nvPr/>
        </p:nvSpPr>
        <p:spPr>
          <a:xfrm>
            <a:off x="657700" y="1196988"/>
            <a:ext cx="6385500" cy="1392900"/>
          </a:xfrm>
          <a:prstGeom prst="rect">
            <a:avLst/>
          </a:prstGeom>
          <a:solidFill>
            <a:srgbClr val="DDDDDD"/>
          </a:solidFill>
          <a:ln cap="flat" cmpd="sng" w="25400">
            <a:solidFill>
              <a:srgbClr val="1E34A1"/>
            </a:solidFill>
            <a:prstDash val="solid"/>
            <a:round/>
            <a:headEnd len="sm" w="sm" type="none"/>
            <a:tailEnd len="sm" w="sm" type="none"/>
          </a:ln>
        </p:spPr>
        <p:txBody>
          <a:bodyPr anchorCtr="0" anchor="t" bIns="0" lIns="0" spcFirstLastPara="1" rIns="0" wrap="square" tIns="0">
            <a:spAutoFit/>
          </a:bodyPr>
          <a:lstStyle/>
          <a:p>
            <a:pPr indent="57785" lvl="0" marL="0" marR="0" rtl="0" algn="l">
              <a:lnSpc>
                <a:spcPct val="100000"/>
              </a:lnSpc>
              <a:spcBef>
                <a:spcPts val="0"/>
              </a:spcBef>
              <a:spcAft>
                <a:spcPts val="0"/>
              </a:spcAft>
              <a:buClr>
                <a:srgbClr val="000000"/>
              </a:buClr>
              <a:buSzPts val="1400"/>
              <a:buFont typeface="Arial"/>
              <a:buNone/>
            </a:pPr>
            <a:r>
              <a:rPr i="0" lang="en-AU" sz="1300" u="none" cap="none" strike="noStrike">
                <a:solidFill>
                  <a:srgbClr val="333333"/>
                </a:solidFill>
                <a:latin typeface="Consolas"/>
                <a:ea typeface="Consolas"/>
                <a:cs typeface="Consolas"/>
                <a:sym typeface="Consolas"/>
              </a:rPr>
              <a:t>#SBATCH --ntasks=N</a:t>
            </a:r>
            <a:endParaRPr i="0" sz="1300" u="none" cap="none" strike="noStrike">
              <a:solidFill>
                <a:srgbClr val="000000"/>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300" u="none" cap="none" strike="noStrike">
                <a:solidFill>
                  <a:srgbClr val="333333"/>
                </a:solidFill>
                <a:latin typeface="Consolas"/>
                <a:ea typeface="Consolas"/>
                <a:cs typeface="Consolas"/>
                <a:sym typeface="Consolas"/>
              </a:rPr>
              <a:t>#SBATCH --cpus-per-task=1</a:t>
            </a:r>
            <a:endParaRPr i="0" sz="1300" u="none" cap="none" strike="noStrike">
              <a:solidFill>
                <a:srgbClr val="000000"/>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300" u="none" cap="none" strike="noStrike">
                <a:solidFill>
                  <a:srgbClr val="333333"/>
                </a:solidFill>
                <a:latin typeface="Consolas"/>
                <a:ea typeface="Consolas"/>
                <a:cs typeface="Consolas"/>
                <a:sym typeface="Consolas"/>
              </a:rPr>
              <a:t>#SBATCH --mem=XGB</a:t>
            </a:r>
            <a:endParaRPr i="0" sz="1300" u="none" cap="none" strike="noStrike">
              <a:solidFill>
                <a:srgbClr val="333333"/>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t/>
            </a:r>
            <a:endParaRPr sz="1300">
              <a:solidFill>
                <a:srgbClr val="333333"/>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lang="en-AU" sz="1300">
                <a:solidFill>
                  <a:srgbClr val="333333"/>
                </a:solidFill>
                <a:latin typeface="Consolas"/>
                <a:ea typeface="Consolas"/>
                <a:cs typeface="Consolas"/>
                <a:sym typeface="Consolas"/>
              </a:rPr>
              <a:t>m</a:t>
            </a:r>
            <a:r>
              <a:rPr lang="en-AU" sz="1300">
                <a:solidFill>
                  <a:srgbClr val="333333"/>
                </a:solidFill>
                <a:latin typeface="Consolas"/>
                <a:ea typeface="Consolas"/>
                <a:cs typeface="Consolas"/>
                <a:sym typeface="Consolas"/>
              </a:rPr>
              <a:t>odule add openmpi</a:t>
            </a:r>
            <a:endParaRPr sz="1300">
              <a:solidFill>
                <a:srgbClr val="333333"/>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300" u="none" cap="none" strike="noStrike">
                <a:solidFill>
                  <a:srgbClr val="333333"/>
                </a:solidFill>
                <a:latin typeface="Consolas"/>
                <a:ea typeface="Consolas"/>
                <a:cs typeface="Consolas"/>
                <a:sym typeface="Consolas"/>
              </a:rPr>
              <a:t>mpirun python myscript.py</a:t>
            </a:r>
            <a:endParaRPr i="0" sz="1300" u="none" cap="none" strike="noStrike">
              <a:solidFill>
                <a:schemeClr val="dk1"/>
              </a:solidFill>
              <a:latin typeface="Consolas"/>
              <a:ea typeface="Consolas"/>
              <a:cs typeface="Consolas"/>
              <a:sym typeface="Consolas"/>
            </a:endParaRPr>
          </a:p>
        </p:txBody>
      </p:sp>
      <p:sp>
        <p:nvSpPr>
          <p:cNvPr id="250" name="Google Shape;250;p30"/>
          <p:cNvSpPr txBox="1"/>
          <p:nvPr>
            <p:ph type="title"/>
          </p:nvPr>
        </p:nvSpPr>
        <p:spPr>
          <a:xfrm>
            <a:off x="493900" y="67657"/>
            <a:ext cx="6697200" cy="43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AU"/>
              <a:t>SLURM – multi-task jobs</a:t>
            </a:r>
            <a:endParaRPr/>
          </a:p>
        </p:txBody>
      </p:sp>
      <p:sp>
        <p:nvSpPr>
          <p:cNvPr id="251" name="Google Shape;251;p30"/>
          <p:cNvSpPr txBox="1"/>
          <p:nvPr>
            <p:ph idx="2" type="subTitle"/>
          </p:nvPr>
        </p:nvSpPr>
        <p:spPr>
          <a:xfrm>
            <a:off x="534325" y="398633"/>
            <a:ext cx="6539400" cy="321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t/>
            </a:r>
            <a:endParaRPr/>
          </a:p>
        </p:txBody>
      </p:sp>
      <p:sp>
        <p:nvSpPr>
          <p:cNvPr id="252" name="Google Shape;252;p30"/>
          <p:cNvSpPr txBox="1"/>
          <p:nvPr>
            <p:ph idx="1" type="body"/>
          </p:nvPr>
        </p:nvSpPr>
        <p:spPr>
          <a:xfrm>
            <a:off x="350350" y="2665487"/>
            <a:ext cx="7104000" cy="673500"/>
          </a:xfrm>
          <a:prstGeom prst="rect">
            <a:avLst/>
          </a:prstGeom>
          <a:noFill/>
          <a:ln>
            <a:noFill/>
          </a:ln>
        </p:spPr>
        <p:txBody>
          <a:bodyPr anchorCtr="0" anchor="t" bIns="0" lIns="0" spcFirstLastPara="1" rIns="0" wrap="square" tIns="0">
            <a:noAutofit/>
          </a:bodyPr>
          <a:lstStyle/>
          <a:p>
            <a:pPr indent="-342900" lvl="0" marL="342900" rtl="0" algn="l">
              <a:spcBef>
                <a:spcPts val="1163"/>
              </a:spcBef>
              <a:spcAft>
                <a:spcPts val="0"/>
              </a:spcAft>
              <a:buSzPts val="2400"/>
              <a:buFont typeface="Nunito"/>
              <a:buChar char="•"/>
            </a:pPr>
            <a:r>
              <a:rPr lang="en-AU">
                <a:latin typeface="Nunito"/>
                <a:ea typeface="Nunito"/>
                <a:cs typeface="Nunito"/>
                <a:sym typeface="Nunito"/>
              </a:rPr>
              <a:t>Above example doesn’t require knowledge of number of node’s CPUs; below one does</a:t>
            </a:r>
            <a:endParaRPr>
              <a:latin typeface="Nunito"/>
              <a:ea typeface="Nunito"/>
              <a:cs typeface="Nunito"/>
              <a:sym typeface="Nunito"/>
            </a:endParaRPr>
          </a:p>
        </p:txBody>
      </p:sp>
      <p:pic>
        <p:nvPicPr>
          <p:cNvPr id="253" name="Google Shape;253;p30"/>
          <p:cNvPicPr preferRelativeResize="0"/>
          <p:nvPr/>
        </p:nvPicPr>
        <p:blipFill>
          <a:blip r:embed="rId3">
            <a:alphaModFix/>
          </a:blip>
          <a:stretch>
            <a:fillRect/>
          </a:stretch>
        </p:blipFill>
        <p:spPr>
          <a:xfrm>
            <a:off x="7787600" y="1030875"/>
            <a:ext cx="1039775" cy="9539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1"/>
          <p:cNvSpPr txBox="1"/>
          <p:nvPr>
            <p:ph idx="1" type="body"/>
          </p:nvPr>
        </p:nvSpPr>
        <p:spPr>
          <a:xfrm>
            <a:off x="361950" y="791475"/>
            <a:ext cx="7116600" cy="3277500"/>
          </a:xfrm>
          <a:prstGeom prst="rect">
            <a:avLst/>
          </a:prstGeom>
          <a:noFill/>
          <a:ln>
            <a:noFill/>
          </a:ln>
        </p:spPr>
        <p:txBody>
          <a:bodyPr anchorCtr="0" anchor="t" bIns="0" lIns="0" spcFirstLastPara="1" rIns="0" wrap="square" tIns="0">
            <a:noAutofit/>
          </a:bodyPr>
          <a:lstStyle/>
          <a:p>
            <a:pPr indent="-317500" lvl="0" marL="342900" rtl="0" algn="l">
              <a:lnSpc>
                <a:spcPct val="90000"/>
              </a:lnSpc>
              <a:spcBef>
                <a:spcPts val="0"/>
              </a:spcBef>
              <a:spcAft>
                <a:spcPts val="0"/>
              </a:spcAft>
              <a:buClr>
                <a:schemeClr val="dk1"/>
              </a:buClr>
              <a:buSzPts val="2000"/>
              <a:buFont typeface="Nunito"/>
              <a:buChar char="•"/>
            </a:pPr>
            <a:r>
              <a:rPr lang="en-AU" sz="1400">
                <a:latin typeface="Nunito"/>
                <a:ea typeface="Nunito"/>
                <a:cs typeface="Nunito"/>
                <a:sym typeface="Nunito"/>
              </a:rPr>
              <a:t>Using multiple nodes with MPI</a:t>
            </a:r>
            <a:endParaRPr sz="1400">
              <a:latin typeface="Nunito"/>
              <a:ea typeface="Nunito"/>
              <a:cs typeface="Nunito"/>
              <a:sym typeface="Nunito"/>
            </a:endParaRPr>
          </a:p>
          <a:p>
            <a:pPr indent="0" lvl="0" marL="0" rtl="0" algn="l">
              <a:lnSpc>
                <a:spcPct val="90000"/>
              </a:lnSpc>
              <a:spcBef>
                <a:spcPts val="1163"/>
              </a:spcBef>
              <a:spcAft>
                <a:spcPts val="0"/>
              </a:spcAft>
              <a:buClr>
                <a:schemeClr val="dk1"/>
              </a:buClr>
              <a:buSzPts val="2400"/>
              <a:buNone/>
            </a:pPr>
            <a:r>
              <a:t/>
            </a:r>
            <a:endParaRPr sz="1400">
              <a:latin typeface="Nunito"/>
              <a:ea typeface="Nunito"/>
              <a:cs typeface="Nunito"/>
              <a:sym typeface="Nunito"/>
            </a:endParaRPr>
          </a:p>
          <a:p>
            <a:pPr indent="0" lvl="0" marL="0" rtl="0" algn="l">
              <a:lnSpc>
                <a:spcPct val="90000"/>
              </a:lnSpc>
              <a:spcBef>
                <a:spcPts val="1163"/>
              </a:spcBef>
              <a:spcAft>
                <a:spcPts val="0"/>
              </a:spcAft>
              <a:buClr>
                <a:schemeClr val="dk1"/>
              </a:buClr>
              <a:buSzPts val="2400"/>
              <a:buNone/>
            </a:pPr>
            <a:br>
              <a:rPr lang="en-AU" sz="1400">
                <a:latin typeface="Nunito"/>
                <a:ea typeface="Nunito"/>
                <a:cs typeface="Nunito"/>
                <a:sym typeface="Nunito"/>
              </a:rPr>
            </a:br>
            <a:endParaRPr sz="1400">
              <a:latin typeface="Nunito"/>
              <a:ea typeface="Nunito"/>
              <a:cs typeface="Nunito"/>
              <a:sym typeface="Nunito"/>
            </a:endParaRPr>
          </a:p>
          <a:p>
            <a:pPr indent="0" lvl="0" marL="0" rtl="0" algn="l">
              <a:lnSpc>
                <a:spcPct val="90000"/>
              </a:lnSpc>
              <a:spcBef>
                <a:spcPts val="1163"/>
              </a:spcBef>
              <a:spcAft>
                <a:spcPts val="0"/>
              </a:spcAft>
              <a:buClr>
                <a:schemeClr val="dk1"/>
              </a:buClr>
              <a:buSzPts val="2400"/>
              <a:buNone/>
            </a:pPr>
            <a:r>
              <a:t/>
            </a:r>
            <a:endParaRPr i="1" sz="1400">
              <a:latin typeface="Nunito"/>
              <a:ea typeface="Nunito"/>
              <a:cs typeface="Nunito"/>
              <a:sym typeface="Nunito"/>
            </a:endParaRPr>
          </a:p>
          <a:p>
            <a:pPr indent="-317500" lvl="0" marL="342900" rtl="0" algn="l">
              <a:lnSpc>
                <a:spcPct val="90000"/>
              </a:lnSpc>
              <a:spcBef>
                <a:spcPts val="1163"/>
              </a:spcBef>
              <a:spcAft>
                <a:spcPts val="0"/>
              </a:spcAft>
              <a:buClr>
                <a:schemeClr val="dk1"/>
              </a:buClr>
              <a:buSzPts val="2000"/>
              <a:buFont typeface="Nunito"/>
              <a:buChar char="•"/>
            </a:pPr>
            <a:r>
              <a:rPr i="1" lang="en-AU" sz="1400">
                <a:latin typeface="Nunito"/>
                <a:ea typeface="Nunito"/>
                <a:cs typeface="Nunito"/>
                <a:sym typeface="Nunito"/>
              </a:rPr>
              <a:t>Note: Need to consider that internode communication is slower than intranode communication</a:t>
            </a:r>
            <a:endParaRPr sz="1400">
              <a:latin typeface="Nunito"/>
              <a:ea typeface="Nunito"/>
              <a:cs typeface="Nunito"/>
              <a:sym typeface="Nunito"/>
            </a:endParaRPr>
          </a:p>
          <a:p>
            <a:pPr indent="-317500" lvl="0" marL="342900" rtl="0" algn="l">
              <a:lnSpc>
                <a:spcPct val="90000"/>
              </a:lnSpc>
              <a:spcBef>
                <a:spcPts val="1163"/>
              </a:spcBef>
              <a:spcAft>
                <a:spcPts val="0"/>
              </a:spcAft>
              <a:buClr>
                <a:schemeClr val="dk1"/>
              </a:buClr>
              <a:buSzPts val="2000"/>
              <a:buFont typeface="Arial"/>
              <a:buChar char="•"/>
            </a:pPr>
            <a:r>
              <a:rPr lang="en-AU" sz="1400">
                <a:latin typeface="Consolas"/>
                <a:ea typeface="Consolas"/>
                <a:cs typeface="Consolas"/>
                <a:sym typeface="Consolas"/>
              </a:rPr>
              <a:t>--mem</a:t>
            </a:r>
            <a:r>
              <a:rPr lang="en-AU" sz="1400">
                <a:latin typeface="Nunito"/>
                <a:ea typeface="Nunito"/>
                <a:cs typeface="Nunito"/>
                <a:sym typeface="Nunito"/>
              </a:rPr>
              <a:t> is memory per node, so N times XGB allocated overall (usable by some software)</a:t>
            </a:r>
            <a:endParaRPr i="1" sz="1400">
              <a:latin typeface="Nunito"/>
              <a:ea typeface="Nunito"/>
              <a:cs typeface="Nunito"/>
              <a:sym typeface="Nunito"/>
            </a:endParaRPr>
          </a:p>
          <a:p>
            <a:pPr indent="-317500" lvl="0" marL="342900" rtl="0" algn="l">
              <a:lnSpc>
                <a:spcPct val="90000"/>
              </a:lnSpc>
              <a:spcBef>
                <a:spcPts val="1163"/>
              </a:spcBef>
              <a:spcAft>
                <a:spcPts val="0"/>
              </a:spcAft>
              <a:buClr>
                <a:schemeClr val="dk1"/>
              </a:buClr>
              <a:buSzPts val="2000"/>
              <a:buFont typeface="Arial"/>
              <a:buChar char="•"/>
            </a:pPr>
            <a:r>
              <a:rPr lang="en-AU" sz="1400">
                <a:latin typeface="Nunito"/>
                <a:ea typeface="Nunito"/>
                <a:cs typeface="Nunito"/>
                <a:sym typeface="Nunito"/>
              </a:rPr>
              <a:t>Using multiple nodes with MPI as well as multiple cores within node with OpenMP</a:t>
            </a:r>
            <a:endParaRPr sz="1400"/>
          </a:p>
          <a:p>
            <a:pPr indent="-190500" lvl="0" marL="342900" rtl="0" algn="l">
              <a:lnSpc>
                <a:spcPct val="90000"/>
              </a:lnSpc>
              <a:spcBef>
                <a:spcPts val="1163"/>
              </a:spcBef>
              <a:spcAft>
                <a:spcPts val="0"/>
              </a:spcAft>
              <a:buClr>
                <a:schemeClr val="dk1"/>
              </a:buClr>
              <a:buSzPts val="2400"/>
              <a:buFont typeface="Arial"/>
              <a:buNone/>
            </a:pPr>
            <a:r>
              <a:t/>
            </a:r>
            <a:endParaRPr sz="1700"/>
          </a:p>
        </p:txBody>
      </p:sp>
      <p:sp>
        <p:nvSpPr>
          <p:cNvPr id="259" name="Google Shape;259;p31"/>
          <p:cNvSpPr txBox="1"/>
          <p:nvPr/>
        </p:nvSpPr>
        <p:spPr>
          <a:xfrm>
            <a:off x="736350" y="1099622"/>
            <a:ext cx="6367800" cy="1300800"/>
          </a:xfrm>
          <a:prstGeom prst="rect">
            <a:avLst/>
          </a:prstGeom>
          <a:solidFill>
            <a:srgbClr val="DDDDDD"/>
          </a:solidFill>
          <a:ln cap="flat" cmpd="sng" w="25400">
            <a:solidFill>
              <a:srgbClr val="1E34A1"/>
            </a:solidFill>
            <a:prstDash val="solid"/>
            <a:round/>
            <a:headEnd len="sm" w="sm" type="none"/>
            <a:tailEnd len="sm" w="sm" type="none"/>
          </a:ln>
        </p:spPr>
        <p:txBody>
          <a:bodyPr anchorCtr="0" anchor="t" bIns="0" lIns="0" spcFirstLastPara="1" rIns="0" wrap="square" tIns="0">
            <a:spAutoFit/>
          </a:bodyPr>
          <a:lstStyle/>
          <a:p>
            <a:pPr indent="57785" lvl="0" marL="0" marR="0" rtl="0" algn="l">
              <a:lnSpc>
                <a:spcPct val="100000"/>
              </a:lnSpc>
              <a:spcBef>
                <a:spcPts val="0"/>
              </a:spcBef>
              <a:spcAft>
                <a:spcPts val="0"/>
              </a:spcAft>
              <a:buClr>
                <a:srgbClr val="000000"/>
              </a:buClr>
              <a:buSzPts val="1400"/>
              <a:buFont typeface="Arial"/>
              <a:buNone/>
            </a:pPr>
            <a:r>
              <a:rPr i="0" lang="en-AU" sz="1200" u="none" cap="none" strike="noStrike">
                <a:solidFill>
                  <a:srgbClr val="333333"/>
                </a:solidFill>
                <a:latin typeface="Consolas"/>
                <a:ea typeface="Consolas"/>
                <a:cs typeface="Consolas"/>
                <a:sym typeface="Consolas"/>
              </a:rPr>
              <a:t>#SBATCH --nodes=N</a:t>
            </a:r>
            <a:endParaRPr i="0" sz="1200" u="none" cap="none" strike="noStrike">
              <a:solidFill>
                <a:srgbClr val="000000"/>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200" u="none" cap="none" strike="noStrike">
                <a:solidFill>
                  <a:srgbClr val="333333"/>
                </a:solidFill>
                <a:latin typeface="Consolas"/>
                <a:ea typeface="Consolas"/>
                <a:cs typeface="Consolas"/>
                <a:sym typeface="Consolas"/>
              </a:rPr>
              <a:t>#SBATCH --ntasks-per-node=n</a:t>
            </a:r>
            <a:endParaRPr i="0" sz="1200" u="none" cap="none" strike="noStrike">
              <a:solidFill>
                <a:srgbClr val="000000"/>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200" u="none" cap="none" strike="noStrike">
                <a:solidFill>
                  <a:srgbClr val="333333"/>
                </a:solidFill>
                <a:latin typeface="Consolas"/>
                <a:ea typeface="Consolas"/>
                <a:cs typeface="Consolas"/>
                <a:sym typeface="Consolas"/>
              </a:rPr>
              <a:t>#SBATCH --cpus-per-task=1</a:t>
            </a:r>
            <a:endParaRPr i="0" sz="1200" u="none" cap="none" strike="noStrike">
              <a:solidFill>
                <a:srgbClr val="000000"/>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200" u="none" cap="none" strike="noStrike">
                <a:solidFill>
                  <a:srgbClr val="333333"/>
                </a:solidFill>
                <a:latin typeface="Consolas"/>
                <a:ea typeface="Consolas"/>
                <a:cs typeface="Consolas"/>
                <a:sym typeface="Consolas"/>
              </a:rPr>
              <a:t>#SBATCH --mem=XGB</a:t>
            </a:r>
            <a:endParaRPr i="0" sz="1200" u="none" cap="none" strike="noStrike">
              <a:solidFill>
                <a:srgbClr val="333333"/>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lang="en-AU" sz="1200">
                <a:solidFill>
                  <a:srgbClr val="333333"/>
                </a:solidFill>
                <a:latin typeface="Consolas"/>
                <a:ea typeface="Consolas"/>
                <a:cs typeface="Consolas"/>
                <a:sym typeface="Consolas"/>
              </a:rPr>
              <a:t>m</a:t>
            </a:r>
            <a:r>
              <a:rPr lang="en-AU" sz="1200">
                <a:solidFill>
                  <a:srgbClr val="333333"/>
                </a:solidFill>
                <a:latin typeface="Consolas"/>
                <a:ea typeface="Consolas"/>
                <a:cs typeface="Consolas"/>
                <a:sym typeface="Consolas"/>
              </a:rPr>
              <a:t>odule add openmpi</a:t>
            </a:r>
            <a:endParaRPr sz="1200">
              <a:solidFill>
                <a:srgbClr val="333333"/>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200" u="none" cap="none" strike="noStrike">
                <a:solidFill>
                  <a:srgbClr val="333333"/>
                </a:solidFill>
                <a:latin typeface="Consolas"/>
                <a:ea typeface="Consolas"/>
                <a:cs typeface="Consolas"/>
                <a:sym typeface="Consolas"/>
              </a:rPr>
              <a:t>mpirun </a:t>
            </a:r>
            <a:r>
              <a:rPr lang="en-AU" sz="1200">
                <a:solidFill>
                  <a:srgbClr val="333333"/>
                </a:solidFill>
                <a:latin typeface="Consolas"/>
                <a:ea typeface="Consolas"/>
                <a:cs typeface="Consolas"/>
                <a:sym typeface="Consolas"/>
              </a:rPr>
              <a:t>p</a:t>
            </a:r>
            <a:r>
              <a:rPr i="0" lang="en-AU" sz="1200" u="none" cap="none" strike="noStrike">
                <a:solidFill>
                  <a:srgbClr val="333333"/>
                </a:solidFill>
                <a:latin typeface="Consolas"/>
                <a:ea typeface="Consolas"/>
                <a:cs typeface="Consolas"/>
                <a:sym typeface="Consolas"/>
              </a:rPr>
              <a:t>ython myscript.py</a:t>
            </a:r>
            <a:endParaRPr i="0" sz="1200" u="none" cap="none" strike="noStrike">
              <a:solidFill>
                <a:schemeClr val="dk1"/>
              </a:solidFill>
              <a:latin typeface="Consolas"/>
              <a:ea typeface="Consolas"/>
              <a:cs typeface="Consolas"/>
              <a:sym typeface="Consolas"/>
            </a:endParaRPr>
          </a:p>
        </p:txBody>
      </p:sp>
      <p:sp>
        <p:nvSpPr>
          <p:cNvPr id="260" name="Google Shape;260;p31"/>
          <p:cNvSpPr txBox="1"/>
          <p:nvPr/>
        </p:nvSpPr>
        <p:spPr>
          <a:xfrm>
            <a:off x="714775" y="4208468"/>
            <a:ext cx="6466500" cy="915900"/>
          </a:xfrm>
          <a:prstGeom prst="rect">
            <a:avLst/>
          </a:prstGeom>
          <a:solidFill>
            <a:srgbClr val="DDDDDD"/>
          </a:solidFill>
          <a:ln cap="flat" cmpd="sng" w="25400">
            <a:solidFill>
              <a:srgbClr val="1E34A1"/>
            </a:solidFill>
            <a:prstDash val="solid"/>
            <a:round/>
            <a:headEnd len="sm" w="sm" type="none"/>
            <a:tailEnd len="sm" w="sm" type="none"/>
          </a:ln>
        </p:spPr>
        <p:txBody>
          <a:bodyPr anchorCtr="0" anchor="t" bIns="0" lIns="0" spcFirstLastPara="1" rIns="0" wrap="square" tIns="0">
            <a:spAutoFit/>
          </a:bodyPr>
          <a:lstStyle/>
          <a:p>
            <a:pPr indent="57785" lvl="0" marL="0" marR="0" rtl="0" algn="l">
              <a:lnSpc>
                <a:spcPct val="100000"/>
              </a:lnSpc>
              <a:spcBef>
                <a:spcPts val="0"/>
              </a:spcBef>
              <a:spcAft>
                <a:spcPts val="0"/>
              </a:spcAft>
              <a:buClr>
                <a:srgbClr val="000000"/>
              </a:buClr>
              <a:buSzPts val="1400"/>
              <a:buFont typeface="Arial"/>
              <a:buNone/>
            </a:pPr>
            <a:r>
              <a:rPr i="0" lang="en-AU" sz="1300" u="none" cap="none" strike="noStrike">
                <a:solidFill>
                  <a:srgbClr val="333333"/>
                </a:solidFill>
                <a:latin typeface="Consolas"/>
                <a:ea typeface="Consolas"/>
                <a:cs typeface="Consolas"/>
                <a:sym typeface="Consolas"/>
              </a:rPr>
              <a:t>#SBATCH --ntasks=N</a:t>
            </a:r>
            <a:endParaRPr i="0" sz="1300" u="none" cap="none" strike="noStrike">
              <a:solidFill>
                <a:srgbClr val="000000"/>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300" u="none" cap="none" strike="noStrike">
                <a:solidFill>
                  <a:srgbClr val="333333"/>
                </a:solidFill>
                <a:latin typeface="Consolas"/>
                <a:ea typeface="Consolas"/>
                <a:cs typeface="Consolas"/>
                <a:sym typeface="Consolas"/>
              </a:rPr>
              <a:t>#SBATCH --cpus-per-task=n</a:t>
            </a:r>
            <a:endParaRPr i="0" sz="1300" u="none" cap="none" strike="noStrike">
              <a:solidFill>
                <a:srgbClr val="333333"/>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lang="en-AU" sz="1300">
                <a:solidFill>
                  <a:srgbClr val="333333"/>
                </a:solidFill>
                <a:latin typeface="Consolas"/>
                <a:ea typeface="Consolas"/>
                <a:cs typeface="Consolas"/>
                <a:sym typeface="Consolas"/>
              </a:rPr>
              <a:t>m</a:t>
            </a:r>
            <a:r>
              <a:rPr lang="en-AU" sz="1300">
                <a:solidFill>
                  <a:srgbClr val="333333"/>
                </a:solidFill>
                <a:latin typeface="Consolas"/>
                <a:ea typeface="Consolas"/>
                <a:cs typeface="Consolas"/>
                <a:sym typeface="Consolas"/>
              </a:rPr>
              <a:t>odule add openmpi</a:t>
            </a:r>
            <a:endParaRPr sz="1300">
              <a:solidFill>
                <a:srgbClr val="333333"/>
              </a:solidFill>
              <a:latin typeface="Consolas"/>
              <a:ea typeface="Consolas"/>
              <a:cs typeface="Consolas"/>
              <a:sym typeface="Consolas"/>
            </a:endParaRPr>
          </a:p>
          <a:p>
            <a:pPr indent="57785" lvl="0" marL="0" marR="0" rtl="0" algn="l">
              <a:lnSpc>
                <a:spcPct val="100000"/>
              </a:lnSpc>
              <a:spcBef>
                <a:spcPts val="300"/>
              </a:spcBef>
              <a:spcAft>
                <a:spcPts val="0"/>
              </a:spcAft>
              <a:buClr>
                <a:srgbClr val="000000"/>
              </a:buClr>
              <a:buSzPts val="1400"/>
              <a:buFont typeface="Arial"/>
              <a:buNone/>
            </a:pPr>
            <a:r>
              <a:rPr i="0" lang="en-AU" sz="1300" u="none" cap="none" strike="noStrike">
                <a:solidFill>
                  <a:srgbClr val="333333"/>
                </a:solidFill>
                <a:latin typeface="Consolas"/>
                <a:ea typeface="Consolas"/>
                <a:cs typeface="Consolas"/>
                <a:sym typeface="Consolas"/>
              </a:rPr>
              <a:t>mpirun </a:t>
            </a:r>
            <a:r>
              <a:rPr lang="en-AU" sz="1300">
                <a:solidFill>
                  <a:srgbClr val="333333"/>
                </a:solidFill>
                <a:latin typeface="Consolas"/>
                <a:ea typeface="Consolas"/>
                <a:cs typeface="Consolas"/>
                <a:sym typeface="Consolas"/>
              </a:rPr>
              <a:t>p</a:t>
            </a:r>
            <a:r>
              <a:rPr i="0" lang="en-AU" sz="1300" u="none" cap="none" strike="noStrike">
                <a:solidFill>
                  <a:srgbClr val="333333"/>
                </a:solidFill>
                <a:latin typeface="Consolas"/>
                <a:ea typeface="Consolas"/>
                <a:cs typeface="Consolas"/>
                <a:sym typeface="Consolas"/>
              </a:rPr>
              <a:t>ython myscript.py</a:t>
            </a:r>
            <a:endParaRPr i="0" sz="1300" u="none" cap="none" strike="noStrike">
              <a:solidFill>
                <a:schemeClr val="dk1"/>
              </a:solidFill>
              <a:latin typeface="Consolas"/>
              <a:ea typeface="Consolas"/>
              <a:cs typeface="Consolas"/>
              <a:sym typeface="Consolas"/>
            </a:endParaRPr>
          </a:p>
        </p:txBody>
      </p:sp>
      <p:sp>
        <p:nvSpPr>
          <p:cNvPr id="261" name="Google Shape;261;p31"/>
          <p:cNvSpPr txBox="1"/>
          <p:nvPr>
            <p:ph type="title"/>
          </p:nvPr>
        </p:nvSpPr>
        <p:spPr>
          <a:xfrm>
            <a:off x="493900" y="67657"/>
            <a:ext cx="6697200" cy="43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AU"/>
              <a:t>SLURM – multi-task and multi-CPU jobs</a:t>
            </a:r>
            <a:endParaRPr/>
          </a:p>
        </p:txBody>
      </p:sp>
      <p:sp>
        <p:nvSpPr>
          <p:cNvPr id="262" name="Google Shape;262;p31"/>
          <p:cNvSpPr txBox="1"/>
          <p:nvPr>
            <p:ph idx="2" type="subTitle"/>
          </p:nvPr>
        </p:nvSpPr>
        <p:spPr>
          <a:xfrm>
            <a:off x="534325" y="398633"/>
            <a:ext cx="6539400" cy="321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t/>
            </a:r>
            <a:endParaRPr/>
          </a:p>
        </p:txBody>
      </p:sp>
      <p:pic>
        <p:nvPicPr>
          <p:cNvPr id="263" name="Google Shape;263;p31"/>
          <p:cNvPicPr preferRelativeResize="0"/>
          <p:nvPr/>
        </p:nvPicPr>
        <p:blipFill>
          <a:blip r:embed="rId3">
            <a:alphaModFix/>
          </a:blip>
          <a:stretch>
            <a:fillRect/>
          </a:stretch>
        </p:blipFill>
        <p:spPr>
          <a:xfrm>
            <a:off x="7787600" y="1030875"/>
            <a:ext cx="1039775" cy="953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2"/>
          <p:cNvSpPr txBox="1"/>
          <p:nvPr>
            <p:ph type="title"/>
          </p:nvPr>
        </p:nvSpPr>
        <p:spPr>
          <a:xfrm>
            <a:off x="493900" y="67657"/>
            <a:ext cx="6697200" cy="43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AU"/>
              <a:t>Live </a:t>
            </a:r>
            <a:r>
              <a:rPr lang="en-AU"/>
              <a:t>Demo time</a:t>
            </a:r>
            <a:endParaRPr/>
          </a:p>
        </p:txBody>
      </p:sp>
      <p:sp>
        <p:nvSpPr>
          <p:cNvPr id="270" name="Google Shape;270;p32"/>
          <p:cNvSpPr txBox="1"/>
          <p:nvPr>
            <p:ph idx="2" type="subTitle"/>
          </p:nvPr>
        </p:nvSpPr>
        <p:spPr>
          <a:xfrm>
            <a:off x="534325" y="398633"/>
            <a:ext cx="6539400" cy="321600"/>
          </a:xfrm>
          <a:prstGeom prst="rect">
            <a:avLst/>
          </a:prstGeom>
        </p:spPr>
        <p:txBody>
          <a:bodyPr anchorCtr="0" anchor="t" bIns="91425" lIns="91425" spcFirstLastPara="1" rIns="91425" wrap="square" tIns="91425">
            <a:normAutofit fontScale="47500"/>
          </a:bodyPr>
          <a:lstStyle/>
          <a:p>
            <a:pPr indent="0" lvl="0" marL="0" rtl="0" algn="l">
              <a:spcBef>
                <a:spcPts val="0"/>
              </a:spcBef>
              <a:spcAft>
                <a:spcPts val="1200"/>
              </a:spcAft>
              <a:buNone/>
            </a:pPr>
            <a:r>
              <a:rPr lang="en-AU" sz="1800">
                <a:solidFill>
                  <a:schemeClr val="hlink"/>
                </a:solidFill>
                <a:uFill>
                  <a:noFill/>
                </a:uFill>
                <a:hlinkClick r:id="rId3"/>
              </a:rPr>
              <a:t>https://github.com/ilifu/ilifu_user_training/tree/main/session3/tutorial1</a:t>
            </a:r>
            <a:endParaRPr sz="1800"/>
          </a:p>
        </p:txBody>
      </p:sp>
      <p:pic>
        <p:nvPicPr>
          <p:cNvPr id="271" name="Google Shape;271;p32"/>
          <p:cNvPicPr preferRelativeResize="0"/>
          <p:nvPr/>
        </p:nvPicPr>
        <p:blipFill>
          <a:blip r:embed="rId4">
            <a:alphaModFix/>
          </a:blip>
          <a:stretch>
            <a:fillRect/>
          </a:stretch>
        </p:blipFill>
        <p:spPr>
          <a:xfrm>
            <a:off x="2335000" y="957282"/>
            <a:ext cx="2723855" cy="411846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3"/>
          <p:cNvSpPr txBox="1"/>
          <p:nvPr>
            <p:ph idx="1" type="body"/>
          </p:nvPr>
        </p:nvSpPr>
        <p:spPr>
          <a:xfrm>
            <a:off x="361950" y="863249"/>
            <a:ext cx="7093800" cy="4244400"/>
          </a:xfrm>
          <a:prstGeom prst="rect">
            <a:avLst/>
          </a:prstGeom>
          <a:noFill/>
          <a:ln>
            <a:noFill/>
          </a:ln>
        </p:spPr>
        <p:txBody>
          <a:bodyPr anchorCtr="0" anchor="t" bIns="0" lIns="0" spcFirstLastPara="1" rIns="0" wrap="square" tIns="0">
            <a:noAutofit/>
          </a:bodyPr>
          <a:lstStyle/>
          <a:p>
            <a:pPr indent="-330200" lvl="0" marL="342900" rtl="0" algn="l">
              <a:lnSpc>
                <a:spcPct val="90000"/>
              </a:lnSpc>
              <a:spcBef>
                <a:spcPts val="0"/>
              </a:spcBef>
              <a:spcAft>
                <a:spcPts val="0"/>
              </a:spcAft>
              <a:buClr>
                <a:schemeClr val="dk1"/>
              </a:buClr>
              <a:buSzPts val="2200"/>
              <a:buFont typeface="Nunito"/>
              <a:buChar char="•"/>
            </a:pPr>
            <a:r>
              <a:rPr lang="en-AU" sz="1600">
                <a:latin typeface="Nunito"/>
                <a:ea typeface="Nunito"/>
                <a:cs typeface="Nunito"/>
                <a:sym typeface="Nunito"/>
              </a:rPr>
              <a:t>Don’t run software / heavy processes  / scp on the login node</a:t>
            </a:r>
            <a:endParaRPr sz="1600">
              <a:latin typeface="Nunito"/>
              <a:ea typeface="Nunito"/>
              <a:cs typeface="Nunito"/>
              <a:sym typeface="Nunito"/>
            </a:endParaRPr>
          </a:p>
          <a:p>
            <a:pPr indent="-238123" lvl="2" marL="503238" rtl="0" algn="l">
              <a:lnSpc>
                <a:spcPct val="90000"/>
              </a:lnSpc>
              <a:spcBef>
                <a:spcPts val="563"/>
              </a:spcBef>
              <a:spcAft>
                <a:spcPts val="0"/>
              </a:spcAft>
              <a:buSzPts val="1800"/>
              <a:buFont typeface="Nunito"/>
              <a:buChar char="–"/>
            </a:pPr>
            <a:r>
              <a:rPr lang="en-AU" sz="1200">
                <a:latin typeface="Nunito"/>
                <a:ea typeface="Nunito"/>
                <a:cs typeface="Nunito"/>
                <a:sym typeface="Nunito"/>
              </a:rPr>
              <a:t>Only submit jobs and run SLURM commands  (sbatch, srun, squeue, etc)</a:t>
            </a:r>
            <a:endParaRPr sz="1200">
              <a:latin typeface="Nunito"/>
              <a:ea typeface="Nunito"/>
              <a:cs typeface="Nunito"/>
              <a:sym typeface="Nunito"/>
            </a:endParaRPr>
          </a:p>
          <a:p>
            <a:pPr indent="-238123" lvl="2" marL="503238" rtl="0" algn="l">
              <a:lnSpc>
                <a:spcPct val="90000"/>
              </a:lnSpc>
              <a:spcBef>
                <a:spcPts val="563"/>
              </a:spcBef>
              <a:spcAft>
                <a:spcPts val="0"/>
              </a:spcAft>
              <a:buSzPts val="1800"/>
              <a:buFont typeface="Nunito"/>
              <a:buChar char="–"/>
            </a:pPr>
            <a:r>
              <a:rPr lang="en-AU" sz="1200">
                <a:latin typeface="Nunito"/>
                <a:ea typeface="Nunito"/>
                <a:cs typeface="Nunito"/>
                <a:sym typeface="Nunito"/>
              </a:rPr>
              <a:t>Use transfer.ilifu.ac.za to transfer data (external/internal), not login node</a:t>
            </a:r>
            <a:endParaRPr sz="1200">
              <a:latin typeface="Nunito"/>
              <a:ea typeface="Nunito"/>
              <a:cs typeface="Nunito"/>
              <a:sym typeface="Nunito"/>
            </a:endParaRPr>
          </a:p>
          <a:p>
            <a:pPr indent="-330200" lvl="0" marL="342900" rtl="0" algn="l">
              <a:lnSpc>
                <a:spcPct val="90000"/>
              </a:lnSpc>
              <a:spcBef>
                <a:spcPts val="1163"/>
              </a:spcBef>
              <a:spcAft>
                <a:spcPts val="0"/>
              </a:spcAft>
              <a:buClr>
                <a:schemeClr val="dk1"/>
              </a:buClr>
              <a:buSzPts val="2200"/>
              <a:buFont typeface="Nunito"/>
              <a:buChar char="•"/>
            </a:pPr>
            <a:r>
              <a:rPr lang="en-AU" sz="1600">
                <a:latin typeface="Nunito"/>
                <a:ea typeface="Nunito"/>
                <a:cs typeface="Nunito"/>
                <a:sym typeface="Nunito"/>
              </a:rPr>
              <a:t>Before running a large job, identify the available resources</a:t>
            </a:r>
            <a:endParaRPr sz="1600">
              <a:latin typeface="Nunito"/>
              <a:ea typeface="Nunito"/>
              <a:cs typeface="Nunito"/>
              <a:sym typeface="Nunito"/>
            </a:endParaRPr>
          </a:p>
          <a:p>
            <a:pPr indent="-238123" lvl="2" marL="503238" rtl="0" algn="l">
              <a:lnSpc>
                <a:spcPct val="90000"/>
              </a:lnSpc>
              <a:spcBef>
                <a:spcPts val="563"/>
              </a:spcBef>
              <a:spcAft>
                <a:spcPts val="0"/>
              </a:spcAft>
              <a:buSzPts val="1800"/>
              <a:buFont typeface="Nunito"/>
              <a:buChar char="–"/>
            </a:pPr>
            <a:r>
              <a:rPr lang="en-AU" sz="1200">
                <a:latin typeface="Nunito"/>
                <a:ea typeface="Nunito"/>
                <a:cs typeface="Nunito"/>
                <a:sym typeface="Nunito"/>
              </a:rPr>
              <a:t>Use sinfo. Don’t hog the cluster. Reduce your allocation if possible</a:t>
            </a:r>
            <a:endParaRPr sz="1200">
              <a:latin typeface="Nunito"/>
              <a:ea typeface="Nunito"/>
              <a:cs typeface="Nunito"/>
              <a:sym typeface="Nunito"/>
            </a:endParaRPr>
          </a:p>
          <a:p>
            <a:pPr indent="-238123" lvl="2" marL="503238" rtl="0" algn="l">
              <a:lnSpc>
                <a:spcPct val="90000"/>
              </a:lnSpc>
              <a:spcBef>
                <a:spcPts val="563"/>
              </a:spcBef>
              <a:spcAft>
                <a:spcPts val="0"/>
              </a:spcAft>
              <a:buSzPts val="1800"/>
              <a:buFont typeface="Nunito"/>
              <a:buChar char="–"/>
            </a:pPr>
            <a:r>
              <a:rPr lang="en-AU" sz="1200">
                <a:latin typeface="Nunito"/>
                <a:ea typeface="Nunito"/>
                <a:cs typeface="Nunito"/>
                <a:sym typeface="Nunito"/>
              </a:rPr>
              <a:t>Increase likelihood of jobs running with less memory and less walltime</a:t>
            </a:r>
            <a:endParaRPr sz="1200">
              <a:latin typeface="Nunito"/>
              <a:ea typeface="Nunito"/>
              <a:cs typeface="Nunito"/>
              <a:sym typeface="Nunito"/>
            </a:endParaRPr>
          </a:p>
          <a:p>
            <a:pPr indent="-330200" lvl="0" marL="342900" rtl="0" algn="l">
              <a:lnSpc>
                <a:spcPct val="90000"/>
              </a:lnSpc>
              <a:spcBef>
                <a:spcPts val="1163"/>
              </a:spcBef>
              <a:spcAft>
                <a:spcPts val="0"/>
              </a:spcAft>
              <a:buClr>
                <a:schemeClr val="dk1"/>
              </a:buClr>
              <a:buSzPts val="2200"/>
              <a:buFont typeface="Nunito"/>
              <a:buChar char="•"/>
            </a:pPr>
            <a:r>
              <a:rPr lang="en-AU" sz="1600">
                <a:latin typeface="Nunito"/>
                <a:ea typeface="Nunito"/>
                <a:cs typeface="Nunito"/>
                <a:sym typeface="Nunito"/>
              </a:rPr>
              <a:t>Use sbatch (srun / screen / tmux / mosh are volatile)</a:t>
            </a:r>
            <a:endParaRPr sz="1600">
              <a:latin typeface="Nunito"/>
              <a:ea typeface="Nunito"/>
              <a:cs typeface="Nunito"/>
              <a:sym typeface="Nunito"/>
            </a:endParaRPr>
          </a:p>
          <a:p>
            <a:pPr indent="-330200" lvl="0" marL="342900" rtl="0" algn="l">
              <a:lnSpc>
                <a:spcPct val="90000"/>
              </a:lnSpc>
              <a:spcBef>
                <a:spcPts val="1163"/>
              </a:spcBef>
              <a:spcAft>
                <a:spcPts val="0"/>
              </a:spcAft>
              <a:buClr>
                <a:schemeClr val="dk1"/>
              </a:buClr>
              <a:buSzPts val="2200"/>
              <a:buFont typeface="Nunito"/>
              <a:buChar char="•"/>
            </a:pPr>
            <a:r>
              <a:rPr lang="en-AU" sz="1600">
                <a:latin typeface="Nunito"/>
                <a:ea typeface="Nunito"/>
                <a:cs typeface="Nunito"/>
                <a:sym typeface="Nunito"/>
              </a:rPr>
              <a:t>Cleanup files that aren’t needed</a:t>
            </a:r>
            <a:endParaRPr sz="1600">
              <a:latin typeface="Nunito"/>
              <a:ea typeface="Nunito"/>
              <a:cs typeface="Nunito"/>
              <a:sym typeface="Nunito"/>
            </a:endParaRPr>
          </a:p>
          <a:p>
            <a:pPr indent="-238123" lvl="2" marL="503238" rtl="0" algn="l">
              <a:lnSpc>
                <a:spcPct val="90000"/>
              </a:lnSpc>
              <a:spcBef>
                <a:spcPts val="563"/>
              </a:spcBef>
              <a:spcAft>
                <a:spcPts val="0"/>
              </a:spcAft>
              <a:buSzPts val="1800"/>
              <a:buFont typeface="Nunito"/>
              <a:buChar char="–"/>
            </a:pPr>
            <a:r>
              <a:rPr lang="en-AU" sz="1200">
                <a:latin typeface="Nunito"/>
                <a:ea typeface="Nunito"/>
                <a:cs typeface="Nunito"/>
                <a:sym typeface="Nunito"/>
              </a:rPr>
              <a:t>Old raw data, temporary products, /scratch data, etc</a:t>
            </a:r>
            <a:endParaRPr sz="1200">
              <a:latin typeface="Nunito"/>
              <a:ea typeface="Nunito"/>
              <a:cs typeface="Nunito"/>
              <a:sym typeface="Nunito"/>
            </a:endParaRPr>
          </a:p>
          <a:p>
            <a:pPr indent="-330200" lvl="0" marL="342900" rtl="0" algn="l">
              <a:lnSpc>
                <a:spcPct val="90000"/>
              </a:lnSpc>
              <a:spcBef>
                <a:spcPts val="1163"/>
              </a:spcBef>
              <a:spcAft>
                <a:spcPts val="0"/>
              </a:spcAft>
              <a:buClr>
                <a:schemeClr val="dk1"/>
              </a:buClr>
              <a:buSzPts val="2200"/>
              <a:buFont typeface="Nunito"/>
              <a:buChar char="•"/>
            </a:pPr>
            <a:r>
              <a:rPr lang="en-AU" sz="1600">
                <a:latin typeface="Nunito"/>
                <a:ea typeface="Nunito"/>
                <a:cs typeface="Nunito"/>
                <a:sym typeface="Nunito"/>
              </a:rPr>
              <a:t>Don’t place large files in your home directory (/users)</a:t>
            </a:r>
            <a:endParaRPr sz="1600">
              <a:latin typeface="Nunito"/>
              <a:ea typeface="Nunito"/>
              <a:cs typeface="Nunito"/>
              <a:sym typeface="Nunito"/>
            </a:endParaRPr>
          </a:p>
          <a:p>
            <a:pPr indent="-330200" lvl="0" marL="342900" rtl="0" algn="l">
              <a:lnSpc>
                <a:spcPct val="90000"/>
              </a:lnSpc>
              <a:spcBef>
                <a:spcPts val="1163"/>
              </a:spcBef>
              <a:spcAft>
                <a:spcPts val="0"/>
              </a:spcAft>
              <a:buClr>
                <a:schemeClr val="dk1"/>
              </a:buClr>
              <a:buSzPts val="2200"/>
              <a:buFont typeface="Nunito"/>
              <a:buChar char="•"/>
            </a:pPr>
            <a:r>
              <a:rPr lang="en-AU" sz="1600">
                <a:latin typeface="Nunito"/>
                <a:ea typeface="Nunito"/>
                <a:cs typeface="Nunito"/>
                <a:sym typeface="Nunito"/>
              </a:rPr>
              <a:t>Use Singularity (you cannot install software on the nodes)</a:t>
            </a:r>
            <a:endParaRPr sz="1600">
              <a:latin typeface="Nunito"/>
              <a:ea typeface="Nunito"/>
              <a:cs typeface="Nunito"/>
              <a:sym typeface="Nunito"/>
            </a:endParaRPr>
          </a:p>
          <a:p>
            <a:pPr indent="-123823" lvl="2" marL="503238" rtl="0" algn="l">
              <a:lnSpc>
                <a:spcPct val="90000"/>
              </a:lnSpc>
              <a:spcBef>
                <a:spcPts val="563"/>
              </a:spcBef>
              <a:spcAft>
                <a:spcPts val="0"/>
              </a:spcAft>
              <a:buSzPts val="2000"/>
              <a:buNone/>
            </a:pPr>
            <a:r>
              <a:t/>
            </a:r>
            <a:endParaRPr/>
          </a:p>
        </p:txBody>
      </p:sp>
      <p:sp>
        <p:nvSpPr>
          <p:cNvPr id="277" name="Google Shape;277;p33"/>
          <p:cNvSpPr txBox="1"/>
          <p:nvPr>
            <p:ph type="title"/>
          </p:nvPr>
        </p:nvSpPr>
        <p:spPr>
          <a:xfrm>
            <a:off x="493900" y="67657"/>
            <a:ext cx="6697200" cy="43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AU"/>
              <a:t>Best practices</a:t>
            </a:r>
            <a:endParaRPr/>
          </a:p>
        </p:txBody>
      </p:sp>
      <p:sp>
        <p:nvSpPr>
          <p:cNvPr id="278" name="Google Shape;278;p33"/>
          <p:cNvSpPr txBox="1"/>
          <p:nvPr>
            <p:ph idx="2" type="subTitle"/>
          </p:nvPr>
        </p:nvSpPr>
        <p:spPr>
          <a:xfrm>
            <a:off x="534325" y="398633"/>
            <a:ext cx="6539400" cy="321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AU">
                <a:solidFill>
                  <a:schemeClr val="hlink"/>
                </a:solidFill>
                <a:uFill>
                  <a:noFill/>
                </a:uFill>
                <a:hlinkClick r:id="rId3"/>
              </a:rPr>
              <a:t>https://docs.ilifu.ac.za/#/getting_started/best_practices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4"/>
          <p:cNvSpPr txBox="1"/>
          <p:nvPr>
            <p:ph type="title"/>
          </p:nvPr>
        </p:nvSpPr>
        <p:spPr>
          <a:xfrm>
            <a:off x="388125" y="2477527"/>
            <a:ext cx="4107000" cy="9405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1400"/>
              <a:buNone/>
            </a:pPr>
            <a:r>
              <a:rPr lang="en-AU">
                <a:latin typeface="Nunito"/>
                <a:ea typeface="Nunito"/>
                <a:cs typeface="Nunito"/>
                <a:sym typeface="Nunito"/>
              </a:rPr>
              <a:t>Acknowledgements</a:t>
            </a:r>
            <a:endParaRPr b="0">
              <a:latin typeface="Nunito"/>
              <a:ea typeface="Nunito"/>
              <a:cs typeface="Nunito"/>
              <a:sym typeface="Nunito"/>
            </a:endParaRPr>
          </a:p>
          <a:p>
            <a:pPr indent="0" lvl="0" marL="0" rtl="0" algn="l">
              <a:lnSpc>
                <a:spcPct val="85000"/>
              </a:lnSpc>
              <a:spcBef>
                <a:spcPts val="0"/>
              </a:spcBef>
              <a:spcAft>
                <a:spcPts val="0"/>
              </a:spcAft>
              <a:buSzPts val="1400"/>
              <a:buNone/>
            </a:pPr>
            <a:r>
              <a:t/>
            </a:r>
            <a:endParaRPr b="0">
              <a:latin typeface="Nunito"/>
              <a:ea typeface="Nunito"/>
              <a:cs typeface="Nunito"/>
              <a:sym typeface="Nunito"/>
            </a:endParaRPr>
          </a:p>
          <a:p>
            <a:pPr indent="0" lvl="0" marL="0" rtl="0" algn="l">
              <a:lnSpc>
                <a:spcPct val="85000"/>
              </a:lnSpc>
              <a:spcBef>
                <a:spcPts val="0"/>
              </a:spcBef>
              <a:spcAft>
                <a:spcPts val="0"/>
              </a:spcAft>
              <a:buSzPts val="1400"/>
              <a:buNone/>
            </a:pPr>
            <a:r>
              <a:rPr b="0" lang="en-AU">
                <a:latin typeface="Nunito"/>
                <a:ea typeface="Nunito"/>
                <a:cs typeface="Nunito"/>
                <a:sym typeface="Nunito"/>
              </a:rPr>
              <a:t>Dr Jordan Collier for the original slides.</a:t>
            </a:r>
            <a:endParaRPr b="0">
              <a:latin typeface="Nunito"/>
              <a:ea typeface="Nunito"/>
              <a:cs typeface="Nunito"/>
              <a:sym typeface="Nunito"/>
            </a:endParaRPr>
          </a:p>
          <a:p>
            <a:pPr indent="0" lvl="0" marL="0" rtl="0" algn="l">
              <a:lnSpc>
                <a:spcPct val="85000"/>
              </a:lnSpc>
              <a:spcBef>
                <a:spcPts val="0"/>
              </a:spcBef>
              <a:spcAft>
                <a:spcPts val="0"/>
              </a:spcAft>
              <a:buSzPts val="14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ne_ilifu_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